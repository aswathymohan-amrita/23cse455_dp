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2" r:id="rId3"/>
    <p:sldId id="264" r:id="rId4"/>
    <p:sldId id="265" r:id="rId5"/>
    <p:sldId id="266" r:id="rId6"/>
    <p:sldId id="280" r:id="rId7"/>
    <p:sldId id="281" r:id="rId8"/>
    <p:sldId id="282" r:id="rId9"/>
    <p:sldId id="283" r:id="rId10"/>
    <p:sldId id="285" r:id="rId11"/>
    <p:sldId id="288" r:id="rId12"/>
    <p:sldId id="286" r:id="rId13"/>
    <p:sldId id="284" r:id="rId14"/>
    <p:sldId id="289" r:id="rId15"/>
    <p:sldId id="287" r:id="rId16"/>
    <p:sldId id="290" r:id="rId17"/>
    <p:sldId id="292" r:id="rId18"/>
    <p:sldId id="291" r:id="rId19"/>
    <p:sldId id="293" r:id="rId20"/>
    <p:sldId id="29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wathy Mohan" userId="8ec7b060-ec9d-4a76-a81c-f80212d9386c" providerId="ADAL" clId="{148F012C-E039-419C-A523-3EB066B9FD4E}"/>
    <pc:docChg chg="addSld delSld modSld">
      <pc:chgData name="Aswathy Mohan" userId="8ec7b060-ec9d-4a76-a81c-f80212d9386c" providerId="ADAL" clId="{148F012C-E039-419C-A523-3EB066B9FD4E}" dt="2026-07-31T03:21:44.154" v="35" actId="47"/>
      <pc:docMkLst>
        <pc:docMk/>
      </pc:docMkLst>
      <pc:sldChg chg="modSp mod">
        <pc:chgData name="Aswathy Mohan" userId="8ec7b060-ec9d-4a76-a81c-f80212d9386c" providerId="ADAL" clId="{148F012C-E039-419C-A523-3EB066B9FD4E}" dt="2026-07-30T06:47:26.890" v="34" actId="20577"/>
        <pc:sldMkLst>
          <pc:docMk/>
          <pc:sldMk cId="2284121991" sldId="265"/>
        </pc:sldMkLst>
        <pc:graphicFrameChg chg="modGraphic">
          <ac:chgData name="Aswathy Mohan" userId="8ec7b060-ec9d-4a76-a81c-f80212d9386c" providerId="ADAL" clId="{148F012C-E039-419C-A523-3EB066B9FD4E}" dt="2026-07-30T06:47:26.890" v="34" actId="20577"/>
          <ac:graphicFrameMkLst>
            <pc:docMk/>
            <pc:sldMk cId="2284121991" sldId="265"/>
            <ac:graphicFrameMk id="4" creationId="{E421A133-E00E-3A99-F0A6-BCECD60E170C}"/>
          </ac:graphicFrameMkLst>
        </pc:graphicFrameChg>
      </pc:sldChg>
      <pc:sldChg chg="add">
        <pc:chgData name="Aswathy Mohan" userId="8ec7b060-ec9d-4a76-a81c-f80212d9386c" providerId="ADAL" clId="{148F012C-E039-419C-A523-3EB066B9FD4E}" dt="2026-07-27T03:49:56.888" v="0"/>
        <pc:sldMkLst>
          <pc:docMk/>
          <pc:sldMk cId="3246638297" sldId="280"/>
        </pc:sldMkLst>
      </pc:sldChg>
      <pc:sldChg chg="add">
        <pc:chgData name="Aswathy Mohan" userId="8ec7b060-ec9d-4a76-a81c-f80212d9386c" providerId="ADAL" clId="{148F012C-E039-419C-A523-3EB066B9FD4E}" dt="2026-07-27T03:49:56.888" v="0"/>
        <pc:sldMkLst>
          <pc:docMk/>
          <pc:sldMk cId="1698612908" sldId="281"/>
        </pc:sldMkLst>
      </pc:sldChg>
      <pc:sldChg chg="add">
        <pc:chgData name="Aswathy Mohan" userId="8ec7b060-ec9d-4a76-a81c-f80212d9386c" providerId="ADAL" clId="{148F012C-E039-419C-A523-3EB066B9FD4E}" dt="2026-07-27T03:49:56.888" v="0"/>
        <pc:sldMkLst>
          <pc:docMk/>
          <pc:sldMk cId="876332490" sldId="282"/>
        </pc:sldMkLst>
      </pc:sldChg>
      <pc:sldChg chg="add">
        <pc:chgData name="Aswathy Mohan" userId="8ec7b060-ec9d-4a76-a81c-f80212d9386c" providerId="ADAL" clId="{148F012C-E039-419C-A523-3EB066B9FD4E}" dt="2026-07-27T03:49:56.888" v="0"/>
        <pc:sldMkLst>
          <pc:docMk/>
          <pc:sldMk cId="3553107211" sldId="283"/>
        </pc:sldMkLst>
      </pc:sldChg>
      <pc:sldChg chg="add">
        <pc:chgData name="Aswathy Mohan" userId="8ec7b060-ec9d-4a76-a81c-f80212d9386c" providerId="ADAL" clId="{148F012C-E039-419C-A523-3EB066B9FD4E}" dt="2026-07-27T03:49:56.888" v="0"/>
        <pc:sldMkLst>
          <pc:docMk/>
          <pc:sldMk cId="1883146919" sldId="284"/>
        </pc:sldMkLst>
      </pc:sldChg>
      <pc:sldChg chg="add">
        <pc:chgData name="Aswathy Mohan" userId="8ec7b060-ec9d-4a76-a81c-f80212d9386c" providerId="ADAL" clId="{148F012C-E039-419C-A523-3EB066B9FD4E}" dt="2026-07-27T03:49:56.888" v="0"/>
        <pc:sldMkLst>
          <pc:docMk/>
          <pc:sldMk cId="2053325668" sldId="285"/>
        </pc:sldMkLst>
      </pc:sldChg>
      <pc:sldChg chg="add">
        <pc:chgData name="Aswathy Mohan" userId="8ec7b060-ec9d-4a76-a81c-f80212d9386c" providerId="ADAL" clId="{148F012C-E039-419C-A523-3EB066B9FD4E}" dt="2026-07-27T03:49:56.888" v="0"/>
        <pc:sldMkLst>
          <pc:docMk/>
          <pc:sldMk cId="3697338288" sldId="286"/>
        </pc:sldMkLst>
      </pc:sldChg>
      <pc:sldChg chg="add">
        <pc:chgData name="Aswathy Mohan" userId="8ec7b060-ec9d-4a76-a81c-f80212d9386c" providerId="ADAL" clId="{148F012C-E039-419C-A523-3EB066B9FD4E}" dt="2026-07-27T03:49:56.888" v="0"/>
        <pc:sldMkLst>
          <pc:docMk/>
          <pc:sldMk cId="1666001069" sldId="287"/>
        </pc:sldMkLst>
      </pc:sldChg>
      <pc:sldChg chg="add">
        <pc:chgData name="Aswathy Mohan" userId="8ec7b060-ec9d-4a76-a81c-f80212d9386c" providerId="ADAL" clId="{148F012C-E039-419C-A523-3EB066B9FD4E}" dt="2026-07-27T03:49:56.888" v="0"/>
        <pc:sldMkLst>
          <pc:docMk/>
          <pc:sldMk cId="2178648448" sldId="288"/>
        </pc:sldMkLst>
      </pc:sldChg>
      <pc:sldChg chg="add">
        <pc:chgData name="Aswathy Mohan" userId="8ec7b060-ec9d-4a76-a81c-f80212d9386c" providerId="ADAL" clId="{148F012C-E039-419C-A523-3EB066B9FD4E}" dt="2026-07-27T03:49:56.888" v="0"/>
        <pc:sldMkLst>
          <pc:docMk/>
          <pc:sldMk cId="632301083" sldId="289"/>
        </pc:sldMkLst>
      </pc:sldChg>
      <pc:sldChg chg="add">
        <pc:chgData name="Aswathy Mohan" userId="8ec7b060-ec9d-4a76-a81c-f80212d9386c" providerId="ADAL" clId="{148F012C-E039-419C-A523-3EB066B9FD4E}" dt="2026-07-27T03:49:56.888" v="0"/>
        <pc:sldMkLst>
          <pc:docMk/>
          <pc:sldMk cId="541718987" sldId="290"/>
        </pc:sldMkLst>
      </pc:sldChg>
      <pc:sldChg chg="add modAnim">
        <pc:chgData name="Aswathy Mohan" userId="8ec7b060-ec9d-4a76-a81c-f80212d9386c" providerId="ADAL" clId="{148F012C-E039-419C-A523-3EB066B9FD4E}" dt="2026-07-27T04:00:30.823" v="4"/>
        <pc:sldMkLst>
          <pc:docMk/>
          <pc:sldMk cId="942622234" sldId="291"/>
        </pc:sldMkLst>
      </pc:sldChg>
      <pc:sldChg chg="add">
        <pc:chgData name="Aswathy Mohan" userId="8ec7b060-ec9d-4a76-a81c-f80212d9386c" providerId="ADAL" clId="{148F012C-E039-419C-A523-3EB066B9FD4E}" dt="2026-07-27T03:49:56.888" v="0"/>
        <pc:sldMkLst>
          <pc:docMk/>
          <pc:sldMk cId="4266779098" sldId="292"/>
        </pc:sldMkLst>
      </pc:sldChg>
      <pc:sldChg chg="modSp">
        <pc:chgData name="Aswathy Mohan" userId="8ec7b060-ec9d-4a76-a81c-f80212d9386c" providerId="ADAL" clId="{148F012C-E039-419C-A523-3EB066B9FD4E}" dt="2026-07-27T04:18:48.237" v="5"/>
        <pc:sldMkLst>
          <pc:docMk/>
          <pc:sldMk cId="2637173561" sldId="293"/>
        </pc:sldMkLst>
        <pc:spChg chg="mod">
          <ac:chgData name="Aswathy Mohan" userId="8ec7b060-ec9d-4a76-a81c-f80212d9386c" providerId="ADAL" clId="{148F012C-E039-419C-A523-3EB066B9FD4E}" dt="2026-07-27T04:18:48.237" v="5"/>
          <ac:spMkLst>
            <pc:docMk/>
            <pc:sldMk cId="2637173561" sldId="293"/>
            <ac:spMk id="7" creationId="{6AEFCEA2-0D59-1E7A-5FA3-918D73675C49}"/>
          </ac:spMkLst>
        </pc:spChg>
      </pc:sldChg>
      <pc:sldChg chg="addSp delSp modSp">
        <pc:chgData name="Aswathy Mohan" userId="8ec7b060-ec9d-4a76-a81c-f80212d9386c" providerId="ADAL" clId="{148F012C-E039-419C-A523-3EB066B9FD4E}" dt="2026-07-27T04:28:17.160" v="7"/>
        <pc:sldMkLst>
          <pc:docMk/>
          <pc:sldMk cId="2355349839" sldId="294"/>
        </pc:sldMkLst>
        <pc:graphicFrameChg chg="add mod">
          <ac:chgData name="Aswathy Mohan" userId="8ec7b060-ec9d-4a76-a81c-f80212d9386c" providerId="ADAL" clId="{148F012C-E039-419C-A523-3EB066B9FD4E}" dt="2026-07-27T04:27:51.156" v="6"/>
          <ac:graphicFrameMkLst>
            <pc:docMk/>
            <pc:sldMk cId="2355349839" sldId="294"/>
            <ac:graphicFrameMk id="2" creationId="{7F12A36B-4FD3-927C-5174-4618AD476A5A}"/>
          </ac:graphicFrameMkLst>
        </pc:graphicFrameChg>
      </pc:sldChg>
      <pc:sldChg chg="del">
        <pc:chgData name="Aswathy Mohan" userId="8ec7b060-ec9d-4a76-a81c-f80212d9386c" providerId="ADAL" clId="{148F012C-E039-419C-A523-3EB066B9FD4E}" dt="2026-07-31T03:21:44.154" v="35" actId="47"/>
        <pc:sldMkLst>
          <pc:docMk/>
          <pc:sldMk cId="392858072" sldId="29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4A392-96FE-98C6-85FB-9D600A92E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CCD100-5ED0-95E9-708D-229B41746E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2EC7C-E585-C0D9-3B30-61B618B1A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49A79-4D8C-45F9-B20F-C64388FAB4A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73F44-1AB3-BBB8-253B-4A79A4B88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4AE51-3339-9D2C-42BB-033B4C681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2A862-1C69-4972-98D0-A6294F7978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729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0E1E0-51F6-62B1-1CF6-01B2DE1E1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06F11-3608-AC23-B74F-630269CE3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76178-DA03-98FF-2385-395A6C6BB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49A79-4D8C-45F9-B20F-C64388FAB4A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D87F2-D05E-F5D4-B289-0E7398B34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1C335-3CEE-CAA8-9A76-B166ED23C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2A862-1C69-4972-98D0-A6294F7978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720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B7217-24DA-197A-A8FC-1662726FC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06AF4-2E19-0748-10DC-667FF70B1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1A567-B5FA-EA89-F5D6-402701DD8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49A79-4D8C-45F9-B20F-C64388FAB4A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FA861-6F5C-00E2-5A2A-FA07090D2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C89B1-EAE6-70FF-A5BE-E8F0404C0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2A862-1C69-4972-98D0-A6294F7978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457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343E2-1A88-7017-42FC-FE1C74E5C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E62C5-B9DF-48C4-2CC6-5177B07D0F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80C164-95ED-DB1F-BAB8-1BA9072EA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9E73C-043D-487B-209B-EFD722987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49A79-4D8C-45F9-B20F-C64388FAB4A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3E4A4-88C4-1960-E4BA-70DB43D9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7122A-730C-3671-473B-B87F57A47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2A862-1C69-4972-98D0-A6294F7978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490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D8E5D-CA7C-1490-79CC-4362E3139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F8BE0-0D8A-F68B-C6C8-B071EEE4D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86CF1-0AD7-EC9D-D799-ED8ACB884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6AA231-44CA-CC76-D01D-78C16FBC0E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C0CEA4-B131-5F54-9FCB-41860157EC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69F14C-77B9-97E4-0BC0-263031DE4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49A79-4D8C-45F9-B20F-C64388FAB4A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AD3ECD-41A9-F019-D27D-024A445FE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E1279D-3F3D-970A-E032-F3A417D2A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2A862-1C69-4972-98D0-A6294F7978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797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14C65-D5EE-25E3-5D55-2982B12D8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F00FF6-5C78-1C56-FA61-8F8F40D83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49A79-4D8C-45F9-B20F-C64388FAB4A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05668F-F0A7-F2AB-BE7E-4A15868D7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D32177-D3D1-4BED-E2F2-93A4088F7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2A862-1C69-4972-98D0-A6294F7978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265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10A64C-2743-1C4D-9B0A-FB4958C10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49A79-4D8C-45F9-B20F-C64388FAB4A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1C0D18-5FBA-D123-3794-368DABF78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CA2A9-4141-C1CF-EA23-C170DA609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2A862-1C69-4972-98D0-A6294F7978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2730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00F64-3904-AE1C-AE28-D78DBF1BF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EA13D-531C-31AD-6E83-158ACF706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C099EA-F06C-0C10-2BA5-5DD58C8D0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472BDE-1802-7FC3-9B09-03A88E0FB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49A79-4D8C-45F9-B20F-C64388FAB4A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038F6-F2D4-98F7-E6DE-93EEB1B9B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50B2F-3C3B-E465-885D-E3117E5CD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2A862-1C69-4972-98D0-A6294F7978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55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4406F-65C4-EEF9-2458-BC000B4E5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9E6A06-2914-0618-38A9-49C2517FA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3E6375-E584-17A7-9101-E85AE95520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DFBF0-97F6-244B-D509-39CA1DCD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49A79-4D8C-45F9-B20F-C64388FAB4A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B21F68-B76D-962A-9144-77BEAA44B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0BE2A-8434-1F26-AE5E-4CFEE25DF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2A862-1C69-4972-98D0-A6294F7978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511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8D9CD-34FE-239A-179A-39728B7D1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A6ED00-F5C9-8E1D-DA13-A9AADEAE28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DD39B-15B8-A5A2-8DDA-52D9EB004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49A79-4D8C-45F9-B20F-C64388FAB4A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0E61F-FE59-BE71-8C61-5E5DF1811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D96F9-5A14-16CF-EE6D-EAEFB98B6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2A862-1C69-4972-98D0-A6294F7978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562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3CCD5-2E2A-511C-32E4-EDD5CB7EEC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18882-2226-E922-32CA-66A15656A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BD0F0-74E1-02CB-BC8C-E3CE10AED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49A79-4D8C-45F9-B20F-C64388FAB4A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A19A7-3715-8A3E-7B2D-DBBC420AD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C288D-8118-C49B-5859-67B5A311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2A862-1C69-4972-98D0-A6294F7978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0710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9969C2-C621-D69C-E24F-C49C9BA42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9D00E-2C9E-8AC7-875F-E886B11A2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9D161-32E0-2606-C29C-6427214E3C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149A79-4D8C-45F9-B20F-C64388FAB4A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7AFC6-1B4E-57FC-0C63-C40790D9BD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71049-EE03-D2F3-9E05-1B5C5090C0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02A862-1C69-4972-98D0-A6294F7978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889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aswathymohan@am.amrita.edu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021400-E73B-197E-58E6-BB79DCD9A4FA}"/>
              </a:ext>
            </a:extLst>
          </p:cNvPr>
          <p:cNvSpPr txBox="1"/>
          <p:nvPr/>
        </p:nvSpPr>
        <p:spPr>
          <a:xfrm>
            <a:off x="1033035" y="1750492"/>
            <a:ext cx="10372383" cy="129266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chemeClr val="bg1"/>
                </a:solidFill>
                <a:latin typeface="Aptos" panose="020B0004020202020204" pitchFamily="34" charset="0"/>
              </a:rPr>
              <a:t>23CSE498- DESIGN PATTERNS (DP) </a:t>
            </a:r>
          </a:p>
          <a:p>
            <a:pPr algn="ctr"/>
            <a:r>
              <a:rPr lang="en-IN" sz="3000" dirty="0">
                <a:solidFill>
                  <a:schemeClr val="bg1"/>
                </a:solidFill>
                <a:latin typeface="Aptos" panose="020B0004020202020204" pitchFamily="34" charset="0"/>
              </a:rPr>
              <a:t>June 2026 – November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59A6B2-46FB-47DA-0C80-E13E9848B95C}"/>
              </a:ext>
            </a:extLst>
          </p:cNvPr>
          <p:cNvSpPr txBox="1"/>
          <p:nvPr/>
        </p:nvSpPr>
        <p:spPr>
          <a:xfrm>
            <a:off x="432619" y="3782964"/>
            <a:ext cx="11174361" cy="892552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ptos" panose="020B0004020202020204" pitchFamily="34" charset="0"/>
              </a:rPr>
              <a:t>Faculty Names  :  Dr. Aswathy Mohan (CSE , AIE, AIDS, EAC)</a:t>
            </a:r>
          </a:p>
          <a:p>
            <a:pPr algn="ctr"/>
            <a:r>
              <a:rPr lang="en-IN" sz="2400" dirty="0">
                <a:latin typeface="Aptos" panose="020B0004020202020204" pitchFamily="34" charset="0"/>
                <a:hlinkClick r:id="rId2"/>
              </a:rPr>
              <a:t>aswathymohan@am.amrita.edu</a:t>
            </a:r>
            <a:r>
              <a:rPr lang="en-IN" sz="2400" dirty="0"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7611FE-7681-C0D0-1CDC-C12F80420047}"/>
              </a:ext>
            </a:extLst>
          </p:cNvPr>
          <p:cNvSpPr/>
          <p:nvPr/>
        </p:nvSpPr>
        <p:spPr>
          <a:xfrm>
            <a:off x="0" y="0"/>
            <a:ext cx="3575367" cy="1396181"/>
          </a:xfrm>
          <a:prstGeom prst="rect">
            <a:avLst/>
          </a:prstGeom>
          <a:solidFill>
            <a:srgbClr val="B8114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4ACD47-B57D-1F87-53E2-F7DA018B01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338" y="0"/>
            <a:ext cx="3983670" cy="14900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E6155D9-B853-3F02-9F2B-6CB6469996A2}"/>
              </a:ext>
            </a:extLst>
          </p:cNvPr>
          <p:cNvSpPr/>
          <p:nvPr/>
        </p:nvSpPr>
        <p:spPr>
          <a:xfrm>
            <a:off x="8616633" y="0"/>
            <a:ext cx="3575367" cy="1396181"/>
          </a:xfrm>
          <a:prstGeom prst="rect">
            <a:avLst/>
          </a:prstGeom>
          <a:solidFill>
            <a:srgbClr val="B8114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01CA082-F7BE-1D64-0E0D-C47FE5560247}"/>
              </a:ext>
            </a:extLst>
          </p:cNvPr>
          <p:cNvCxnSpPr/>
          <p:nvPr/>
        </p:nvCxnSpPr>
        <p:spPr>
          <a:xfrm>
            <a:off x="58995" y="1401527"/>
            <a:ext cx="1206418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D7A5AEA-BB50-2DDE-4967-C7C9DE2138FC}"/>
              </a:ext>
            </a:extLst>
          </p:cNvPr>
          <p:cNvSpPr/>
          <p:nvPr/>
        </p:nvSpPr>
        <p:spPr>
          <a:xfrm>
            <a:off x="305" y="6490539"/>
            <a:ext cx="12191695" cy="25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B51254"/>
                </a:solidFill>
              </a:defRPr>
            </a:pPr>
            <a:r>
              <a:rPr lang="en-IN" sz="1600" dirty="0"/>
              <a:t>School of Computing, Amrita Vishwa Vidyapeetham, Amritapuri Campus</a:t>
            </a:r>
            <a:endParaRPr sz="16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FC20B7-C255-7BA6-9775-2F8257878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72AF-E676-498B-9B55-5A55C1DAD1DE}" type="datetime1">
              <a:rPr lang="en-US" smtClean="0"/>
              <a:t>7/31/2026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152612D-C0A9-AA65-7F06-98ECB837D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13235" y="6307976"/>
            <a:ext cx="2133600" cy="365125"/>
          </a:xfrm>
          <a:solidFill>
            <a:schemeClr val="bg1"/>
          </a:solidFill>
        </p:spPr>
        <p:txBody>
          <a:bodyPr/>
          <a:lstStyle/>
          <a:p>
            <a:fld id="{C1FF6DA9-008F-8B48-92A6-B652298478BF}" type="slidenum">
              <a:rPr lang="en-US" sz="1600" smtClean="0">
                <a:solidFill>
                  <a:schemeClr val="tx1"/>
                </a:solidFill>
              </a:rPr>
              <a:t>1</a:t>
            </a:fld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4441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52F7CD-ADE5-2CD5-1B29-FA96A2793DF6}"/>
              </a:ext>
            </a:extLst>
          </p:cNvPr>
          <p:cNvSpPr txBox="1"/>
          <p:nvPr/>
        </p:nvSpPr>
        <p:spPr>
          <a:xfrm>
            <a:off x="1061885" y="78659"/>
            <a:ext cx="10038735" cy="63094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500" dirty="0">
                <a:solidFill>
                  <a:srgbClr val="002060"/>
                </a:solidFill>
              </a:rPr>
              <a:t>Syllabus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21DB4D-42AB-BFB4-EDCC-DAB3F2523207}"/>
              </a:ext>
            </a:extLst>
          </p:cNvPr>
          <p:cNvSpPr txBox="1"/>
          <p:nvPr/>
        </p:nvSpPr>
        <p:spPr>
          <a:xfrm>
            <a:off x="521111" y="1081549"/>
            <a:ext cx="4719483" cy="230832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Unit 1:</a:t>
            </a:r>
          </a:p>
          <a:p>
            <a:r>
              <a:rPr lang="en-US" dirty="0">
                <a:latin typeface="Aptos" panose="020B0004020202020204" pitchFamily="34" charset="0"/>
              </a:rPr>
              <a:t>Introduction to Design Patterns: </a:t>
            </a:r>
          </a:p>
          <a:p>
            <a:r>
              <a:rPr lang="en-US" dirty="0">
                <a:latin typeface="Aptos" panose="020B0004020202020204" pitchFamily="34" charset="0"/>
              </a:rPr>
              <a:t>Significance – Software Design and patterns – Model – View - Controller.  Describing Design Patterns, The Catalogue of Design Patterns, Organizing The Cato log, How Design Patterns solve Design Problems, How to Select a Design pattern, How to Use a Design Pattern.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ED6B49-CF6B-5B21-2CFA-DF7CAB7212B4}"/>
              </a:ext>
            </a:extLst>
          </p:cNvPr>
          <p:cNvSpPr txBox="1"/>
          <p:nvPr/>
        </p:nvSpPr>
        <p:spPr>
          <a:xfrm>
            <a:off x="5869860" y="1081549"/>
            <a:ext cx="5142270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Unit 2:</a:t>
            </a:r>
          </a:p>
          <a:p>
            <a:r>
              <a:rPr lang="en-IN" dirty="0">
                <a:latin typeface="Aptos" panose="020B0004020202020204" pitchFamily="34" charset="0"/>
              </a:rPr>
              <a:t>Observer Pattern - Decorator Pattern - Factory Pattern - Singleton Pattern - Command Pattern - Adapter and Facade Patterns - </a:t>
            </a:r>
            <a:r>
              <a:rPr lang="en-US" dirty="0">
                <a:latin typeface="Aptos" panose="020B0004020202020204" pitchFamily="34" charset="0"/>
              </a:rPr>
              <a:t>Template Method Pattern - Iterator and Composite Patterns – The State Pattern – The Proxy Pattern – Compound Patterns.</a:t>
            </a:r>
          </a:p>
          <a:p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CA987A-C1CF-CC7C-829B-05858D18179C}"/>
              </a:ext>
            </a:extLst>
          </p:cNvPr>
          <p:cNvSpPr txBox="1"/>
          <p:nvPr/>
        </p:nvSpPr>
        <p:spPr>
          <a:xfrm>
            <a:off x="3092246" y="3824750"/>
            <a:ext cx="5402825" cy="14773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Unit 3:</a:t>
            </a:r>
          </a:p>
          <a:p>
            <a:r>
              <a:rPr lang="en-US" dirty="0">
                <a:latin typeface="Aptos" panose="020B0004020202020204" pitchFamily="34" charset="0"/>
              </a:rPr>
              <a:t>GRASP Patterns and Anti-patterns, Overview of concurrency patterns. Case Study: Use of patterns in the Design of a Modern Web Framework, Design patterns in agile and iterative development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A4FD6-E3B1-08D3-34CC-68D8C8AA3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7E3B8-1E94-47E7-9F99-1A3ECACCE0E1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DDCFD-9AEA-5102-D30B-CE875384B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689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2AB674-E51F-3EA1-30D5-EE9D65218038}"/>
              </a:ext>
            </a:extLst>
          </p:cNvPr>
          <p:cNvSpPr txBox="1"/>
          <p:nvPr/>
        </p:nvSpPr>
        <p:spPr>
          <a:xfrm>
            <a:off x="1061885" y="78659"/>
            <a:ext cx="10038735" cy="63094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500" dirty="0">
                <a:solidFill>
                  <a:srgbClr val="002060"/>
                </a:solidFill>
              </a:rPr>
              <a:t>Textbook &amp; 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7B7B3C-38B7-3E9C-3F8E-03E294A5B8E7}"/>
              </a:ext>
            </a:extLst>
          </p:cNvPr>
          <p:cNvSpPr txBox="1"/>
          <p:nvPr/>
        </p:nvSpPr>
        <p:spPr>
          <a:xfrm>
            <a:off x="983226" y="1268254"/>
            <a:ext cx="10599174" cy="4509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Textbook(s)</a:t>
            </a:r>
            <a:r>
              <a:rPr lang="en-US" sz="24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endParaRPr lang="en-IN" sz="2400" dirty="0">
              <a:effectLst/>
              <a:latin typeface="Aptos" panose="020B0004020202020204" pitchFamily="34" charset="0"/>
              <a:ea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Aptos" panose="020B0004020202020204" pitchFamily="34" charset="0"/>
              </a:rPr>
              <a:t>Erich Gamma, Richard Helm, Ralph Johnson and John M. Vlissides, “</a:t>
            </a:r>
            <a:r>
              <a:rPr lang="en-US" sz="2400" b="1" dirty="0">
                <a:solidFill>
                  <a:srgbClr val="0000FF"/>
                </a:solidFill>
                <a:latin typeface="Aptos" panose="020B0004020202020204" pitchFamily="34" charset="0"/>
              </a:rPr>
              <a:t>Design Patterns: Elements of Reusable Object Oriented Software</a:t>
            </a:r>
            <a:r>
              <a:rPr lang="en-US" sz="2400" dirty="0">
                <a:solidFill>
                  <a:srgbClr val="0000FF"/>
                </a:solidFill>
                <a:latin typeface="Aptos" panose="020B0004020202020204" pitchFamily="34" charset="0"/>
              </a:rPr>
              <a:t>”, Second Edition, Addison Wesley, 2000</a:t>
            </a:r>
            <a:r>
              <a:rPr lang="en-US" sz="2400" dirty="0">
                <a:solidFill>
                  <a:srgbClr val="0000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endParaRPr lang="en-IN" sz="2400" dirty="0">
              <a:solidFill>
                <a:srgbClr val="0000FF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</a:endParaRPr>
          </a:p>
          <a:p>
            <a:pPr>
              <a:lnSpc>
                <a:spcPct val="196000"/>
              </a:lnSpc>
              <a:buNone/>
            </a:pPr>
            <a:r>
              <a:rPr lang="en-US" sz="2400" b="1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Reference(s)</a:t>
            </a:r>
            <a:endParaRPr lang="en-IN" sz="2400" b="1" dirty="0">
              <a:latin typeface="Aptos" panose="020B0004020202020204" pitchFamily="34" charset="0"/>
              <a:ea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ptos" panose="020B0004020202020204" pitchFamily="34" charset="0"/>
              </a:rPr>
              <a:t>James W. Cooper, </a:t>
            </a:r>
            <a:r>
              <a:rPr lang="en-IN" sz="2400" b="1" dirty="0">
                <a:latin typeface="Aptos" panose="020B0004020202020204" pitchFamily="34" charset="0"/>
              </a:rPr>
              <a:t>Java Design Patterns: A Tutorial</a:t>
            </a:r>
            <a:r>
              <a:rPr lang="en-IN" sz="2400" dirty="0">
                <a:latin typeface="Aptos" panose="020B0004020202020204" pitchFamily="34" charset="0"/>
              </a:rPr>
              <a:t>, Second Edition, Pearson Education, 2003.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Erich Freeman, Elisabeth Robson, Bert Bates and Kathy Sierra, </a:t>
            </a:r>
            <a:r>
              <a:rPr lang="en-US" sz="2400" b="1" dirty="0">
                <a:latin typeface="Aptos" panose="020B0004020202020204" pitchFamily="34" charset="0"/>
              </a:rPr>
              <a:t>Head First Design Patterns</a:t>
            </a:r>
            <a:r>
              <a:rPr lang="en-US" sz="2400" dirty="0">
                <a:latin typeface="Aptos" panose="020B0004020202020204" pitchFamily="34" charset="0"/>
              </a:rPr>
              <a:t>, O’Reilly Media Inc., October 2004.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Mark Grand, </a:t>
            </a:r>
            <a:r>
              <a:rPr lang="en-US" sz="2400" b="1" dirty="0">
                <a:latin typeface="Aptos" panose="020B0004020202020204" pitchFamily="34" charset="0"/>
              </a:rPr>
              <a:t>Patterns in Java – A Catalog of Reusable Patterns Illustrated with UML</a:t>
            </a:r>
            <a:r>
              <a:rPr lang="en-US" sz="2400" dirty="0">
                <a:latin typeface="Aptos" panose="020B0004020202020204" pitchFamily="34" charset="0"/>
              </a:rPr>
              <a:t>, Wiley – </a:t>
            </a:r>
            <a:r>
              <a:rPr lang="en-US" sz="2400" dirty="0" err="1">
                <a:latin typeface="Aptos" panose="020B0004020202020204" pitchFamily="34" charset="0"/>
              </a:rPr>
              <a:t>Dreamtech</a:t>
            </a:r>
            <a:r>
              <a:rPr lang="en-US" sz="2400" dirty="0">
                <a:latin typeface="Aptos" panose="020B0004020202020204" pitchFamily="34" charset="0"/>
              </a:rPr>
              <a:t> India, 2002.</a:t>
            </a:r>
            <a:endParaRPr lang="en-IN" sz="2400" dirty="0">
              <a:effectLst/>
              <a:latin typeface="Aptos" panose="020B00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7B66EC-7F5F-219E-2DF6-8873308F8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A59C3-3096-495C-8F92-1DCA59DBBBCB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A495B-2148-9211-9E99-73F027575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82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5A4997-38B3-28FB-5217-509A52D72E4F}"/>
              </a:ext>
            </a:extLst>
          </p:cNvPr>
          <p:cNvSpPr txBox="1"/>
          <p:nvPr/>
        </p:nvSpPr>
        <p:spPr>
          <a:xfrm>
            <a:off x="1061885" y="78659"/>
            <a:ext cx="10038735" cy="630942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500" dirty="0">
                <a:solidFill>
                  <a:srgbClr val="002060"/>
                </a:solidFill>
              </a:rPr>
              <a:t>Evaluation Policy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21A133-E00E-3A99-F0A6-BCECD60E1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005051"/>
              </p:ext>
            </p:extLst>
          </p:nvPr>
        </p:nvGraphicFramePr>
        <p:xfrm>
          <a:off x="1061885" y="827384"/>
          <a:ext cx="10242368" cy="570841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10515">
                  <a:extLst>
                    <a:ext uri="{9D8B030D-6E8A-4147-A177-3AD203B41FA5}">
                      <a16:colId xmlns:a16="http://schemas.microsoft.com/office/drawing/2014/main" val="757433026"/>
                    </a:ext>
                  </a:extLst>
                </a:gridCol>
                <a:gridCol w="2664136">
                  <a:extLst>
                    <a:ext uri="{9D8B030D-6E8A-4147-A177-3AD203B41FA5}">
                      <a16:colId xmlns:a16="http://schemas.microsoft.com/office/drawing/2014/main" val="3578264395"/>
                    </a:ext>
                  </a:extLst>
                </a:gridCol>
                <a:gridCol w="4070554">
                  <a:extLst>
                    <a:ext uri="{9D8B030D-6E8A-4147-A177-3AD203B41FA5}">
                      <a16:colId xmlns:a16="http://schemas.microsoft.com/office/drawing/2014/main" val="427698414"/>
                    </a:ext>
                  </a:extLst>
                </a:gridCol>
                <a:gridCol w="491614">
                  <a:extLst>
                    <a:ext uri="{9D8B030D-6E8A-4147-A177-3AD203B41FA5}">
                      <a16:colId xmlns:a16="http://schemas.microsoft.com/office/drawing/2014/main" val="3126655053"/>
                    </a:ext>
                  </a:extLst>
                </a:gridCol>
                <a:gridCol w="1189703">
                  <a:extLst>
                    <a:ext uri="{9D8B030D-6E8A-4147-A177-3AD203B41FA5}">
                      <a16:colId xmlns:a16="http://schemas.microsoft.com/office/drawing/2014/main" val="4096108141"/>
                    </a:ext>
                  </a:extLst>
                </a:gridCol>
                <a:gridCol w="1415846">
                  <a:extLst>
                    <a:ext uri="{9D8B030D-6E8A-4147-A177-3AD203B41FA5}">
                      <a16:colId xmlns:a16="http://schemas.microsoft.com/office/drawing/2014/main" val="4278884062"/>
                    </a:ext>
                  </a:extLst>
                </a:gridCol>
              </a:tblGrid>
              <a:tr h="6992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Sl. No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>
                    <a:gradFill flip="none" rotWithShape="1">
                      <a:gsLst>
                        <a:gs pos="0">
                          <a:schemeClr val="tx2">
                            <a:lumMod val="60000"/>
                            <a:lumOff val="40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60000"/>
                            <a:lumOff val="40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60000"/>
                            <a:lumOff val="40000"/>
                            <a:shade val="100000"/>
                            <a:satMod val="115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Assessment Component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>
                    <a:gradFill flip="none" rotWithShape="1">
                      <a:gsLst>
                        <a:gs pos="0">
                          <a:schemeClr val="tx2">
                            <a:lumMod val="60000"/>
                            <a:lumOff val="40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60000"/>
                            <a:lumOff val="40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60000"/>
                            <a:lumOff val="40000"/>
                            <a:shade val="100000"/>
                            <a:satMod val="115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Sub-Component Details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>
                    <a:gradFill flip="none" rotWithShape="1">
                      <a:gsLst>
                        <a:gs pos="0">
                          <a:schemeClr val="tx2">
                            <a:lumMod val="60000"/>
                            <a:lumOff val="40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60000"/>
                            <a:lumOff val="40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60000"/>
                            <a:lumOff val="40000"/>
                            <a:shade val="100000"/>
                            <a:satMod val="115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Marks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>
                    <a:gradFill flip="none" rotWithShape="1">
                      <a:gsLst>
                        <a:gs pos="0">
                          <a:schemeClr val="tx2">
                            <a:lumMod val="60000"/>
                            <a:lumOff val="40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60000"/>
                            <a:lumOff val="40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60000"/>
                            <a:lumOff val="40000"/>
                            <a:shade val="100000"/>
                            <a:satMod val="115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Weightage (%)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>
                    <a:gradFill flip="none" rotWithShape="1">
                      <a:gsLst>
                        <a:gs pos="0">
                          <a:schemeClr val="tx2">
                            <a:lumMod val="60000"/>
                            <a:lumOff val="40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60000"/>
                            <a:lumOff val="40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60000"/>
                            <a:lumOff val="40000"/>
                            <a:shade val="100000"/>
                            <a:satMod val="115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Tentative Evaluation Time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>
                    <a:gradFill flip="none" rotWithShape="1">
                      <a:gsLst>
                        <a:gs pos="0">
                          <a:schemeClr val="tx2">
                            <a:lumMod val="60000"/>
                            <a:lumOff val="40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60000"/>
                            <a:lumOff val="40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60000"/>
                            <a:lumOff val="40000"/>
                            <a:shade val="100000"/>
                            <a:satMod val="115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985053072"/>
                  </a:ext>
                </a:extLst>
              </a:tr>
              <a:tr h="5005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Mid Term Examination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Units 1 and 2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50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20%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Mid-Semester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extLst>
                  <a:ext uri="{0D108BD9-81ED-4DB2-BD59-A6C34878D82A}">
                    <a16:rowId xmlns:a16="http://schemas.microsoft.com/office/drawing/2014/main" val="3805628650"/>
                  </a:ext>
                </a:extLst>
              </a:tr>
              <a:tr h="7133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2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Continuous Assessment Theory (CAT1)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Quiz 1 – Design Pattern Concepts/ Interim exam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10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10%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Week 8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extLst>
                  <a:ext uri="{0D108BD9-81ED-4DB2-BD59-A6C34878D82A}">
                    <a16:rowId xmlns:a16="http://schemas.microsoft.com/office/drawing/2014/main" val="661629411"/>
                  </a:ext>
                </a:extLst>
              </a:tr>
              <a:tr h="7133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3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Continuous Assessment Lab (CAL)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Case Study: Part 1 - AI Assisted Design Patterns in Modern Web Frameworks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10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40%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Week 5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extLst>
                  <a:ext uri="{0D108BD9-81ED-4DB2-BD59-A6C34878D82A}">
                    <a16:rowId xmlns:a16="http://schemas.microsoft.com/office/drawing/2014/main" val="1394806000"/>
                  </a:ext>
                </a:extLst>
              </a:tr>
              <a:tr h="8955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Case Study: Part 2 - AI Assisted Design Patterns in Agile and Iterative Development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10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Week 7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extLst>
                  <a:ext uri="{0D108BD9-81ED-4DB2-BD59-A6C34878D82A}">
                    <a16:rowId xmlns:a16="http://schemas.microsoft.com/office/drawing/2014/main" val="1075690256"/>
                  </a:ext>
                </a:extLst>
              </a:tr>
              <a:tr h="7133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Case Study: Part 3 - Cross-Language Pattern Analysis using LLM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10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Week 9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extLst>
                  <a:ext uri="{0D108BD9-81ED-4DB2-BD59-A6C34878D82A}">
                    <a16:rowId xmlns:a16="http://schemas.microsoft.com/office/drawing/2014/main" val="848774096"/>
                  </a:ext>
                </a:extLst>
              </a:tr>
              <a:tr h="5311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Case Study Viva Voce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10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Week 11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extLst>
                  <a:ext uri="{0D108BD9-81ED-4DB2-BD59-A6C34878D82A}">
                    <a16:rowId xmlns:a16="http://schemas.microsoft.com/office/drawing/2014/main" val="2049352336"/>
                  </a:ext>
                </a:extLst>
              </a:tr>
              <a:tr h="5311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4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End Semester Examination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Complete Syllabus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50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30%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End of Semester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extLst>
                  <a:ext uri="{0D108BD9-81ED-4DB2-BD59-A6C34878D82A}">
                    <a16:rowId xmlns:a16="http://schemas.microsoft.com/office/drawing/2014/main" val="629637934"/>
                  </a:ext>
                </a:extLst>
              </a:tr>
              <a:tr h="2439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Total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Aptos" panose="020B0004020202020204" pitchFamily="34" charset="0"/>
                        </a:rPr>
                        <a:t>100%</a:t>
                      </a:r>
                      <a:endParaRPr lang="en-IN" sz="16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IN" sz="16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7644" marR="57644" marT="0" marB="0"/>
                </a:tc>
                <a:extLst>
                  <a:ext uri="{0D108BD9-81ED-4DB2-BD59-A6C34878D82A}">
                    <a16:rowId xmlns:a16="http://schemas.microsoft.com/office/drawing/2014/main" val="1626328440"/>
                  </a:ext>
                </a:extLst>
              </a:tr>
            </a:tbl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3D7BC0-0115-C540-B91A-C5452366E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5B3FB-5ED1-4B23-9AAC-33BC6E822AD4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3ECF04-5C7F-D42A-1676-0665F9E8F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121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70E4E1-E091-C721-6F2C-882F22F29387}"/>
              </a:ext>
            </a:extLst>
          </p:cNvPr>
          <p:cNvSpPr txBox="1"/>
          <p:nvPr/>
        </p:nvSpPr>
        <p:spPr>
          <a:xfrm>
            <a:off x="2349910" y="2684206"/>
            <a:ext cx="9842090" cy="76944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rgbClr val="FF0000"/>
                </a:solidFill>
              </a:rPr>
              <a:t>Unit 2</a:t>
            </a:r>
          </a:p>
        </p:txBody>
      </p:sp>
    </p:spTree>
    <p:extLst>
      <p:ext uri="{BB962C8B-B14F-4D97-AF65-F5344CB8AC3E}">
        <p14:creationId xmlns:p14="http://schemas.microsoft.com/office/powerpoint/2010/main" val="1533526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94A6AF-F69A-DB2A-704F-4F8B2EC64C1D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Observer Pattern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BF1AFB-340D-917A-D7FE-B07A352AC5CB}"/>
              </a:ext>
            </a:extLst>
          </p:cNvPr>
          <p:cNvSpPr txBox="1"/>
          <p:nvPr/>
        </p:nvSpPr>
        <p:spPr>
          <a:xfrm>
            <a:off x="796413" y="1053350"/>
            <a:ext cx="107466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rgbClr val="0000FF"/>
                </a:solidFill>
              </a:rPr>
              <a:t>How does YouTube notify millions of subscribers when a creator uploads a new video?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DEF93D-8437-AC8C-5872-05564C1FD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27" y="2304568"/>
            <a:ext cx="7331075" cy="43590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F19A62-2144-892E-510F-FAF33EAD126A}"/>
              </a:ext>
            </a:extLst>
          </p:cNvPr>
          <p:cNvSpPr txBox="1"/>
          <p:nvPr/>
        </p:nvSpPr>
        <p:spPr>
          <a:xfrm>
            <a:off x="746414" y="1908579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990033"/>
                </a:solidFill>
              </a:rPr>
              <a:t>The GoF Documentation Template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734FD9-910D-FA1B-B2D4-FC8E392028C6}"/>
              </a:ext>
            </a:extLst>
          </p:cNvPr>
          <p:cNvSpPr txBox="1"/>
          <p:nvPr/>
        </p:nvSpPr>
        <p:spPr>
          <a:xfrm>
            <a:off x="8485238" y="3000137"/>
            <a:ext cx="275303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rgbClr val="0000FF"/>
                </a:solidFill>
              </a:rPr>
              <a:t>Every design pattern in this course uses the same 12-part structure</a:t>
            </a:r>
          </a:p>
        </p:txBody>
      </p:sp>
    </p:spTree>
    <p:extLst>
      <p:ext uri="{BB962C8B-B14F-4D97-AF65-F5344CB8AC3E}">
        <p14:creationId xmlns:p14="http://schemas.microsoft.com/office/powerpoint/2010/main" val="3246638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46DF2-2F80-9CA8-41BB-A95546560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6D7524-B2DD-BE9A-6ABD-7E512B22FCB0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Motivation: The Real-World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F544E1-DF31-856D-D64D-954732C8F68A}"/>
              </a:ext>
            </a:extLst>
          </p:cNvPr>
          <p:cNvSpPr txBox="1"/>
          <p:nvPr/>
        </p:nvSpPr>
        <p:spPr>
          <a:xfrm>
            <a:off x="796413" y="1053350"/>
            <a:ext cx="10746658" cy="4770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IN" sz="2500" dirty="0"/>
              <a:t>Does YouTube call every user manually?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3EDD38-1CFB-7692-4130-72C6162E7082}"/>
              </a:ext>
            </a:extLst>
          </p:cNvPr>
          <p:cNvSpPr txBox="1"/>
          <p:nvPr/>
        </p:nvSpPr>
        <p:spPr>
          <a:xfrm>
            <a:off x="559601" y="3698050"/>
            <a:ext cx="10717999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3000" b="1" dirty="0">
                <a:solidFill>
                  <a:srgbClr val="990033"/>
                </a:solidFill>
              </a:rPr>
              <a:t>Core question:</a:t>
            </a:r>
            <a:r>
              <a:rPr lang="en-IN" sz="3000" dirty="0">
                <a:solidFill>
                  <a:srgbClr val="990033"/>
                </a:solidFill>
              </a:rPr>
              <a:t> If 10 million subscribers exist, how can a channel notify all of them without knowing their internal implementation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0BA06D-3119-F6EC-E161-AB6C323DA6F4}"/>
              </a:ext>
            </a:extLst>
          </p:cNvPr>
          <p:cNvSpPr txBox="1"/>
          <p:nvPr/>
        </p:nvSpPr>
        <p:spPr>
          <a:xfrm>
            <a:off x="825910" y="1725399"/>
            <a:ext cx="8839200" cy="47705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IN" sz="2500" dirty="0"/>
              <a:t>How does WhatsApp notify everyone in a group?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B6BF-0346-5E60-3B3C-4B4EC765C8BE}"/>
              </a:ext>
            </a:extLst>
          </p:cNvPr>
          <p:cNvSpPr txBox="1"/>
          <p:nvPr/>
        </p:nvSpPr>
        <p:spPr>
          <a:xfrm>
            <a:off x="806245" y="2489293"/>
            <a:ext cx="9144000" cy="4770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2500" dirty="0"/>
              <a:t>How do stock market apps update prices automatically</a:t>
            </a:r>
          </a:p>
        </p:txBody>
      </p:sp>
    </p:spTree>
    <p:extLst>
      <p:ext uri="{BB962C8B-B14F-4D97-AF65-F5344CB8AC3E}">
        <p14:creationId xmlns:p14="http://schemas.microsoft.com/office/powerpoint/2010/main" val="1698612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4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26BB3-AE90-3281-D93D-4EDF5A9DA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CF349A-BC17-69BC-1415-B6B447833C00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Why the Existing Design Fails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FEFDF0-4E95-AEB1-FD86-67BAB8CF40C3}"/>
              </a:ext>
            </a:extLst>
          </p:cNvPr>
          <p:cNvSpPr txBox="1"/>
          <p:nvPr/>
        </p:nvSpPr>
        <p:spPr>
          <a:xfrm>
            <a:off x="6342806" y="1551700"/>
            <a:ext cx="4620162" cy="13234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990033"/>
                </a:solidFill>
              </a:rPr>
              <a:t>Hardcoded Subscribers</a:t>
            </a:r>
          </a:p>
          <a:p>
            <a:r>
              <a:rPr lang="en-IN" sz="2000" dirty="0">
                <a:solidFill>
                  <a:srgbClr val="990033"/>
                </a:solidFill>
              </a:rPr>
              <a:t>Every subscriber must be declared explicitly — cannot add new ones dynamically.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B74891-5FFB-3D69-C32D-01D84523D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49" y="1529193"/>
            <a:ext cx="5594653" cy="48322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B8161F-7B1E-DBF9-F5C2-66D736DF48A4}"/>
              </a:ext>
            </a:extLst>
          </p:cNvPr>
          <p:cNvSpPr txBox="1"/>
          <p:nvPr/>
        </p:nvSpPr>
        <p:spPr>
          <a:xfrm>
            <a:off x="628427" y="910927"/>
            <a:ext cx="75520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rgbClr val="0000FF"/>
                </a:solidFill>
              </a:rPr>
              <a:t>A naive implementation hardcodes every subscribers: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FCD974-8BA3-54C0-9DCC-7F06DF9700DB}"/>
              </a:ext>
            </a:extLst>
          </p:cNvPr>
          <p:cNvSpPr txBox="1"/>
          <p:nvPr/>
        </p:nvSpPr>
        <p:spPr>
          <a:xfrm>
            <a:off x="6341806" y="3216447"/>
            <a:ext cx="4857136" cy="10156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990033"/>
                </a:solidFill>
              </a:rPr>
              <a:t>Tight Coupling</a:t>
            </a:r>
          </a:p>
          <a:p>
            <a:pPr>
              <a:buNone/>
            </a:pPr>
            <a:r>
              <a:rPr lang="en-IN" sz="2000" dirty="0">
                <a:solidFill>
                  <a:srgbClr val="990033"/>
                </a:solidFill>
              </a:rPr>
              <a:t>One class knows too much about another class.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EA721F-08A8-E558-8854-74EB4F73D01F}"/>
              </a:ext>
            </a:extLst>
          </p:cNvPr>
          <p:cNvSpPr txBox="1"/>
          <p:nvPr/>
        </p:nvSpPr>
        <p:spPr>
          <a:xfrm>
            <a:off x="6351640" y="4720783"/>
            <a:ext cx="4709651" cy="10156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990033"/>
                </a:solidFill>
              </a:rPr>
              <a:t>Difficult Maintenance</a:t>
            </a:r>
          </a:p>
          <a:p>
            <a:pPr>
              <a:buNone/>
            </a:pPr>
            <a:r>
              <a:rPr lang="en-IN" sz="2000" dirty="0">
                <a:solidFill>
                  <a:srgbClr val="990033"/>
                </a:solidFill>
              </a:rPr>
              <a:t>Changes ripple through the entire system.</a:t>
            </a:r>
          </a:p>
        </p:txBody>
      </p:sp>
    </p:spTree>
    <p:extLst>
      <p:ext uri="{BB962C8B-B14F-4D97-AF65-F5344CB8AC3E}">
        <p14:creationId xmlns:p14="http://schemas.microsoft.com/office/powerpoint/2010/main" val="876332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9B1E0-CA3C-6ABC-E345-C80B1D589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B3799C-3762-41E3-DD2E-EC0D8D300A07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The Observer Pattern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234C7E-5F48-0BE4-FAC9-567342AC4A9F}"/>
              </a:ext>
            </a:extLst>
          </p:cNvPr>
          <p:cNvSpPr txBox="1"/>
          <p:nvPr/>
        </p:nvSpPr>
        <p:spPr>
          <a:xfrm>
            <a:off x="776748" y="3167286"/>
            <a:ext cx="2723536" cy="76944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IN" sz="2200" b="1" dirty="0"/>
              <a:t>Pattern Name</a:t>
            </a:r>
          </a:p>
          <a:p>
            <a:r>
              <a:rPr lang="en-IN" sz="2200" dirty="0"/>
              <a:t>Observer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F14B3C-ADB4-B6B7-BF33-EF5D128CBC8F}"/>
              </a:ext>
            </a:extLst>
          </p:cNvPr>
          <p:cNvSpPr txBox="1"/>
          <p:nvPr/>
        </p:nvSpPr>
        <p:spPr>
          <a:xfrm>
            <a:off x="4866970" y="3186949"/>
            <a:ext cx="5948514" cy="7694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2200" b="1" dirty="0"/>
              <a:t>Intent</a:t>
            </a:r>
          </a:p>
          <a:p>
            <a:r>
              <a:rPr lang="en-IN" sz="2200" dirty="0"/>
              <a:t>Automatically notify dependent objects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0FC291-E7B2-30B4-F884-7CF3C3F1468C}"/>
              </a:ext>
            </a:extLst>
          </p:cNvPr>
          <p:cNvSpPr txBox="1"/>
          <p:nvPr/>
        </p:nvSpPr>
        <p:spPr>
          <a:xfrm>
            <a:off x="639098" y="737869"/>
            <a:ext cx="1016655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990033"/>
                </a:solidFill>
              </a:rPr>
              <a:t>GoF Intent:</a:t>
            </a:r>
            <a:r>
              <a:rPr lang="en-IN" sz="2400" dirty="0">
                <a:solidFill>
                  <a:srgbClr val="990033"/>
                </a:solidFill>
              </a:rPr>
              <a:t> </a:t>
            </a:r>
            <a:r>
              <a:rPr lang="en-IN" sz="2400" dirty="0">
                <a:solidFill>
                  <a:srgbClr val="0000FF"/>
                </a:solidFill>
              </a:rPr>
              <a:t>Define a one-to-many dependency between objects so that when one object changes state, all its dependents are notified and updated automatically.</a:t>
            </a:r>
          </a:p>
          <a:p>
            <a:r>
              <a:rPr lang="en-IN" sz="2400" b="1" dirty="0">
                <a:solidFill>
                  <a:srgbClr val="990033"/>
                </a:solidFill>
              </a:rPr>
              <a:t>Simplified:</a:t>
            </a:r>
            <a:r>
              <a:rPr lang="en-IN" sz="2400" dirty="0">
                <a:solidFill>
                  <a:srgbClr val="990033"/>
                </a:solidFill>
              </a:rPr>
              <a:t> </a:t>
            </a:r>
            <a:r>
              <a:rPr lang="en-IN" sz="2400" dirty="0">
                <a:solidFill>
                  <a:srgbClr val="0000FF"/>
                </a:solidFill>
              </a:rPr>
              <a:t>One object changes → Many objects automatically receive updates</a:t>
            </a:r>
          </a:p>
          <a:p>
            <a:pPr>
              <a:buNone/>
            </a:pPr>
            <a:endParaRPr lang="en-IN" sz="2400" dirty="0">
              <a:solidFill>
                <a:srgbClr val="0000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4CB7F0-0C31-FAB6-4611-812E3F765F4A}"/>
              </a:ext>
            </a:extLst>
          </p:cNvPr>
          <p:cNvSpPr txBox="1"/>
          <p:nvPr/>
        </p:nvSpPr>
        <p:spPr>
          <a:xfrm>
            <a:off x="4090221" y="4494638"/>
            <a:ext cx="2851355" cy="7694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/>
              <a:t>Motivation</a:t>
            </a:r>
          </a:p>
          <a:p>
            <a:pPr>
              <a:buNone/>
            </a:pPr>
            <a:r>
              <a:rPr lang="en-IN" sz="2200" dirty="0"/>
              <a:t>YouTube notifications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85B17A-D707-5F93-35EF-2D461F232D85}"/>
              </a:ext>
            </a:extLst>
          </p:cNvPr>
          <p:cNvSpPr txBox="1"/>
          <p:nvPr/>
        </p:nvSpPr>
        <p:spPr>
          <a:xfrm>
            <a:off x="609599" y="5771985"/>
            <a:ext cx="10087898" cy="76944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/>
              <a:t>Applicability</a:t>
            </a:r>
          </a:p>
          <a:p>
            <a:pPr>
              <a:buNone/>
            </a:pPr>
            <a:r>
              <a:rPr lang="en-IN" sz="2200" dirty="0"/>
              <a:t>Many objects depend on one; automatic updates needed; loose coupling desired</a:t>
            </a:r>
          </a:p>
        </p:txBody>
      </p:sp>
    </p:spTree>
    <p:extLst>
      <p:ext uri="{BB962C8B-B14F-4D97-AF65-F5344CB8AC3E}">
        <p14:creationId xmlns:p14="http://schemas.microsoft.com/office/powerpoint/2010/main" val="3553107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C0C78A8-BE51-4E7C-B589-6B6A75211F24}"/>
              </a:ext>
            </a:extLst>
          </p:cNvPr>
          <p:cNvCxnSpPr/>
          <p:nvPr/>
        </p:nvCxnSpPr>
        <p:spPr>
          <a:xfrm>
            <a:off x="1430286" y="2927342"/>
            <a:ext cx="17263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50738380-70E8-6B9C-C7D8-BCBCC4070601}"/>
              </a:ext>
            </a:extLst>
          </p:cNvPr>
          <p:cNvSpPr/>
          <p:nvPr/>
        </p:nvSpPr>
        <p:spPr>
          <a:xfrm>
            <a:off x="296246" y="2725491"/>
            <a:ext cx="1139952" cy="4373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 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Client</a:t>
            </a:r>
          </a:p>
          <a:p>
            <a:pPr algn="ctr"/>
            <a:endParaRPr lang="en-US" sz="2000" b="1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  </a:t>
            </a:r>
            <a:endParaRPr lang="en-IN" sz="2000" b="1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687C98-AD25-1E99-BA0B-1460E261A614}"/>
              </a:ext>
            </a:extLst>
          </p:cNvPr>
          <p:cNvSpPr/>
          <p:nvPr/>
        </p:nvSpPr>
        <p:spPr>
          <a:xfrm>
            <a:off x="4392520" y="2534167"/>
            <a:ext cx="1679806" cy="39608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Observer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DD3E19-3AF6-9FFF-DCD9-5A336D868426}"/>
              </a:ext>
            </a:extLst>
          </p:cNvPr>
          <p:cNvSpPr/>
          <p:nvPr/>
        </p:nvSpPr>
        <p:spPr>
          <a:xfrm>
            <a:off x="4392528" y="2927342"/>
            <a:ext cx="1679797" cy="52196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  <a:p>
            <a:r>
              <a:rPr lang="en-US" sz="2000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update();</a:t>
            </a:r>
          </a:p>
          <a:p>
            <a:endParaRPr lang="en-US" sz="2000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76CAF7-4C33-C15C-245B-06F33F94E055}"/>
              </a:ext>
            </a:extLst>
          </p:cNvPr>
          <p:cNvSpPr/>
          <p:nvPr/>
        </p:nvSpPr>
        <p:spPr>
          <a:xfrm>
            <a:off x="3692129" y="4457229"/>
            <a:ext cx="1781728" cy="56333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Concrete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Observer A </a:t>
            </a:r>
            <a:endParaRPr lang="en-IN" sz="2000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EB9FBF-B419-98D9-9905-89A3915BE939}"/>
              </a:ext>
            </a:extLst>
          </p:cNvPr>
          <p:cNvSpPr/>
          <p:nvPr/>
        </p:nvSpPr>
        <p:spPr>
          <a:xfrm>
            <a:off x="3696438" y="5018149"/>
            <a:ext cx="1781728" cy="47705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  <a:p>
            <a:endParaRPr lang="en-US" sz="2000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  <a:p>
            <a:r>
              <a:rPr lang="en-US" sz="2000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update(){ … }</a:t>
            </a:r>
          </a:p>
          <a:p>
            <a:endParaRPr lang="en-US" sz="2000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  <a:p>
            <a:endParaRPr lang="en-US" sz="2000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</p:txBody>
      </p:sp>
      <p:sp>
        <p:nvSpPr>
          <p:cNvPr id="8" name="Flowchart: Extract 7">
            <a:extLst>
              <a:ext uri="{FF2B5EF4-FFF2-40B4-BE49-F238E27FC236}">
                <a16:creationId xmlns:a16="http://schemas.microsoft.com/office/drawing/2014/main" id="{43762701-31B2-3291-F81D-E377F628F54B}"/>
              </a:ext>
            </a:extLst>
          </p:cNvPr>
          <p:cNvSpPr/>
          <p:nvPr/>
        </p:nvSpPr>
        <p:spPr>
          <a:xfrm>
            <a:off x="5383104" y="3469729"/>
            <a:ext cx="172278" cy="159029"/>
          </a:xfrm>
          <a:prstGeom prst="flowChartExtra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687DAE-99A0-9505-11C4-542E699BB1C9}"/>
              </a:ext>
            </a:extLst>
          </p:cNvPr>
          <p:cNvCxnSpPr>
            <a:cxnSpLocks/>
          </p:cNvCxnSpPr>
          <p:nvPr/>
        </p:nvCxnSpPr>
        <p:spPr>
          <a:xfrm>
            <a:off x="5473258" y="3633678"/>
            <a:ext cx="0" cy="22528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DC7A1A-E2AF-C311-F72D-81103E18BD00}"/>
              </a:ext>
            </a:extLst>
          </p:cNvPr>
          <p:cNvCxnSpPr>
            <a:cxnSpLocks/>
          </p:cNvCxnSpPr>
          <p:nvPr/>
        </p:nvCxnSpPr>
        <p:spPr>
          <a:xfrm>
            <a:off x="4419144" y="3854044"/>
            <a:ext cx="20360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834CDC9-33A6-E2A8-4A85-8E374A88E8FA}"/>
              </a:ext>
            </a:extLst>
          </p:cNvPr>
          <p:cNvCxnSpPr>
            <a:cxnSpLocks/>
          </p:cNvCxnSpPr>
          <p:nvPr/>
        </p:nvCxnSpPr>
        <p:spPr>
          <a:xfrm>
            <a:off x="4423252" y="3853482"/>
            <a:ext cx="0" cy="6173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6AFB16A-783F-790A-687E-AA285C4871A3}"/>
              </a:ext>
            </a:extLst>
          </p:cNvPr>
          <p:cNvCxnSpPr>
            <a:cxnSpLocks/>
          </p:cNvCxnSpPr>
          <p:nvPr/>
        </p:nvCxnSpPr>
        <p:spPr>
          <a:xfrm>
            <a:off x="6452169" y="3846858"/>
            <a:ext cx="0" cy="6173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lowchart: Decision 12">
            <a:extLst>
              <a:ext uri="{FF2B5EF4-FFF2-40B4-BE49-F238E27FC236}">
                <a16:creationId xmlns:a16="http://schemas.microsoft.com/office/drawing/2014/main" id="{1C55E4AD-1AE1-0258-CBEC-092B10E8AFED}"/>
              </a:ext>
            </a:extLst>
          </p:cNvPr>
          <p:cNvSpPr/>
          <p:nvPr/>
        </p:nvSpPr>
        <p:spPr>
          <a:xfrm>
            <a:off x="3344166" y="2782607"/>
            <a:ext cx="291548" cy="238539"/>
          </a:xfrm>
          <a:prstGeom prst="flowChartDecision">
            <a:avLst/>
          </a:prstGeom>
          <a:solidFill>
            <a:schemeClr val="bg1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318B499-D1F2-0E8C-1493-CC8E8764F961}"/>
              </a:ext>
            </a:extLst>
          </p:cNvPr>
          <p:cNvCxnSpPr>
            <a:cxnSpLocks/>
          </p:cNvCxnSpPr>
          <p:nvPr/>
        </p:nvCxnSpPr>
        <p:spPr>
          <a:xfrm>
            <a:off x="3577073" y="2901877"/>
            <a:ext cx="783368" cy="27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A281FB5B-BE74-403E-BCE2-42BC6FC6F719}"/>
              </a:ext>
            </a:extLst>
          </p:cNvPr>
          <p:cNvSpPr/>
          <p:nvPr/>
        </p:nvSpPr>
        <p:spPr>
          <a:xfrm>
            <a:off x="1611375" y="2408385"/>
            <a:ext cx="1724157" cy="4373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 Subject  </a:t>
            </a:r>
            <a:endParaRPr lang="en-IN" sz="2000" b="1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7C813F-B529-F2EA-AEB8-F85F61C82116}"/>
              </a:ext>
            </a:extLst>
          </p:cNvPr>
          <p:cNvSpPr/>
          <p:nvPr/>
        </p:nvSpPr>
        <p:spPr>
          <a:xfrm>
            <a:off x="1611369" y="2846197"/>
            <a:ext cx="1724165" cy="124048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000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  <a:p>
            <a:endParaRPr lang="en-IN" sz="2000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  <a:p>
            <a:r>
              <a:rPr lang="en-IN" sz="2000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registerob();</a:t>
            </a:r>
          </a:p>
          <a:p>
            <a:r>
              <a:rPr lang="en-IN" sz="2000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removeob()</a:t>
            </a:r>
          </a:p>
          <a:p>
            <a:r>
              <a:rPr lang="en-IN" sz="2000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operation();</a:t>
            </a:r>
          </a:p>
          <a:p>
            <a:r>
              <a:rPr lang="en-IN" sz="2000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 notify();</a:t>
            </a:r>
          </a:p>
          <a:p>
            <a:endParaRPr lang="en-IN" sz="2000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  <a:p>
            <a:r>
              <a:rPr lang="en-IN" sz="2000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 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E105186-149A-BBB1-6CAE-7BD7C1FD4C90}"/>
              </a:ext>
            </a:extLst>
          </p:cNvPr>
          <p:cNvCxnSpPr>
            <a:cxnSpLocks/>
          </p:cNvCxnSpPr>
          <p:nvPr/>
        </p:nvCxnSpPr>
        <p:spPr>
          <a:xfrm>
            <a:off x="5269108" y="2162007"/>
            <a:ext cx="892" cy="35709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C7FF633-DA6A-AACF-28B4-676DA0C46BF3}"/>
              </a:ext>
            </a:extLst>
          </p:cNvPr>
          <p:cNvCxnSpPr>
            <a:cxnSpLocks/>
          </p:cNvCxnSpPr>
          <p:nvPr/>
        </p:nvCxnSpPr>
        <p:spPr>
          <a:xfrm flipV="1">
            <a:off x="853423" y="2161497"/>
            <a:ext cx="4423507" cy="55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9F0BCB-CFA4-1E80-1C94-E83D7E8435A1}"/>
              </a:ext>
            </a:extLst>
          </p:cNvPr>
          <p:cNvCxnSpPr>
            <a:cxnSpLocks/>
          </p:cNvCxnSpPr>
          <p:nvPr/>
        </p:nvCxnSpPr>
        <p:spPr>
          <a:xfrm>
            <a:off x="861244" y="2168008"/>
            <a:ext cx="0" cy="56122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A61B6BD-8299-4D58-11C5-16DE7069C371}"/>
              </a:ext>
            </a:extLst>
          </p:cNvPr>
          <p:cNvSpPr/>
          <p:nvPr/>
        </p:nvSpPr>
        <p:spPr>
          <a:xfrm>
            <a:off x="5582867" y="4461638"/>
            <a:ext cx="1781728" cy="56333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Concrete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Observer B </a:t>
            </a:r>
            <a:endParaRPr lang="en-IN" sz="2000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280560-8C24-EC2F-5ED0-873B4963B435}"/>
              </a:ext>
            </a:extLst>
          </p:cNvPr>
          <p:cNvSpPr/>
          <p:nvPr/>
        </p:nvSpPr>
        <p:spPr>
          <a:xfrm>
            <a:off x="5584380" y="5022310"/>
            <a:ext cx="1781728" cy="47705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  <a:p>
            <a:endParaRPr lang="en-US" sz="2000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  <a:p>
            <a:r>
              <a:rPr lang="en-US" sz="2000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update(){ … }</a:t>
            </a:r>
          </a:p>
          <a:p>
            <a:endParaRPr lang="en-US" sz="2000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  <a:p>
            <a:endParaRPr lang="en-US" sz="2000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E1C495-A31D-DBAA-B6A7-7A92E09874AE}"/>
              </a:ext>
            </a:extLst>
          </p:cNvPr>
          <p:cNvSpPr/>
          <p:nvPr/>
        </p:nvSpPr>
        <p:spPr>
          <a:xfrm>
            <a:off x="1058729" y="4448337"/>
            <a:ext cx="2556044" cy="5202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 Concrete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Subject  </a:t>
            </a:r>
            <a:endParaRPr lang="en-IN" sz="2000" b="1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9B57B6-B7EA-88E2-45EB-DE9807ED1298}"/>
              </a:ext>
            </a:extLst>
          </p:cNvPr>
          <p:cNvSpPr/>
          <p:nvPr/>
        </p:nvSpPr>
        <p:spPr>
          <a:xfrm>
            <a:off x="1058730" y="4968657"/>
            <a:ext cx="2559758" cy="15119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000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  <a:p>
            <a:r>
              <a:rPr lang="en-IN" sz="2000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Observer ob;</a:t>
            </a:r>
          </a:p>
          <a:p>
            <a:r>
              <a:rPr lang="en-IN" sz="2000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registerob(){ …}</a:t>
            </a:r>
          </a:p>
          <a:p>
            <a:r>
              <a:rPr lang="en-IN" sz="2000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removeob(){ ... }</a:t>
            </a:r>
          </a:p>
          <a:p>
            <a:r>
              <a:rPr lang="en-IN" sz="2000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operation(){..notify();}</a:t>
            </a:r>
          </a:p>
          <a:p>
            <a:r>
              <a:rPr lang="en-IN" sz="2000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notify(){….}</a:t>
            </a:r>
          </a:p>
          <a:p>
            <a:endParaRPr lang="en-IN" sz="2000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</p:txBody>
      </p:sp>
      <p:sp>
        <p:nvSpPr>
          <p:cNvPr id="24" name="Flowchart: Extract 23">
            <a:extLst>
              <a:ext uri="{FF2B5EF4-FFF2-40B4-BE49-F238E27FC236}">
                <a16:creationId xmlns:a16="http://schemas.microsoft.com/office/drawing/2014/main" id="{27BDE2EE-7984-CC99-3F8C-58341A9E5F87}"/>
              </a:ext>
            </a:extLst>
          </p:cNvPr>
          <p:cNvSpPr/>
          <p:nvPr/>
        </p:nvSpPr>
        <p:spPr>
          <a:xfrm>
            <a:off x="2370010" y="4085965"/>
            <a:ext cx="172278" cy="159029"/>
          </a:xfrm>
          <a:prstGeom prst="flowChartExtra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508B2B2-0DBE-6915-C8D3-DD280557F246}"/>
              </a:ext>
            </a:extLst>
          </p:cNvPr>
          <p:cNvCxnSpPr>
            <a:cxnSpLocks/>
          </p:cNvCxnSpPr>
          <p:nvPr/>
        </p:nvCxnSpPr>
        <p:spPr>
          <a:xfrm>
            <a:off x="2460164" y="4252535"/>
            <a:ext cx="0" cy="20480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40F318E-2305-6FC7-30F3-25B117064936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The Observer Pattern- Structure &amp; Participants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E91AC83-9A6C-1195-BE98-1C7DA29F302D}"/>
              </a:ext>
            </a:extLst>
          </p:cNvPr>
          <p:cNvSpPr txBox="1"/>
          <p:nvPr/>
        </p:nvSpPr>
        <p:spPr>
          <a:xfrm>
            <a:off x="639098" y="737869"/>
            <a:ext cx="112382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990033"/>
                </a:solidFill>
              </a:rPr>
              <a:t>GoF Intent:</a:t>
            </a:r>
            <a:r>
              <a:rPr lang="en-IN" sz="2400" dirty="0">
                <a:solidFill>
                  <a:srgbClr val="990033"/>
                </a:solidFill>
              </a:rPr>
              <a:t> </a:t>
            </a:r>
            <a:r>
              <a:rPr lang="en-IN" sz="2400" dirty="0">
                <a:solidFill>
                  <a:srgbClr val="0000FF"/>
                </a:solidFill>
              </a:rPr>
              <a:t>Define a one-to-many dependency between objects so that when one object changes state, all its dependents are notified and updated automatically.</a:t>
            </a:r>
          </a:p>
          <a:p>
            <a:r>
              <a:rPr lang="en-IN" sz="2400" b="1" dirty="0">
                <a:solidFill>
                  <a:srgbClr val="990033"/>
                </a:solidFill>
              </a:rPr>
              <a:t>Simplified:</a:t>
            </a:r>
            <a:r>
              <a:rPr lang="en-IN" sz="2400" dirty="0">
                <a:solidFill>
                  <a:srgbClr val="990033"/>
                </a:solidFill>
              </a:rPr>
              <a:t> </a:t>
            </a:r>
            <a:r>
              <a:rPr lang="en-IN" sz="2400" dirty="0">
                <a:solidFill>
                  <a:srgbClr val="0000FF"/>
                </a:solidFill>
              </a:rPr>
              <a:t>One object changes → Many objects automatically receive updates</a:t>
            </a: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53259337-AB49-91F6-693C-C8433B4531BB}"/>
              </a:ext>
            </a:extLst>
          </p:cNvPr>
          <p:cNvGraphicFramePr>
            <a:graphicFrameLocks noGrp="1"/>
          </p:cNvGraphicFramePr>
          <p:nvPr/>
        </p:nvGraphicFramePr>
        <p:xfrm>
          <a:off x="6912078" y="1966451"/>
          <a:ext cx="5122606" cy="2464948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561303">
                  <a:extLst>
                    <a:ext uri="{9D8B030D-6E8A-4147-A177-3AD203B41FA5}">
                      <a16:colId xmlns:a16="http://schemas.microsoft.com/office/drawing/2014/main" val="15396199"/>
                    </a:ext>
                  </a:extLst>
                </a:gridCol>
                <a:gridCol w="2561303">
                  <a:extLst>
                    <a:ext uri="{9D8B030D-6E8A-4147-A177-3AD203B41FA5}">
                      <a16:colId xmlns:a16="http://schemas.microsoft.com/office/drawing/2014/main" val="674042533"/>
                    </a:ext>
                  </a:extLst>
                </a:gridCol>
              </a:tblGrid>
              <a:tr h="456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Participant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Responsibility</a:t>
                      </a:r>
                      <a:endParaRPr lang="en-IN" sz="1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050643"/>
                  </a:ext>
                </a:extLst>
              </a:tr>
              <a:tr h="456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Subject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Maintains subscriber list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3859553"/>
                  </a:ext>
                </a:extLst>
              </a:tr>
              <a:tr h="456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Observer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Receives updates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5001650"/>
                  </a:ext>
                </a:extLst>
              </a:tr>
              <a:tr h="456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ConcreteSubject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YouTube Channel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5007286"/>
                  </a:ext>
                </a:extLst>
              </a:tr>
              <a:tr h="456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ConcreteObserver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Subscriber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3439235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599249E8-3E85-1F67-1FA5-A8F4B73B42B5}"/>
              </a:ext>
            </a:extLst>
          </p:cNvPr>
          <p:cNvSpPr txBox="1"/>
          <p:nvPr/>
        </p:nvSpPr>
        <p:spPr>
          <a:xfrm>
            <a:off x="8323005" y="4558549"/>
            <a:ext cx="2723536" cy="4308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sz="2200" b="1" dirty="0">
                <a:solidFill>
                  <a:srgbClr val="0000FF"/>
                </a:solidFill>
              </a:rPr>
              <a:t>Participants</a:t>
            </a:r>
            <a:endParaRPr lang="en-IN" sz="22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325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95106-934C-2C7B-BCBB-199FDEDA5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111911-1599-E5B5-0F94-1CBF7161B6BA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The Observer Pattern- Variant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EA0298-5718-2F19-DC68-4B9B380A9833}"/>
              </a:ext>
            </a:extLst>
          </p:cNvPr>
          <p:cNvSpPr txBox="1"/>
          <p:nvPr/>
        </p:nvSpPr>
        <p:spPr>
          <a:xfrm>
            <a:off x="7934635" y="1012723"/>
            <a:ext cx="166165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990033"/>
                </a:solidFill>
              </a:rPr>
              <a:t>Variant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76C35C-1D9A-05A1-462F-791E9E1547F8}"/>
              </a:ext>
            </a:extLst>
          </p:cNvPr>
          <p:cNvSpPr txBox="1"/>
          <p:nvPr/>
        </p:nvSpPr>
        <p:spPr>
          <a:xfrm>
            <a:off x="6322139" y="1484273"/>
            <a:ext cx="551589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990033"/>
                </a:solidFill>
              </a:rPr>
              <a:t>This version is closest to the original </a:t>
            </a:r>
            <a:r>
              <a:rPr lang="en-IN" sz="2000" i="1" dirty="0">
                <a:solidFill>
                  <a:srgbClr val="990033"/>
                </a:solidFill>
              </a:rPr>
              <a:t>Design Patterns</a:t>
            </a:r>
            <a:r>
              <a:rPr lang="en-IN" sz="2000" dirty="0">
                <a:solidFill>
                  <a:srgbClr val="990033"/>
                </a:solidFill>
              </a:rPr>
              <a:t> book (Gamma et al., 1994).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990033"/>
                </a:solidFill>
              </a:rPr>
              <a:t>Both </a:t>
            </a:r>
            <a:r>
              <a:rPr lang="en-IN" sz="2000" b="1" dirty="0">
                <a:solidFill>
                  <a:srgbClr val="990033"/>
                </a:solidFill>
              </a:rPr>
              <a:t>Subject</a:t>
            </a:r>
            <a:r>
              <a:rPr lang="en-IN" sz="2000" dirty="0">
                <a:solidFill>
                  <a:srgbClr val="990033"/>
                </a:solidFill>
              </a:rPr>
              <a:t> and </a:t>
            </a:r>
            <a:r>
              <a:rPr lang="en-IN" sz="2000" b="1" dirty="0">
                <a:solidFill>
                  <a:srgbClr val="990033"/>
                </a:solidFill>
              </a:rPr>
              <a:t>Observer</a:t>
            </a:r>
            <a:r>
              <a:rPr lang="en-IN" sz="2000" dirty="0">
                <a:solidFill>
                  <a:srgbClr val="990033"/>
                </a:solidFill>
              </a:rPr>
              <a:t> are modelled as abstract classes.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990033"/>
                </a:solidFill>
              </a:rPr>
              <a:t>Concrete classes inherit shared behaviour, maximizing code reuse — common in early OO languages.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49BE55-9696-146E-6E65-F002E7C53589}"/>
              </a:ext>
            </a:extLst>
          </p:cNvPr>
          <p:cNvSpPr txBox="1"/>
          <p:nvPr/>
        </p:nvSpPr>
        <p:spPr>
          <a:xfrm>
            <a:off x="3047999" y="925533"/>
            <a:ext cx="2723536" cy="4308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0000FF"/>
                </a:solidFill>
              </a:rPr>
              <a:t>UML Structure</a:t>
            </a:r>
            <a:endParaRPr lang="en-IN" sz="2200" dirty="0">
              <a:solidFill>
                <a:srgbClr val="0000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EE6210-B492-327E-DCD0-57DBBDCD1C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130" y="776748"/>
            <a:ext cx="2210199" cy="5569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051B49-8CCE-3571-8DAB-52FC80991223}"/>
              </a:ext>
            </a:extLst>
          </p:cNvPr>
          <p:cNvSpPr txBox="1"/>
          <p:nvPr/>
        </p:nvSpPr>
        <p:spPr>
          <a:xfrm>
            <a:off x="3293806" y="4749431"/>
            <a:ext cx="4119716" cy="14773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✓ Advantages</a:t>
            </a:r>
          </a:p>
          <a:p>
            <a:pPr>
              <a:buNone/>
            </a:pPr>
            <a:r>
              <a:rPr lang="en-IN" dirty="0"/>
              <a:t>Maximum code reuse through inheritance; shared implementation of notification logic in the abstract Subject.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65AD56-4DE6-EE7A-D2DD-717571A90DA2}"/>
              </a:ext>
            </a:extLst>
          </p:cNvPr>
          <p:cNvSpPr txBox="1"/>
          <p:nvPr/>
        </p:nvSpPr>
        <p:spPr>
          <a:xfrm>
            <a:off x="7580671" y="4759263"/>
            <a:ext cx="4611329" cy="147732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✗ Disadvantages</a:t>
            </a:r>
          </a:p>
          <a:p>
            <a:pPr>
              <a:buNone/>
            </a:pPr>
            <a:r>
              <a:rPr lang="en-IN" dirty="0"/>
              <a:t>Java cannot extend another class simultaneously; less flexible for multiple inheritance scenarios.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8648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E6CD9-9B32-2CE2-8258-6923E5407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F8AC67-4975-FB58-09E9-6DAC17F557FE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The Observer Pattern- Variant 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E8E0CF-F5C6-2B1A-1E46-DB05A701AB10}"/>
              </a:ext>
            </a:extLst>
          </p:cNvPr>
          <p:cNvSpPr txBox="1"/>
          <p:nvPr/>
        </p:nvSpPr>
        <p:spPr>
          <a:xfrm>
            <a:off x="7954299" y="776749"/>
            <a:ext cx="166165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990033"/>
                </a:solidFill>
              </a:rPr>
              <a:t>Variant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B139F9-7132-8E9F-4456-8C8F5D211FB5}"/>
              </a:ext>
            </a:extLst>
          </p:cNvPr>
          <p:cNvSpPr txBox="1"/>
          <p:nvPr/>
        </p:nvSpPr>
        <p:spPr>
          <a:xfrm>
            <a:off x="6400797" y="1297460"/>
            <a:ext cx="551589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990033"/>
                </a:solidFill>
              </a:rPr>
              <a:t>Modern Java/C# developers typically model both </a:t>
            </a:r>
            <a:r>
              <a:rPr lang="en-IN" sz="2000" b="1" dirty="0">
                <a:solidFill>
                  <a:srgbClr val="990033"/>
                </a:solidFill>
              </a:rPr>
              <a:t>Subject</a:t>
            </a:r>
            <a:r>
              <a:rPr lang="en-IN" sz="2000" dirty="0">
                <a:solidFill>
                  <a:srgbClr val="990033"/>
                </a:solidFill>
              </a:rPr>
              <a:t> and </a:t>
            </a:r>
            <a:r>
              <a:rPr lang="en-IN" sz="2000" b="1" dirty="0">
                <a:solidFill>
                  <a:srgbClr val="990033"/>
                </a:solidFill>
              </a:rPr>
              <a:t>Observer</a:t>
            </a:r>
            <a:r>
              <a:rPr lang="en-IN" sz="2000" dirty="0">
                <a:solidFill>
                  <a:srgbClr val="990033"/>
                </a:solidFill>
              </a:rPr>
              <a:t> as interfaces.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990033"/>
                </a:solidFill>
              </a:rPr>
              <a:t>This maximizes flexibility and supports multiple inheritance of interfaces, making it ideal for dependency injection frameworks.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922BD3-C379-A5F2-EA80-AFAD4E906298}"/>
              </a:ext>
            </a:extLst>
          </p:cNvPr>
          <p:cNvSpPr txBox="1"/>
          <p:nvPr/>
        </p:nvSpPr>
        <p:spPr>
          <a:xfrm>
            <a:off x="1002889" y="5123907"/>
            <a:ext cx="2723536" cy="4308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0000FF"/>
                </a:solidFill>
              </a:rPr>
              <a:t>UML Structure</a:t>
            </a:r>
            <a:endParaRPr lang="en-IN" sz="2200" dirty="0">
              <a:solidFill>
                <a:srgbClr val="0000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FCA27AE-5EEA-15E7-9196-E717CBD102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36" y="806245"/>
            <a:ext cx="6182013" cy="569779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49A9994-3939-58B9-5DBD-11167A17B095}"/>
              </a:ext>
            </a:extLst>
          </p:cNvPr>
          <p:cNvSpPr txBox="1"/>
          <p:nvPr/>
        </p:nvSpPr>
        <p:spPr>
          <a:xfrm>
            <a:off x="7108723" y="3264760"/>
            <a:ext cx="4218039" cy="120032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✓ Advantages</a:t>
            </a:r>
          </a:p>
          <a:p>
            <a:pPr>
              <a:buNone/>
            </a:pPr>
            <a:r>
              <a:rPr lang="en-IN" dirty="0"/>
              <a:t>Loose coupling; supports multiple inheritance of interfaces; easy to test with mocks.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C94B7F-6A0D-E724-C456-AE60897F0C41}"/>
              </a:ext>
            </a:extLst>
          </p:cNvPr>
          <p:cNvSpPr txBox="1"/>
          <p:nvPr/>
        </p:nvSpPr>
        <p:spPr>
          <a:xfrm>
            <a:off x="7059564" y="4680605"/>
            <a:ext cx="4247534" cy="12003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✗ Disadvantages</a:t>
            </a:r>
          </a:p>
          <a:p>
            <a:pPr>
              <a:buNone/>
            </a:pPr>
            <a:r>
              <a:rPr lang="en-IN" dirty="0"/>
              <a:t>Every concrete subject must duplicate </a:t>
            </a:r>
            <a:r>
              <a:rPr lang="en-IN" dirty="0">
                <a:latin typeface="Courier New" panose="02070309020205020404" pitchFamily="49" charset="0"/>
              </a:rPr>
              <a:t>attach()</a:t>
            </a:r>
            <a:r>
              <a:rPr lang="en-IN" dirty="0"/>
              <a:t>, </a:t>
            </a:r>
            <a:r>
              <a:rPr lang="en-IN" dirty="0">
                <a:latin typeface="Courier New" panose="02070309020205020404" pitchFamily="49" charset="0"/>
              </a:rPr>
              <a:t>detach()</a:t>
            </a:r>
            <a:r>
              <a:rPr lang="en-IN" dirty="0"/>
              <a:t>, and </a:t>
            </a:r>
            <a:r>
              <a:rPr lang="en-IN" dirty="0">
                <a:latin typeface="Courier New" panose="02070309020205020404" pitchFamily="49" charset="0"/>
              </a:rPr>
              <a:t>notify()</a:t>
            </a:r>
            <a:r>
              <a:rPr lang="en-IN" dirty="0"/>
              <a:t> — no shared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3697338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4878F-98EC-4CD1-B966-30FF9D91D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70C051-90B1-84F1-C17D-1396952E792E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The Observer Pattern-Variant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9E11F3-CB75-B651-9A60-8E3B89F42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61" y="722170"/>
            <a:ext cx="6073666" cy="58069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CB35C4-838D-8F08-4536-FD65DF5E196F}"/>
              </a:ext>
            </a:extLst>
          </p:cNvPr>
          <p:cNvSpPr txBox="1"/>
          <p:nvPr/>
        </p:nvSpPr>
        <p:spPr>
          <a:xfrm>
            <a:off x="88489" y="2321711"/>
            <a:ext cx="2723536" cy="4308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0000FF"/>
                </a:solidFill>
              </a:rPr>
              <a:t>UML Structure</a:t>
            </a:r>
            <a:endParaRPr lang="en-IN" sz="2200" dirty="0">
              <a:solidFill>
                <a:srgbClr val="0000F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9C1802-BAB3-21BB-63BB-7FE5499F393A}"/>
              </a:ext>
            </a:extLst>
          </p:cNvPr>
          <p:cNvSpPr txBox="1"/>
          <p:nvPr/>
        </p:nvSpPr>
        <p:spPr>
          <a:xfrm>
            <a:off x="4650659" y="3569110"/>
            <a:ext cx="166165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990033"/>
                </a:solidFill>
              </a:rPr>
              <a:t>Variant 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D0B40F-9E8B-1B03-6301-B06F341C45B2}"/>
              </a:ext>
            </a:extLst>
          </p:cNvPr>
          <p:cNvSpPr txBox="1"/>
          <p:nvPr/>
        </p:nvSpPr>
        <p:spPr>
          <a:xfrm>
            <a:off x="5201264" y="5164814"/>
            <a:ext cx="7236543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dirty="0">
                <a:solidFill>
                  <a:srgbClr val="990033"/>
                </a:solidFill>
              </a:rPr>
              <a:t>This is the version most frequently used in real-world software.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b="1" dirty="0">
                <a:solidFill>
                  <a:srgbClr val="990033"/>
                </a:solidFill>
              </a:rPr>
              <a:t>Subject</a:t>
            </a:r>
            <a:r>
              <a:rPr lang="en-IN" sz="1900" dirty="0">
                <a:solidFill>
                  <a:srgbClr val="990033"/>
                </a:solidFill>
              </a:rPr>
              <a:t> is an abstract class (storing the observer list and implementing notification logic), while </a:t>
            </a:r>
            <a:r>
              <a:rPr lang="en-IN" sz="1900" b="1" dirty="0">
                <a:solidFill>
                  <a:srgbClr val="990033"/>
                </a:solidFill>
              </a:rPr>
              <a:t>Observer</a:t>
            </a:r>
            <a:r>
              <a:rPr lang="en-IN" sz="1900" dirty="0">
                <a:solidFill>
                  <a:srgbClr val="990033"/>
                </a:solidFill>
              </a:rPr>
              <a:t> is an interface — balancing code reuse and flexibility. Found in </a:t>
            </a:r>
            <a:r>
              <a:rPr lang="en-IN" sz="1900" b="1" dirty="0">
                <a:solidFill>
                  <a:srgbClr val="990033"/>
                </a:solidFill>
              </a:rPr>
              <a:t>Spring Framework, Java Swing, Android, and JavaFX</a:t>
            </a:r>
            <a:r>
              <a:rPr lang="en-IN" sz="1900" dirty="0">
                <a:solidFill>
                  <a:srgbClr val="990033"/>
                </a:solidFill>
              </a:rPr>
              <a:t>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FB7E1D8-F8BB-AA35-2449-28C4379EA3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758" y="560500"/>
            <a:ext cx="5028622" cy="473417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F37A3C3-FBB9-4A3E-F255-40E050C1C578}"/>
              </a:ext>
            </a:extLst>
          </p:cNvPr>
          <p:cNvSpPr txBox="1"/>
          <p:nvPr/>
        </p:nvSpPr>
        <p:spPr>
          <a:xfrm>
            <a:off x="5874774" y="1014870"/>
            <a:ext cx="20991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dirty="0">
                <a:solidFill>
                  <a:srgbClr val="0000FF"/>
                </a:solidFill>
              </a:rPr>
              <a:t>Most Common in Practice</a:t>
            </a:r>
          </a:p>
        </p:txBody>
      </p:sp>
    </p:spTree>
    <p:extLst>
      <p:ext uri="{BB962C8B-B14F-4D97-AF65-F5344CB8AC3E}">
        <p14:creationId xmlns:p14="http://schemas.microsoft.com/office/powerpoint/2010/main" val="1883146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90A9E-837C-ECFF-AC7F-B5073DD91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535AD2-0336-E6EE-8033-A33AAC50286F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The Observer Pattern- Most Common in Practice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A3F75E-BD6C-67B2-70C2-6BD0B748A1DC}"/>
              </a:ext>
            </a:extLst>
          </p:cNvPr>
          <p:cNvSpPr txBox="1"/>
          <p:nvPr/>
        </p:nvSpPr>
        <p:spPr>
          <a:xfrm>
            <a:off x="127817" y="1967750"/>
            <a:ext cx="2163098" cy="4308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0000FF"/>
                </a:solidFill>
              </a:rPr>
              <a:t>UML Structure</a:t>
            </a:r>
            <a:endParaRPr lang="en-IN" sz="2200" dirty="0">
              <a:solidFill>
                <a:srgbClr val="0000F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25B300-FEF0-290E-7504-3638C3FA4F6B}"/>
              </a:ext>
            </a:extLst>
          </p:cNvPr>
          <p:cNvSpPr txBox="1"/>
          <p:nvPr/>
        </p:nvSpPr>
        <p:spPr>
          <a:xfrm>
            <a:off x="7138220" y="816078"/>
            <a:ext cx="166165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990033"/>
                </a:solidFill>
              </a:rPr>
              <a:t>Variant 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C2A3A9-9D82-4AB2-CC6B-70586D678A2C}"/>
              </a:ext>
            </a:extLst>
          </p:cNvPr>
          <p:cNvSpPr txBox="1"/>
          <p:nvPr/>
        </p:nvSpPr>
        <p:spPr>
          <a:xfrm>
            <a:off x="5152102" y="1212246"/>
            <a:ext cx="7236543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dirty="0">
                <a:solidFill>
                  <a:srgbClr val="990033"/>
                </a:solidFill>
              </a:rPr>
              <a:t>This is the version most frequently used in real-world software.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b="1" dirty="0">
                <a:solidFill>
                  <a:srgbClr val="990033"/>
                </a:solidFill>
              </a:rPr>
              <a:t>Subject</a:t>
            </a:r>
            <a:r>
              <a:rPr lang="en-IN" sz="1900" dirty="0">
                <a:solidFill>
                  <a:srgbClr val="990033"/>
                </a:solidFill>
              </a:rPr>
              <a:t> is an abstract class (storing the observer list and implementing notification logic), while </a:t>
            </a:r>
            <a:r>
              <a:rPr lang="en-IN" sz="1900" b="1" dirty="0">
                <a:solidFill>
                  <a:srgbClr val="990033"/>
                </a:solidFill>
              </a:rPr>
              <a:t>Observer</a:t>
            </a:r>
            <a:r>
              <a:rPr lang="en-IN" sz="1900" dirty="0">
                <a:solidFill>
                  <a:srgbClr val="990033"/>
                </a:solidFill>
              </a:rPr>
              <a:t> is an interface — balancing code reuse and flexibility.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D7C7757-72A9-3FE4-9B79-D4C1C977BA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1213"/>
            <a:ext cx="5754533" cy="54175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F3F1AA-0669-F008-8CDD-7855975D0AF8}"/>
              </a:ext>
            </a:extLst>
          </p:cNvPr>
          <p:cNvSpPr txBox="1"/>
          <p:nvPr/>
        </p:nvSpPr>
        <p:spPr>
          <a:xfrm>
            <a:off x="6027174" y="4052190"/>
            <a:ext cx="5712541" cy="6463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✓ Maximum Code Reuse</a:t>
            </a:r>
          </a:p>
          <a:p>
            <a:pPr>
              <a:buNone/>
            </a:pPr>
            <a:r>
              <a:rPr lang="en-IN" dirty="0"/>
              <a:t>Notification logic stays in abstract Subject.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2073CD-28FA-B696-0DE0-CBCC2318D7A0}"/>
              </a:ext>
            </a:extLst>
          </p:cNvPr>
          <p:cNvSpPr txBox="1"/>
          <p:nvPr/>
        </p:nvSpPr>
        <p:spPr>
          <a:xfrm>
            <a:off x="5919019" y="3127957"/>
            <a:ext cx="5840362" cy="6463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✓ Loose Coupling</a:t>
            </a:r>
          </a:p>
          <a:p>
            <a:pPr>
              <a:buNone/>
            </a:pPr>
            <a:r>
              <a:rPr lang="en-IN" dirty="0"/>
              <a:t>Observer interface allows independent implementations.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745CAE-614F-8B84-2E47-361713243971}"/>
              </a:ext>
            </a:extLst>
          </p:cNvPr>
          <p:cNvSpPr txBox="1"/>
          <p:nvPr/>
        </p:nvSpPr>
        <p:spPr>
          <a:xfrm>
            <a:off x="6046838" y="5241893"/>
            <a:ext cx="5692878" cy="6463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✓ Enterprise Ready</a:t>
            </a:r>
          </a:p>
          <a:p>
            <a:pPr>
              <a:buNone/>
            </a:pPr>
            <a:r>
              <a:rPr lang="en-IN" dirty="0"/>
              <a:t>Used in Spring, Android, JavaFX, Java Swing.</a:t>
            </a:r>
          </a:p>
        </p:txBody>
      </p:sp>
    </p:spTree>
    <p:extLst>
      <p:ext uri="{BB962C8B-B14F-4D97-AF65-F5344CB8AC3E}">
        <p14:creationId xmlns:p14="http://schemas.microsoft.com/office/powerpoint/2010/main" val="632301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677430-48E7-8CC6-BAEC-34BD8F96DEEA}"/>
              </a:ext>
            </a:extLst>
          </p:cNvPr>
          <p:cNvGraphicFramePr>
            <a:graphicFrameLocks noGrp="1"/>
          </p:cNvGraphicFramePr>
          <p:nvPr/>
        </p:nvGraphicFramePr>
        <p:xfrm>
          <a:off x="887360" y="2935477"/>
          <a:ext cx="10515600" cy="329184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37007032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9440614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826977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721993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Feature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Variant 1 (GoF)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Variant 2 (Interfaces)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Variant 3 (Hybrid) ✓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9881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Subject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Abstract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Abstract Class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0220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Observer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Abstract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Interface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8221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Code Reuse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5657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Loose Coupling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5562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Multiple Inheritance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3767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Enterprise Usage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409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GoF Similarity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★★★★★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★★★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★★★★★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3836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Recommended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Sometimes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✓ 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673884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39FE0BA-EBD6-3C79-571B-CAEF1F84545E}"/>
              </a:ext>
            </a:extLst>
          </p:cNvPr>
          <p:cNvSpPr txBox="1"/>
          <p:nvPr/>
        </p:nvSpPr>
        <p:spPr>
          <a:xfrm>
            <a:off x="678427" y="0"/>
            <a:ext cx="10913805" cy="1200329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The Observer Pattern- Comparative Analysis of Three Variant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5E1109-DC4A-C00F-795A-04A1230C83D0}"/>
              </a:ext>
            </a:extLst>
          </p:cNvPr>
          <p:cNvSpPr txBox="1"/>
          <p:nvPr/>
        </p:nvSpPr>
        <p:spPr>
          <a:xfrm>
            <a:off x="757085" y="1317125"/>
            <a:ext cx="1037303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000FF"/>
                </a:solidFill>
              </a:rPr>
              <a:t>Each variant has distinct trade-offs in code reuse, flexibility, and real-world applicability.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000FF"/>
                </a:solidFill>
              </a:rPr>
              <a:t>The Hybrid approach (Variant 3) is the recommended choice for modern Java/C# enterprise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666001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6CFF8-B0F1-D2A6-BB7D-0FF874C2E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7369C-6B7C-EA6B-F05A-476EF1847DC6}"/>
              </a:ext>
            </a:extLst>
          </p:cNvPr>
          <p:cNvSpPr txBox="1"/>
          <p:nvPr/>
        </p:nvSpPr>
        <p:spPr>
          <a:xfrm>
            <a:off x="678427" y="0"/>
            <a:ext cx="10913805" cy="1200329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Mapping Observer Generic Pattern to YouTube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128EA9-8E30-5F2F-1690-FF37044A500E}"/>
              </a:ext>
            </a:extLst>
          </p:cNvPr>
          <p:cNvSpPr txBox="1"/>
          <p:nvPr/>
        </p:nvSpPr>
        <p:spPr>
          <a:xfrm>
            <a:off x="757085" y="1317125"/>
            <a:ext cx="111792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00FF"/>
                </a:solidFill>
              </a:rPr>
              <a:t>The generic Observer participants map directly to a YouTube channel– subscriber system.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42262CE-0CF8-C1D5-ED9B-017B1EAE9365}"/>
              </a:ext>
            </a:extLst>
          </p:cNvPr>
          <p:cNvGraphicFramePr>
            <a:graphicFrameLocks noGrp="1"/>
          </p:cNvGraphicFramePr>
          <p:nvPr/>
        </p:nvGraphicFramePr>
        <p:xfrm>
          <a:off x="3689554" y="2408469"/>
          <a:ext cx="4707194" cy="36576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051495">
                  <a:extLst>
                    <a:ext uri="{9D8B030D-6E8A-4147-A177-3AD203B41FA5}">
                      <a16:colId xmlns:a16="http://schemas.microsoft.com/office/drawing/2014/main" val="3236027189"/>
                    </a:ext>
                  </a:extLst>
                </a:gridCol>
                <a:gridCol w="2655699">
                  <a:extLst>
                    <a:ext uri="{9D8B030D-6E8A-4147-A177-3AD203B41FA5}">
                      <a16:colId xmlns:a16="http://schemas.microsoft.com/office/drawing/2014/main" val="39605015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Generic Pattern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YouTube Example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033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YouTubeChannel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131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ConcreteSubject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TechChannel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8919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Observer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Subscriber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2939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ConcreteObserver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UserSubscriber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7240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attach()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subscribe()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3130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detach()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unsubscribe()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5306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notify()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notifySubscribers()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3880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update()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receiveNotification()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3427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subjectState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uploadedVideo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3969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1718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DF058-79B2-39DF-B380-CC713ABC6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5FE692-66A7-2157-1DBB-DB341B1D2A52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Observer Pattern - Collaborations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747CA0-52C2-4F56-22A3-797010637AD0}"/>
              </a:ext>
            </a:extLst>
          </p:cNvPr>
          <p:cNvSpPr txBox="1"/>
          <p:nvPr/>
        </p:nvSpPr>
        <p:spPr>
          <a:xfrm>
            <a:off x="619433" y="668196"/>
            <a:ext cx="111792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00FF"/>
                </a:solidFill>
              </a:rPr>
              <a:t>The sequence of interactions when a new video is uploaded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986E42-9232-6937-4678-9B5548FBE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3478" y="4069582"/>
            <a:ext cx="4805607" cy="27080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1A0882-FB7D-DD0F-ABF0-9092CEB31E60}"/>
              </a:ext>
            </a:extLst>
          </p:cNvPr>
          <p:cNvSpPr txBox="1"/>
          <p:nvPr/>
        </p:nvSpPr>
        <p:spPr>
          <a:xfrm>
            <a:off x="7993625" y="1110647"/>
            <a:ext cx="3972233" cy="2862322"/>
          </a:xfrm>
          <a:prstGeom prst="rec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dirty="0"/>
              <a:t>Subscriber subscribes </a:t>
            </a:r>
          </a:p>
          <a:p>
            <a:endParaRPr lang="en-IN" dirty="0"/>
          </a:p>
          <a:p>
            <a:r>
              <a:rPr lang="en-IN" dirty="0"/>
              <a:t>2. Subject stores observer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3. New video uploaded </a:t>
            </a:r>
          </a:p>
          <a:p>
            <a:endParaRPr lang="en-IN" dirty="0"/>
          </a:p>
          <a:p>
            <a:r>
              <a:rPr lang="en-IN" dirty="0"/>
              <a:t> 4. Subject calls </a:t>
            </a:r>
            <a:r>
              <a:rPr lang="en-IN" dirty="0">
                <a:latin typeface="Courier New" panose="02070309020205020404" pitchFamily="49" charset="0"/>
              </a:rPr>
              <a:t>notify()</a:t>
            </a:r>
            <a:r>
              <a:rPr lang="en-IN" dirty="0"/>
              <a:t> </a:t>
            </a:r>
          </a:p>
          <a:p>
            <a:endParaRPr lang="en-IN" dirty="0"/>
          </a:p>
          <a:p>
            <a:r>
              <a:rPr lang="en-IN" dirty="0"/>
              <a:t> 5. Every observer executes update().</a:t>
            </a:r>
          </a:p>
          <a:p>
            <a:pPr>
              <a:buNone/>
            </a:pPr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FADCCC-2FA3-CC4E-A750-0994BCA81C67}"/>
              </a:ext>
            </a:extLst>
          </p:cNvPr>
          <p:cNvCxnSpPr/>
          <p:nvPr/>
        </p:nvCxnSpPr>
        <p:spPr>
          <a:xfrm>
            <a:off x="9527458" y="1415845"/>
            <a:ext cx="0" cy="3048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B211AE-34F5-8140-E369-9E699AAE58D3}"/>
              </a:ext>
            </a:extLst>
          </p:cNvPr>
          <p:cNvCxnSpPr/>
          <p:nvPr/>
        </p:nvCxnSpPr>
        <p:spPr>
          <a:xfrm>
            <a:off x="9591367" y="1961535"/>
            <a:ext cx="0" cy="3048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A072B05-5487-3472-A582-50CA7FCFDCCB}"/>
              </a:ext>
            </a:extLst>
          </p:cNvPr>
          <p:cNvCxnSpPr/>
          <p:nvPr/>
        </p:nvCxnSpPr>
        <p:spPr>
          <a:xfrm>
            <a:off x="9630696" y="2561303"/>
            <a:ext cx="0" cy="3048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713F318-0CCE-EAD5-DE1F-D98590B321E2}"/>
              </a:ext>
            </a:extLst>
          </p:cNvPr>
          <p:cNvCxnSpPr/>
          <p:nvPr/>
        </p:nvCxnSpPr>
        <p:spPr>
          <a:xfrm>
            <a:off x="9670024" y="3062748"/>
            <a:ext cx="0" cy="3048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5B7263A-379C-1749-0042-5821213A83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60" y="1125415"/>
            <a:ext cx="7106697" cy="473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7790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E18E89-E3FF-D08F-19DA-E630FE6F45E1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Observer Pattern – Java Implementation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DA58F19-E324-F516-B236-11467A5F25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918" y="710362"/>
            <a:ext cx="9357109" cy="623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622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6CD2D-CD66-EAC2-8A00-EDFFEC803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ABA6B9-E5AB-3055-AE86-F996C0C6B2B1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Observer Pattern – Consequences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EFCEA2-0D59-1E7A-5FA3-918D73675C49}"/>
              </a:ext>
            </a:extLst>
          </p:cNvPr>
          <p:cNvSpPr txBox="1"/>
          <p:nvPr/>
        </p:nvSpPr>
        <p:spPr>
          <a:xfrm>
            <a:off x="244970" y="1179296"/>
            <a:ext cx="4946462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/>
              <a:t>✅ Advantages</a:t>
            </a:r>
          </a:p>
          <a:p>
            <a:pPr>
              <a:buNone/>
            </a:pPr>
            <a:r>
              <a:rPr lang="en-IN"/>
              <a:t>Loose coupling · Easy to add observers · Dynamic relationships · Reusable · Event-driven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9D196B-4EC4-2428-A78F-764435B12A6B}"/>
              </a:ext>
            </a:extLst>
          </p:cNvPr>
          <p:cNvSpPr txBox="1"/>
          <p:nvPr/>
        </p:nvSpPr>
        <p:spPr>
          <a:xfrm>
            <a:off x="5466736" y="1140992"/>
            <a:ext cx="5879690" cy="923330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⚠️ Disadvantages</a:t>
            </a:r>
          </a:p>
          <a:p>
            <a:pPr>
              <a:buNone/>
            </a:pPr>
            <a:r>
              <a:rPr lang="en-IN" dirty="0"/>
              <a:t>Notification overhead · Difficult debugging · Unexpected update chains · Performance issues with many observers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230453-DD01-A36B-D9BC-50DC85AB4B55}"/>
              </a:ext>
            </a:extLst>
          </p:cNvPr>
          <p:cNvSpPr txBox="1"/>
          <p:nvPr/>
        </p:nvSpPr>
        <p:spPr>
          <a:xfrm>
            <a:off x="265470" y="2597862"/>
            <a:ext cx="3382297" cy="430887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/>
              <a:t>🌐 Industry Examples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9D918FE-2ED3-73F6-20F3-92600C402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48" y="3435583"/>
            <a:ext cx="12024852" cy="293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173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F12A36B-4FD3-927C-5174-4618AD476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420946"/>
              </p:ext>
            </p:extLst>
          </p:nvPr>
        </p:nvGraphicFramePr>
        <p:xfrm>
          <a:off x="3059208" y="924232"/>
          <a:ext cx="4617565" cy="2762865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319530">
                  <a:extLst>
                    <a:ext uri="{9D8B030D-6E8A-4147-A177-3AD203B41FA5}">
                      <a16:colId xmlns:a16="http://schemas.microsoft.com/office/drawing/2014/main" val="3488455027"/>
                    </a:ext>
                  </a:extLst>
                </a:gridCol>
                <a:gridCol w="3298035">
                  <a:extLst>
                    <a:ext uri="{9D8B030D-6E8A-4147-A177-3AD203B41FA5}">
                      <a16:colId xmlns:a16="http://schemas.microsoft.com/office/drawing/2014/main" val="1748371450"/>
                    </a:ext>
                  </a:extLst>
                </a:gridCol>
              </a:tblGrid>
              <a:tr h="726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Observer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Automatic notification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588273"/>
                  </a:ext>
                </a:extLst>
              </a:tr>
              <a:tr h="67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Mediator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Centralized communication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4845629"/>
                  </a:ext>
                </a:extLst>
              </a:tr>
              <a:tr h="67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Command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Encapsulates requests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3468537"/>
                  </a:ext>
                </a:extLst>
              </a:tr>
              <a:tr h="67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State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Changes behaviour by state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42625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41BF50E-B274-FDE0-4879-C84CF265C783}"/>
              </a:ext>
            </a:extLst>
          </p:cNvPr>
          <p:cNvSpPr txBox="1"/>
          <p:nvPr/>
        </p:nvSpPr>
        <p:spPr>
          <a:xfrm>
            <a:off x="678427" y="0"/>
            <a:ext cx="10913805" cy="64633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</a:rPr>
              <a:t>Observer Pattern – Related Pattern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020D71-1D9A-A58F-4429-F6E9A9E0C5B4}"/>
              </a:ext>
            </a:extLst>
          </p:cNvPr>
          <p:cNvSpPr txBox="1"/>
          <p:nvPr/>
        </p:nvSpPr>
        <p:spPr>
          <a:xfrm>
            <a:off x="1258528" y="4895218"/>
            <a:ext cx="9950246" cy="11079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dirty="0"/>
              <a:t>🌱</a:t>
            </a:r>
            <a:r>
              <a:rPr lang="en-IN" sz="2200" b="1" dirty="0"/>
              <a:t> Coding Exercise :</a:t>
            </a:r>
            <a:r>
              <a:rPr lang="en-IN" sz="2200" dirty="0"/>
              <a:t> Build a </a:t>
            </a:r>
            <a:r>
              <a:rPr lang="en-IN" sz="2200" b="1" dirty="0"/>
              <a:t>Weather Station</a:t>
            </a:r>
            <a:r>
              <a:rPr lang="en-IN" sz="2200" dirty="0"/>
              <a:t> — Observer interface, three observers (Mobile App, LED Display, Email Alert), and a WeatherStation Subject. When temperature changes, all observers receive the updated value (e.g., 35°C).</a:t>
            </a:r>
          </a:p>
        </p:txBody>
      </p:sp>
    </p:spTree>
    <p:extLst>
      <p:ext uri="{BB962C8B-B14F-4D97-AF65-F5344CB8AC3E}">
        <p14:creationId xmlns:p14="http://schemas.microsoft.com/office/powerpoint/2010/main" val="2355349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1364</Words>
  <Application>Microsoft Office PowerPoint</Application>
  <PresentationFormat>Widescreen</PresentationFormat>
  <Paragraphs>286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Courier New</vt:lpstr>
      <vt:lpstr>Sylfaen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Aswathy Mohan</dc:creator>
  <cp:lastModifiedBy>Aswathy Mohan</cp:lastModifiedBy>
  <cp:revision>1</cp:revision>
  <dcterms:created xsi:type="dcterms:W3CDTF">2026-07-27T03:49:24Z</dcterms:created>
  <dcterms:modified xsi:type="dcterms:W3CDTF">2026-07-31T03:21:53Z</dcterms:modified>
</cp:coreProperties>
</file>