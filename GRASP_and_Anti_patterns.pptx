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31"/>
    <p:restoredTop sz="94500"/>
  </p:normalViewPr>
  <p:slideViewPr>
    <p:cSldViewPr snapToGrid="0">
      <p:cViewPr varScale="1">
        <p:scale>
          <a:sx n="115" d="100"/>
          <a:sy n="115" d="100"/>
        </p:scale>
        <p:origin x="3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GRASP names principles for assigning object responsibilities. Anti-patterns describe recurring harmful solutions and how to improve them.</a:t>
            </a:r>
          </a:p>
          <a:p>
            <a:endParaRPr dirty="0"/>
          </a:p>
          <a:p>
            <a:r>
              <a:rPr dirty="0"/>
              <a:t>Sources: https://</a:t>
            </a:r>
            <a:r>
              <a:rPr dirty="0" err="1"/>
              <a:t>www.informit.com</a:t>
            </a:r>
            <a:r>
              <a:rPr dirty="0"/>
              <a:t>/store/applying-uml-and-patterns-an-introduction-to-object-9780131489066</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Begin with the two kinds of responsibility: knowing and doing. A class is a definition of a type of object. An object is a particular instance, such as one customer’s current Order. Responsibilities describe what those objects must know and do.</a:t>
            </a:r>
          </a:p>
          <a:p>
            <a:r>
              <a:rPr dirty="0"/>
              <a:t>Knowing responsibilities include stored information and related objects. Doing responsibilities include calculations, object creation, and coordination. GRASP and </a:t>
            </a:r>
            <a:r>
              <a:rPr dirty="0" err="1"/>
              <a:t>GoF</a:t>
            </a:r>
            <a:r>
              <a:rPr dirty="0"/>
              <a:t> patterns can work together.</a:t>
            </a:r>
          </a:p>
          <a:p>
            <a:endParaRPr dirty="0"/>
          </a:p>
          <a:p>
            <a:r>
              <a:rPr dirty="0"/>
              <a:t>Sources: https://</a:t>
            </a:r>
            <a:r>
              <a:rPr dirty="0" err="1"/>
              <a:t>www.informit.com</a:t>
            </a:r>
            <a:r>
              <a:rPr dirty="0"/>
              <a:t>/store/applying-uml-and-patterns-an-introduction-to-object-9780131489066</a:t>
            </a:r>
          </a:p>
          <a:p>
            <a:r>
              <a:rPr dirty="0"/>
              <a:t>https://</a:t>
            </a:r>
            <a:r>
              <a:rPr dirty="0" err="1"/>
              <a:t>sites.cs.ucsb.edu</a:t>
            </a:r>
            <a:r>
              <a:rPr dirty="0"/>
              <a:t>/~</a:t>
            </a:r>
            <a:r>
              <a:rPr dirty="0" err="1"/>
              <a:t>cappello</a:t>
            </a:r>
            <a:r>
              <a:rPr dirty="0"/>
              <a:t>/50-2005-Winter/lectures/22Grasp.pdf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Craig Larman describes GRASP as guidelines for reasoning about object design. </a:t>
            </a:r>
            <a:r>
              <a:rPr dirty="0" err="1"/>
              <a:t>GoF</a:t>
            </a:r>
            <a:r>
              <a:rPr dirty="0"/>
              <a:t> patterns describe reusable arrangements of collaborating objects. GRASP and </a:t>
            </a:r>
            <a:r>
              <a:rPr dirty="0" err="1"/>
              <a:t>GoF</a:t>
            </a:r>
            <a:r>
              <a:rPr dirty="0"/>
              <a:t> patterns can complement each other.</a:t>
            </a:r>
          </a:p>
          <a:p>
            <a:r>
              <a:rPr dirty="0"/>
              <a:t>Knowing responsibilities include stored information and related objects. Doing responsibilities include calculations, object creation, and coordination. GRASP and </a:t>
            </a:r>
            <a:r>
              <a:rPr dirty="0" err="1"/>
              <a:t>GoF</a:t>
            </a:r>
            <a:r>
              <a:rPr dirty="0"/>
              <a:t> patterns can work together.</a:t>
            </a:r>
          </a:p>
          <a:p>
            <a:endParaRPr dirty="0"/>
          </a:p>
          <a:p>
            <a:r>
              <a:rPr dirty="0"/>
              <a:t>Sources: https://</a:t>
            </a:r>
            <a:r>
              <a:rPr dirty="0" err="1"/>
              <a:t>www.informit.com</a:t>
            </a:r>
            <a:r>
              <a:rPr dirty="0"/>
              <a:t>/store/applying-uml-and-patterns-an-introduction-to-object-9780131489066</a:t>
            </a:r>
          </a:p>
          <a:p>
            <a:r>
              <a:rPr dirty="0"/>
              <a:t>https://</a:t>
            </a:r>
            <a:r>
              <a:rPr dirty="0" err="1"/>
              <a:t>sites.cs.ucsb.edu</a:t>
            </a:r>
            <a:r>
              <a:rPr dirty="0"/>
              <a:t>/~</a:t>
            </a:r>
            <a:r>
              <a:rPr dirty="0" err="1"/>
              <a:t>cappello</a:t>
            </a:r>
            <a:r>
              <a:rPr dirty="0"/>
              <a:t>/50-2005-Winter/lectures/22Grasp.pdf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categories here organize the lesson. They are not an official taxonomy. Evaluate candidate assignments against cohesion and coupling rather than applying a rule mechanically.</a:t>
            </a:r>
          </a:p>
          <a:p>
            <a:endParaRPr dirty="0"/>
          </a:p>
          <a:p>
            <a:r>
              <a:rPr dirty="0"/>
              <a:t>Sources: https://</a:t>
            </a:r>
            <a:r>
              <a:rPr dirty="0" err="1"/>
              <a:t>sites.cs.ucsb.edu</a:t>
            </a:r>
            <a:r>
              <a:rPr dirty="0"/>
              <a:t>/~</a:t>
            </a:r>
            <a:r>
              <a:rPr dirty="0" err="1"/>
              <a:t>cappello</a:t>
            </a:r>
            <a:r>
              <a:rPr dirty="0"/>
              <a:t>/50-2005-Winter/lectures/22Grasp.pdf</a:t>
            </a:r>
          </a:p>
          <a:p>
            <a:r>
              <a:rPr dirty="0"/>
              <a:t>https://</a:t>
            </a:r>
            <a:r>
              <a:rPr dirty="0" err="1"/>
              <a:t>www.rose-hulman.edu</a:t>
            </a:r>
            <a:r>
              <a:rPr dirty="0"/>
              <a:t>/class/cs/csse374-201020-02/</a:t>
            </a:r>
            <a:r>
              <a:rPr dirty="0" err="1"/>
              <a:t>SlidePDFs</a:t>
            </a:r>
            <a:r>
              <a:rPr dirty="0"/>
              <a:t>/session23.pdf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Prices are illustrative. Java uses integer amounts for this small example. A production system should use a deliberate money representation and include tax, currency, and rounding rules. The diagram shows collaboration, not UML inheritance.</a:t>
            </a:r>
          </a:p>
          <a:p>
            <a:endParaRPr dirty="0"/>
          </a:p>
          <a:p>
            <a:r>
              <a:rPr dirty="0"/>
              <a:t>Sources: https://</a:t>
            </a:r>
            <a:r>
              <a:rPr dirty="0" err="1"/>
              <a:t>sites.cs.ucsb.edu</a:t>
            </a:r>
            <a:r>
              <a:rPr dirty="0"/>
              <a:t>/~</a:t>
            </a:r>
            <a:r>
              <a:rPr dirty="0" err="1"/>
              <a:t>cappello</a:t>
            </a:r>
            <a:r>
              <a:rPr dirty="0"/>
              <a:t>/50-2005-Winter/lectures/22Grasp.pdf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Order.total</a:t>
            </a:r>
            <a:r>
              <a:rPr dirty="0"/>
              <a:t>() adds the subtotals supplied by </a:t>
            </a:r>
            <a:r>
              <a:rPr dirty="0" err="1"/>
              <a:t>OrderItem.subtotal</a:t>
            </a:r>
            <a:r>
              <a:rPr dirty="0"/>
              <a:t>(). This preserves information ownership. Expert can conflict with cohesion if we put persistence or UI work into a domain object.</a:t>
            </a:r>
          </a:p>
          <a:p>
            <a:endParaRPr dirty="0"/>
          </a:p>
          <a:p>
            <a:r>
              <a:rPr dirty="0"/>
              <a:t>Sources: https://</a:t>
            </a:r>
            <a:r>
              <a:rPr dirty="0" err="1"/>
              <a:t>www.cs.cmu.edu</a:t>
            </a:r>
            <a:r>
              <a:rPr dirty="0"/>
              <a:t>/~</a:t>
            </a:r>
            <a:r>
              <a:rPr dirty="0" err="1"/>
              <a:t>aldrich</a:t>
            </a:r>
            <a:r>
              <a:rPr dirty="0"/>
              <a:t>/courses/15-214-13fa/slides/design-</a:t>
            </a:r>
            <a:r>
              <a:rPr dirty="0" err="1"/>
              <a:t>grasp.pdf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Creator is a guideline. A factory may be preferable when construction is complex or requires selecting a concrete class.</a:t>
            </a:r>
          </a:p>
          <a:p>
            <a:endParaRPr dirty="0"/>
          </a:p>
          <a:p>
            <a:r>
              <a:rPr dirty="0"/>
              <a:t>Sources: https://</a:t>
            </a:r>
            <a:r>
              <a:rPr dirty="0" err="1"/>
              <a:t>sites.cs.ucsb.edu</a:t>
            </a:r>
            <a:r>
              <a:rPr dirty="0"/>
              <a:t>/~</a:t>
            </a:r>
            <a:r>
              <a:rPr dirty="0" err="1"/>
              <a:t>cappello</a:t>
            </a:r>
            <a:r>
              <a:rPr dirty="0"/>
              <a:t>/50-2005-Winter/lectures/22Grasp.pdf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diagram shows checkout as a system event. Clicking Pay causes the UI to ask </a:t>
            </a:r>
            <a:r>
              <a:rPr dirty="0" err="1"/>
              <a:t>OrderController</a:t>
            </a:r>
            <a:r>
              <a:rPr dirty="0"/>
              <a:t> to coordinate checkout. Order calculates the total. The controller then delegates payment to a </a:t>
            </a:r>
            <a:r>
              <a:rPr dirty="0" err="1"/>
              <a:t>PaymentMethod</a:t>
            </a:r>
            <a:r>
              <a:rPr dirty="0"/>
              <a:t> implementation. A controller becomes hard to maintain if it performs every job itself.</a:t>
            </a:r>
          </a:p>
          <a:p>
            <a:r>
              <a:rPr dirty="0"/>
              <a:t>GRASP reference: https://</a:t>
            </a:r>
            <a:r>
              <a:rPr dirty="0" err="1"/>
              <a:t>sites.cs.ucsb.edu</a:t>
            </a:r>
            <a:r>
              <a:rPr dirty="0"/>
              <a:t>/~</a:t>
            </a:r>
            <a:r>
              <a:rPr dirty="0" err="1"/>
              <a:t>cappello</a:t>
            </a:r>
            <a:r>
              <a:rPr dirty="0"/>
              <a:t>/50-2005-Winter/lectures/22Grasp.pdf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Coupling includes knowledge of concrete types, data formats, and external resources. Interfaces reduce dependence on implementation details but do not eliminate dependence on a contract.</a:t>
            </a:r>
          </a:p>
          <a:p>
            <a:endParaRPr dirty="0"/>
          </a:p>
          <a:p>
            <a:r>
              <a:rPr dirty="0"/>
              <a:t>Sources: https://</a:t>
            </a:r>
            <a:r>
              <a:rPr dirty="0" err="1"/>
              <a:t>www.cs.cmu.edu</a:t>
            </a:r>
            <a:r>
              <a:rPr dirty="0"/>
              <a:t>/~</a:t>
            </a:r>
            <a:r>
              <a:rPr dirty="0" err="1"/>
              <a:t>aldrich</a:t>
            </a:r>
            <a:r>
              <a:rPr dirty="0"/>
              <a:t>/courses/15-214-13fa/slides/design-</a:t>
            </a:r>
            <a:r>
              <a:rPr dirty="0" err="1"/>
              <a:t>grasp.pdf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High cohesion and low coupling are evaluation principles for assignments made using Expert, Creator, and other GRASP patterns. More classes are not automatically better.</a:t>
            </a:r>
          </a:p>
          <a:p>
            <a:endParaRPr dirty="0"/>
          </a:p>
          <a:p>
            <a:r>
              <a:rPr dirty="0"/>
              <a:t>Sources: https://</a:t>
            </a:r>
            <a:r>
              <a:rPr dirty="0" err="1"/>
              <a:t>www.cs.cmu.edu</a:t>
            </a:r>
            <a:r>
              <a:rPr dirty="0"/>
              <a:t>/~</a:t>
            </a:r>
            <a:r>
              <a:rPr dirty="0" err="1"/>
              <a:t>aldrich</a:t>
            </a:r>
            <a:r>
              <a:rPr dirty="0"/>
              <a:t>/courses/15-214-13fa/slides/design-</a:t>
            </a:r>
            <a:r>
              <a:rPr dirty="0" err="1"/>
              <a:t>grasp.pdf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type switch in the controller spreads payment-specific </a:t>
            </a:r>
            <a:r>
              <a:rPr dirty="0" err="1"/>
              <a:t>behaviour</a:t>
            </a:r>
            <a:r>
              <a:rPr dirty="0"/>
              <a:t>. Polymorphism lets each payment type implement its own </a:t>
            </a:r>
            <a:r>
              <a:rPr dirty="0" err="1"/>
              <a:t>behaviour</a:t>
            </a:r>
            <a:r>
              <a:rPr dirty="0"/>
              <a:t>. A small stable switch may still be appropriate in a factory.</a:t>
            </a:r>
          </a:p>
          <a:p>
            <a:endParaRPr dirty="0"/>
          </a:p>
          <a:p>
            <a:r>
              <a:rPr dirty="0"/>
              <a:t>Sources: https://</a:t>
            </a:r>
            <a:r>
              <a:rPr dirty="0" err="1"/>
              <a:t>www.rose-hulman.edu</a:t>
            </a:r>
            <a:r>
              <a:rPr dirty="0"/>
              <a:t>/class/cs/csse374-201020-02/</a:t>
            </a:r>
            <a:r>
              <a:rPr dirty="0" err="1"/>
              <a:t>SlidePDFs</a:t>
            </a:r>
            <a:r>
              <a:rPr dirty="0"/>
              <a:t>/session23.pdf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responsibility belongs to a fabricated software class to support high cohesion, low coupling, and reuse. Pure Fabrication can balance Information Expert when putting technical work on the expert would weaken the design.</a:t>
            </a:r>
          </a:p>
          <a:p>
            <a:endParaRPr dirty="0"/>
          </a:p>
          <a:p>
            <a:r>
              <a:rPr dirty="0"/>
              <a:t>Sources: https://</a:t>
            </a:r>
            <a:r>
              <a:rPr dirty="0" err="1"/>
              <a:t>www.rose-hulman.edu</a:t>
            </a:r>
            <a:r>
              <a:rPr dirty="0"/>
              <a:t>/class/cs/csse374-201020-02/</a:t>
            </a:r>
            <a:r>
              <a:rPr dirty="0" err="1"/>
              <a:t>SlidePDFs</a:t>
            </a:r>
            <a:r>
              <a:rPr dirty="0"/>
              <a:t>/session23.pdf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Indirection assigns an intermediate object responsibility for mediation. </a:t>
            </a:r>
            <a:r>
              <a:rPr dirty="0" err="1"/>
              <a:t>PaymentGateway</a:t>
            </a:r>
            <a:r>
              <a:rPr dirty="0"/>
              <a:t> can also help Protected Variations. The examples show different responsibilities, not necessarily different classes for each pattern.</a:t>
            </a:r>
          </a:p>
          <a:p>
            <a:endParaRPr dirty="0"/>
          </a:p>
          <a:p>
            <a:r>
              <a:rPr dirty="0"/>
              <a:t>Sources: https://</a:t>
            </a:r>
            <a:r>
              <a:rPr dirty="0" err="1"/>
              <a:t>www.rose-hulman.edu</a:t>
            </a:r>
            <a:r>
              <a:rPr dirty="0"/>
              <a:t>/class/cs/csse374-201020-02/</a:t>
            </a:r>
            <a:r>
              <a:rPr dirty="0" err="1"/>
              <a:t>SlidePDFs</a:t>
            </a:r>
            <a:r>
              <a:rPr dirty="0"/>
              <a:t>/session23.pdf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Protect variations that are plausible in the actual system. Extra abstraction has a maintenance cost. Indirection is a possible mechanism, while Protected Variations explains the change boundary being protected.</a:t>
            </a:r>
          </a:p>
          <a:p>
            <a:endParaRPr dirty="0"/>
          </a:p>
          <a:p>
            <a:r>
              <a:rPr dirty="0"/>
              <a:t>Sources: https://</a:t>
            </a:r>
            <a:r>
              <a:rPr dirty="0" err="1"/>
              <a:t>www.rose-hulman.edu</a:t>
            </a:r>
            <a:r>
              <a:rPr dirty="0"/>
              <a:t>/class/cs/csse374-201020-02/</a:t>
            </a:r>
            <a:r>
              <a:rPr dirty="0" err="1"/>
              <a:t>SlidePDFs</a:t>
            </a:r>
            <a:r>
              <a:rPr dirty="0"/>
              <a:t>/session23.pdf</a:t>
            </a:r>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Standalone class definitions for teaching. Demo: Order o = new Order(); </a:t>
            </a:r>
            <a:r>
              <a:rPr dirty="0" err="1"/>
              <a:t>o.addItem</a:t>
            </a:r>
            <a:r>
              <a:rPr dirty="0"/>
              <a:t>(100, 2); </a:t>
            </a:r>
            <a:r>
              <a:rPr dirty="0" err="1"/>
              <a:t>System.out.println</a:t>
            </a:r>
            <a:r>
              <a:rPr dirty="0"/>
              <a:t>(</a:t>
            </a:r>
            <a:r>
              <a:rPr dirty="0" err="1"/>
              <a:t>o.total</a:t>
            </a:r>
            <a:r>
              <a:rPr dirty="0"/>
              <a:t>()); Expected result: 200. The model omits validation, tax and rounding to focus on responsibility assignment.</a:t>
            </a:r>
          </a:p>
          <a:p>
            <a:endParaRPr dirty="0"/>
          </a:p>
          <a:p>
            <a:r>
              <a:rPr dirty="0"/>
              <a:t>Sources: https://</a:t>
            </a:r>
            <a:r>
              <a:rPr dirty="0" err="1"/>
              <a:t>www.cs.cmu.edu</a:t>
            </a:r>
            <a:r>
              <a:rPr dirty="0"/>
              <a:t>/~</a:t>
            </a:r>
            <a:r>
              <a:rPr dirty="0" err="1"/>
              <a:t>aldrich</a:t>
            </a:r>
            <a:r>
              <a:rPr dirty="0"/>
              <a:t>/courses/15-214-13fa/slides/design-</a:t>
            </a:r>
            <a:r>
              <a:rPr dirty="0" err="1"/>
              <a:t>grasp.pdf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UI or composition code supplies the chosen </a:t>
            </a:r>
            <a:r>
              <a:rPr dirty="0" err="1"/>
              <a:t>PaymentMethod</a:t>
            </a:r>
            <a:r>
              <a:rPr dirty="0"/>
              <a:t>. Code depends on the Order class from the preceding slide. Demo: new </a:t>
            </a:r>
            <a:r>
              <a:rPr dirty="0" err="1"/>
              <a:t>OrderController</a:t>
            </a:r>
            <a:r>
              <a:rPr dirty="0"/>
              <a:t>().checkout(o, new </a:t>
            </a:r>
            <a:r>
              <a:rPr dirty="0" err="1"/>
              <a:t>CashPayment</a:t>
            </a:r>
            <a:r>
              <a:rPr dirty="0"/>
              <a:t>()); Expected output: Cash: 200. Real payment requires error handling, authentication and transaction rules.</a:t>
            </a:r>
          </a:p>
          <a:p>
            <a:endParaRPr dirty="0"/>
          </a:p>
          <a:p>
            <a:r>
              <a:rPr dirty="0"/>
              <a:t>Sources: https://</a:t>
            </a:r>
            <a:r>
              <a:rPr dirty="0" err="1"/>
              <a:t>www.cs.cmu.edu</a:t>
            </a:r>
            <a:r>
              <a:rPr dirty="0"/>
              <a:t>/~</a:t>
            </a:r>
            <a:r>
              <a:rPr dirty="0" err="1"/>
              <a:t>aldrich</a:t>
            </a:r>
            <a:r>
              <a:rPr dirty="0"/>
              <a:t>/courses/15-214-13fa/slides/design-</a:t>
            </a:r>
            <a:r>
              <a:rPr dirty="0" err="1"/>
              <a:t>grasp.pdf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UML class diagram with name, attribute and operation compartments. Minus means private and plus means public. Solid lines show associations. The filled diamond at Order marks composition. Each item belongs to one Order and an Order has zero or more items. The dashed controller-to-repository line is a dependency labelled «use». The controller receives a repository through construction or a method parameter, so this dependency need not be a stored association. Parameters p and q represent price and quantity. This expanded design includes </a:t>
            </a:r>
            <a:r>
              <a:rPr dirty="0" err="1"/>
              <a:t>addItem</a:t>
            </a:r>
            <a:r>
              <a:rPr dirty="0"/>
              <a:t> and persistence collaboration beyond the earlier minimal checkout Java fragment.</a:t>
            </a:r>
          </a:p>
          <a:p>
            <a:r>
              <a:rPr dirty="0"/>
              <a:t>Original coffee shop teaching model. GRASP references: https://</a:t>
            </a:r>
            <a:r>
              <a:rPr dirty="0" err="1"/>
              <a:t>sites.cs.ucsb.edu</a:t>
            </a:r>
            <a:r>
              <a:rPr dirty="0"/>
              <a:t>/~</a:t>
            </a:r>
            <a:r>
              <a:rPr dirty="0" err="1"/>
              <a:t>cappello</a:t>
            </a:r>
            <a:r>
              <a:rPr dirty="0"/>
              <a:t>/50-2005-Winter/lectures/22Grasp.pdf and https://</a:t>
            </a:r>
            <a:r>
              <a:rPr dirty="0" err="1"/>
              <a:t>www.rose-hulman.edu</a:t>
            </a:r>
            <a:r>
              <a:rPr dirty="0"/>
              <a:t>/class/cs/csse374-201020-02/</a:t>
            </a:r>
            <a:r>
              <a:rPr dirty="0" err="1"/>
              <a:t>SlidePDFs</a:t>
            </a:r>
            <a:r>
              <a:rPr dirty="0"/>
              <a:t>/session23.pdf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GRASP mapping: </a:t>
            </a:r>
            <a:r>
              <a:rPr dirty="0" err="1"/>
              <a:t>CustomerUI</a:t>
            </a:r>
            <a:r>
              <a:rPr dirty="0"/>
              <a:t> stays focused on presentation. </a:t>
            </a:r>
            <a:r>
              <a:rPr dirty="0" err="1"/>
              <a:t>OrderController</a:t>
            </a:r>
            <a:r>
              <a:rPr dirty="0"/>
              <a:t> illustrates Controller. Order illustrates Creator and Expert. </a:t>
            </a:r>
            <a:r>
              <a:rPr dirty="0" err="1"/>
              <a:t>OrderItem</a:t>
            </a:r>
            <a:r>
              <a:rPr dirty="0"/>
              <a:t> illustrates Expert. </a:t>
            </a:r>
            <a:r>
              <a:rPr dirty="0" err="1"/>
              <a:t>OrderRepository</a:t>
            </a:r>
            <a:r>
              <a:rPr dirty="0"/>
              <a:t> illustrates Pure Fabrication. Focused roles support High Cohesion. The diagram records design responsibilities rather than fixed participant roles prescribed by every GRASP principle.</a:t>
            </a:r>
          </a:p>
          <a:p>
            <a:r>
              <a:rPr dirty="0"/>
              <a:t>Original coffee shop teaching model. GRASP references: https://</a:t>
            </a:r>
            <a:r>
              <a:rPr dirty="0" err="1"/>
              <a:t>sites.cs.ucsb.edu</a:t>
            </a:r>
            <a:r>
              <a:rPr dirty="0"/>
              <a:t>/~</a:t>
            </a:r>
            <a:r>
              <a:rPr dirty="0" err="1"/>
              <a:t>cappello</a:t>
            </a:r>
            <a:r>
              <a:rPr dirty="0"/>
              <a:t>/50-2005-Winter/lectures/22Grasp.pdf and https://</a:t>
            </a:r>
            <a:r>
              <a:rPr dirty="0" err="1"/>
              <a:t>www.rose-hulman.edu</a:t>
            </a:r>
            <a:r>
              <a:rPr dirty="0"/>
              <a:t>/class/cs/csse374-201020-02/</a:t>
            </a:r>
            <a:r>
              <a:rPr dirty="0" err="1"/>
              <a:t>SlidePDFs</a:t>
            </a:r>
            <a:r>
              <a:rPr dirty="0"/>
              <a:t>/session23.pdf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UML </a:t>
            </a:r>
            <a:r>
              <a:rPr dirty="0" err="1"/>
              <a:t>realisation</a:t>
            </a:r>
            <a:r>
              <a:rPr dirty="0"/>
              <a:t> uses a dashed line and a hollow triangle pointing toward the interface. </a:t>
            </a:r>
            <a:r>
              <a:rPr dirty="0" err="1"/>
              <a:t>CashPayment</a:t>
            </a:r>
            <a:r>
              <a:rPr dirty="0"/>
              <a:t> and </a:t>
            </a:r>
            <a:r>
              <a:rPr dirty="0" err="1"/>
              <a:t>CardPayment</a:t>
            </a:r>
            <a:r>
              <a:rPr dirty="0"/>
              <a:t> </a:t>
            </a:r>
            <a:r>
              <a:rPr dirty="0" err="1"/>
              <a:t>realise</a:t>
            </a:r>
            <a:r>
              <a:rPr dirty="0"/>
              <a:t> </a:t>
            </a:r>
            <a:r>
              <a:rPr dirty="0" err="1"/>
              <a:t>PaymentMethod</a:t>
            </a:r>
            <a:r>
              <a:rPr dirty="0"/>
              <a:t>. </a:t>
            </a:r>
            <a:r>
              <a:rPr dirty="0" err="1"/>
              <a:t>BankPaymentGateway</a:t>
            </a:r>
            <a:r>
              <a:rPr dirty="0"/>
              <a:t> </a:t>
            </a:r>
            <a:r>
              <a:rPr dirty="0" err="1"/>
              <a:t>realises</a:t>
            </a:r>
            <a:r>
              <a:rPr dirty="0"/>
              <a:t> </a:t>
            </a:r>
            <a:r>
              <a:rPr dirty="0" err="1"/>
              <a:t>PaymentGateway</a:t>
            </a:r>
            <a:r>
              <a:rPr dirty="0"/>
              <a:t>. </a:t>
            </a:r>
            <a:r>
              <a:rPr dirty="0" err="1"/>
              <a:t>CardPayment</a:t>
            </a:r>
            <a:r>
              <a:rPr dirty="0"/>
              <a:t> has a gateway and </a:t>
            </a:r>
            <a:r>
              <a:rPr dirty="0" err="1"/>
              <a:t>BankPaymentGateway</a:t>
            </a:r>
            <a:r>
              <a:rPr dirty="0"/>
              <a:t> has an external </a:t>
            </a:r>
            <a:r>
              <a:rPr dirty="0" err="1"/>
              <a:t>BankService</a:t>
            </a:r>
            <a:r>
              <a:rPr dirty="0"/>
              <a:t>. These associations support Indirection and Protected Variations. The gateway example extends the earlier </a:t>
            </a:r>
            <a:r>
              <a:rPr dirty="0" err="1"/>
              <a:t>CardPayment</a:t>
            </a:r>
            <a:r>
              <a:rPr dirty="0"/>
              <a:t> demonstration, which only prints output. Real payment concerns such as error handling and idempotency are outside this class diagram.</a:t>
            </a:r>
          </a:p>
          <a:p>
            <a:r>
              <a:rPr dirty="0"/>
              <a:t>Original coffee shop teaching model. GRASP references: https://</a:t>
            </a:r>
            <a:r>
              <a:rPr dirty="0" err="1"/>
              <a:t>sites.cs.ucsb.edu</a:t>
            </a:r>
            <a:r>
              <a:rPr dirty="0"/>
              <a:t>/~</a:t>
            </a:r>
            <a:r>
              <a:rPr dirty="0" err="1"/>
              <a:t>cappello</a:t>
            </a:r>
            <a:r>
              <a:rPr dirty="0"/>
              <a:t>/50-2005-Winter/lectures/22Grasp.pdf and https://</a:t>
            </a:r>
            <a:r>
              <a:rPr dirty="0" err="1"/>
              <a:t>www.rose-hulman.edu</a:t>
            </a:r>
            <a:r>
              <a:rPr dirty="0"/>
              <a:t>/class/cs/csse374-201020-02/</a:t>
            </a:r>
            <a:r>
              <a:rPr dirty="0" err="1"/>
              <a:t>SlidePDFs</a:t>
            </a:r>
            <a:r>
              <a:rPr dirty="0"/>
              <a:t>/session23.pdf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PaymentMethod</a:t>
            </a:r>
            <a:r>
              <a:rPr dirty="0"/>
              <a:t> with its implementations illustrates Polymorphism. </a:t>
            </a:r>
            <a:r>
              <a:rPr dirty="0" err="1"/>
              <a:t>PaymentGateway</a:t>
            </a:r>
            <a:r>
              <a:rPr dirty="0"/>
              <a:t> provides a stable boundary for Protected Variations. </a:t>
            </a:r>
            <a:r>
              <a:rPr dirty="0" err="1"/>
              <a:t>BankPaymentGateway</a:t>
            </a:r>
            <a:r>
              <a:rPr dirty="0"/>
              <a:t> supplies Indirection and keeps bank-specific logic out of the controller. Multiple GRASP principles may describe the same design choice. A new bank provider can implement </a:t>
            </a:r>
            <a:r>
              <a:rPr dirty="0" err="1"/>
              <a:t>PaymentGateway</a:t>
            </a:r>
            <a:r>
              <a:rPr dirty="0"/>
              <a:t> while callers retain the same contract.</a:t>
            </a:r>
          </a:p>
          <a:p>
            <a:r>
              <a:rPr dirty="0"/>
              <a:t>Original coffee shop teaching model. GRASP references: https://</a:t>
            </a:r>
            <a:r>
              <a:rPr dirty="0" err="1"/>
              <a:t>sites.cs.ucsb.edu</a:t>
            </a:r>
            <a:r>
              <a:rPr dirty="0"/>
              <a:t>/~</a:t>
            </a:r>
            <a:r>
              <a:rPr dirty="0" err="1"/>
              <a:t>cappello</a:t>
            </a:r>
            <a:r>
              <a:rPr dirty="0"/>
              <a:t>/50-2005-Winter/lectures/22Grasp.pdf and https://</a:t>
            </a:r>
            <a:r>
              <a:rPr dirty="0" err="1"/>
              <a:t>www.rose-hulman.edu</a:t>
            </a:r>
            <a:r>
              <a:rPr dirty="0"/>
              <a:t>/class/cs/csse374-201020-02/</a:t>
            </a:r>
            <a:r>
              <a:rPr dirty="0" err="1"/>
              <a:t>SlidePDFs</a:t>
            </a:r>
            <a:r>
              <a:rPr dirty="0"/>
              <a:t>/session23.pdf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successful checkout scenario explains the objects in both class diagrams. The example is illustrative. A failed payment must prevent successful completion and show an appropriate result. In a production payment workflow, persistence, retries and idempotency require careful transaction design. The UI uses the controller as its system-event receiver. Expert places calculation in the domain objects. Creator puts item construction in Order. Cohesion keeps storage and payment integration separate. Low Coupling, Polymorphism, Indirection and Protected Variations structure the payment boundary. Pure Fabrication provides a repository for technical persistence work.</a:t>
            </a:r>
          </a:p>
          <a:p>
            <a:r>
              <a:rPr dirty="0"/>
              <a:t>Original coffee shop teaching model. GRASP references: https://</a:t>
            </a:r>
            <a:r>
              <a:rPr dirty="0" err="1"/>
              <a:t>sites.cs.ucsb.edu</a:t>
            </a:r>
            <a:r>
              <a:rPr dirty="0"/>
              <a:t>/~</a:t>
            </a:r>
            <a:r>
              <a:rPr dirty="0" err="1"/>
              <a:t>cappello</a:t>
            </a:r>
            <a:r>
              <a:rPr dirty="0"/>
              <a:t>/50-2005-Winter/lectures/22Grasp.pdf and https://</a:t>
            </a:r>
            <a:r>
              <a:rPr dirty="0" err="1"/>
              <a:t>www.rose-hulman.edu</a:t>
            </a:r>
            <a:r>
              <a:rPr dirty="0"/>
              <a:t>/class/cs/csse374-201020-02/</a:t>
            </a:r>
            <a:r>
              <a:rPr dirty="0" err="1"/>
              <a:t>SlidePDFs</a:t>
            </a:r>
            <a:r>
              <a:rPr dirty="0"/>
              <a:t>/session23.pdf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code smell is a warning that merits investigation. An anti-pattern describes a broader recurring problem and a refactored solution. A pattern can become harmful when used in the wrong context.</a:t>
            </a:r>
          </a:p>
          <a:p>
            <a:endParaRPr dirty="0"/>
          </a:p>
          <a:p>
            <a:r>
              <a:rPr dirty="0"/>
              <a:t>Sources: https://</a:t>
            </a:r>
            <a:r>
              <a:rPr dirty="0" err="1"/>
              <a:t>www.csc.uvic.ca</a:t>
            </a:r>
            <a:r>
              <a:rPr dirty="0"/>
              <a:t>/~</a:t>
            </a:r>
            <a:r>
              <a:rPr dirty="0" err="1"/>
              <a:t>hausi</a:t>
            </a:r>
            <a:r>
              <a:rPr dirty="0"/>
              <a:t>/480/lectures/</a:t>
            </a:r>
            <a:r>
              <a:rPr dirty="0" err="1"/>
              <a:t>antipatterns.pdf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controller becomes a Blob if it contains all business and technical logic. Refactor incrementally after </a:t>
            </a:r>
            <a:r>
              <a:rPr dirty="0" err="1"/>
              <a:t>characterising</a:t>
            </a:r>
            <a:r>
              <a:rPr dirty="0"/>
              <a:t> existing </a:t>
            </a:r>
            <a:r>
              <a:rPr dirty="0" err="1"/>
              <a:t>behaviour</a:t>
            </a:r>
            <a:r>
              <a:rPr dirty="0"/>
              <a:t>. Splitting by responsibility is more useful than merely splitting by file size.</a:t>
            </a:r>
          </a:p>
          <a:p>
            <a:endParaRPr dirty="0"/>
          </a:p>
          <a:p>
            <a:r>
              <a:rPr dirty="0"/>
              <a:t>Sources: https://</a:t>
            </a:r>
            <a:r>
              <a:rPr dirty="0" err="1"/>
              <a:t>www.csc.uvic.ca</a:t>
            </a:r>
            <a:r>
              <a:rPr dirty="0"/>
              <a:t>/~</a:t>
            </a:r>
            <a:r>
              <a:rPr dirty="0" err="1"/>
              <a:t>hausi</a:t>
            </a:r>
            <a:r>
              <a:rPr dirty="0"/>
              <a:t>/480/lectures/</a:t>
            </a:r>
            <a:r>
              <a:rPr dirty="0" err="1"/>
              <a:t>antipatterns.pdf</a:t>
            </a:r>
            <a:endParaRPr dirty="0"/>
          </a:p>
          <a:p>
            <a:r>
              <a:rPr dirty="0"/>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existing behaviour under tests. Extract methods first, then move responsibilities to appropriate classes. A long method is a symptom rather than automatic proof of this anti-pattern.</a:t>
            </a:r>
          </a:p>
          <a:p>
            <a:endParaRPr/>
          </a:p>
          <a:p>
            <a:r>
              <a:t>Sources: https://www.csc.uvic.ca/~hausi/480/lectures/antipatterns.pdf</a:t>
            </a:r>
          </a:p>
          <a:p>
            <a:r>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Duplication of a changing rule causes defects when one copy changes and another does not. Similar-looking code can serve different responsibilities, so check the meaning before merging it.</a:t>
            </a:r>
          </a:p>
          <a:p>
            <a:endParaRPr/>
          </a:p>
          <a:p>
            <a:r>
              <a:t>Sources: https://www.engr.uvic.ca/~seng371/lectures/L20-371-S13-bw.pdf</a:t>
            </a:r>
          </a:p>
          <a:p>
            <a:r>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Singleton is not inherently an anti-pattern. Using it indiscriminately creates shared mutable state and hides dependencies. Constructor injection often makes dependencies explicit.</a:t>
            </a:r>
          </a:p>
          <a:p>
            <a:endParaRPr/>
          </a:p>
          <a:p>
            <a:r>
              <a:t>Sources: https://www.csc.uvic.ca/~hausi/480/lectures/antipatterns.pdf</a:t>
            </a:r>
          </a:p>
          <a:p>
            <a:r>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Unused code may have external callers or configuration-based activation. Confirm behaviour and dependencies before removing it. Lava Flow grows from uncertainty and weak knowledge of the codebase.</a:t>
            </a:r>
          </a:p>
          <a:p>
            <a:endParaRPr/>
          </a:p>
          <a:p>
            <a:r>
              <a:t>Sources: https://www.engr.uvic.ca/~seng371/lectures/L20-371-S13-bw.pdf</a:t>
            </a:r>
          </a:p>
          <a:p>
            <a:r>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GRASP principle does not mechanically fix every anti-pattern. Use the connections as prompts for diagnosis and evaluate the consequences in context.</a:t>
            </a:r>
          </a:p>
          <a:p>
            <a:endParaRPr/>
          </a:p>
          <a:p>
            <a:r>
              <a:t>Sources: https://www.cs.cmu.edu/~aldrich/courses/15-214-13fa/slides/design-grasp.pdf</a:t>
            </a:r>
          </a:p>
          <a:p>
            <a:r>
              <a:t>https://www.csc.uvic.ca/~hausi/480/lectures/antipatterns.pdf</a:t>
            </a:r>
          </a:p>
          <a:p>
            <a:r>
              <a:t>Coffee shop examples and Java fragments are original teaching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5D890CC-2C02-42A5-88F4-7A5FAC9B35B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5C4B64AA-A7D1-4A01-9023-18784401309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5BD0BE9-AFA2-4990-B317-FAECFCF38AE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8E3EC0-0426-4FD9-BE62-8474DFEFC20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573B3E17-85CB-4FAB-B84F-54E64E0F3A8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DDD8043-7AC3-4864-A13A-067676F78D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69B48A02-1295-480F-B690-AD829FDF44C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203CA550-3CC4-41F4-BFDD-185E151EC0F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C81C02-4E2D-42C5-800F-4FC4460D449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A59FF553-BC1F-48F7-80EC-A95EE493ACC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CD8F6A-2B34-4834-B67C-1F36970AE21C}"/>
              </a:ext>
            </a:extLst>
          </p:cNvPr>
          <p:cNvSpPr>
            <a:spLocks noGrp="1"/>
          </p:cNvSpPr>
          <p:nvPr/>
        </p:nvSpPr>
        <p:spPr>
          <a:xfrm>
            <a:off x="2333625" y="2686050"/>
            <a:ext cx="9858375" cy="781050"/>
          </a:xfrm>
          <a:prstGeom prst="rect">
            <a:avLst/>
          </a:prstGeom>
          <a:solidFill>
            <a:srgbClr val="002060"/>
          </a:solidFill>
          <a:ln w="0">
            <a:noFill/>
          </a:ln>
        </p:spPr>
        <p:txBody>
          <a:bodyPr/>
          <a:lstStyle/>
          <a:p>
            <a:endParaRPr/>
          </a:p>
        </p:txBody>
      </p:sp>
      <p:sp>
        <p:nvSpPr>
          <p:cNvPr id="2" name="Rectangle 1">
            <a:extLst>
              <a:ext uri="{FF2B5EF4-FFF2-40B4-BE49-F238E27FC236}">
                <a16:creationId xmlns:a16="http://schemas.microsoft.com/office/drawing/2014/main" id="{ED6A6ABA-91C7-41EE-8A42-C46D2C244FDD}"/>
              </a:ext>
            </a:extLst>
          </p:cNvPr>
          <p:cNvSpPr>
            <a:spLocks noGrp="1"/>
          </p:cNvSpPr>
          <p:nvPr/>
        </p:nvSpPr>
        <p:spPr>
          <a:xfrm>
            <a:off x="2505075" y="2771775"/>
            <a:ext cx="3905250" cy="609600"/>
          </a:xfrm>
          <a:prstGeom prst="rect">
            <a:avLst/>
          </a:prstGeom>
          <a:noFill/>
          <a:ln w="0">
            <a:noFill/>
          </a:ln>
        </p:spPr>
        <p:txBody>
          <a:bodyPr anchor="ctr">
            <a:normAutofit fontScale="87538" lnSpcReduction="10000"/>
          </a:bodyPr>
          <a:lstStyle>
            <a:defPPr>
              <a:defRPr sz="3975" b="0">
                <a:solidFill>
                  <a:srgbClr val="C00000"/>
                </a:solidFill>
                <a:latin typeface="Times New Roman"/>
                <a:ea typeface="Times New Roman"/>
                <a:cs typeface="Times New Roman"/>
              </a:defRPr>
            </a:defPPr>
          </a:lstStyle>
          <a:p>
            <a:pPr algn="l">
              <a:buNone/>
              <a:defRPr sz="3975" b="0">
                <a:solidFill>
                  <a:srgbClr val="C00000"/>
                </a:solidFill>
                <a:latin typeface="Times New Roman"/>
                <a:ea typeface="Times New Roman"/>
                <a:cs typeface="Times New Roman"/>
              </a:defRPr>
            </a:pPr>
            <a:r>
              <a:rPr sz="3975" b="0">
                <a:solidFill>
                  <a:srgbClr val="C00000"/>
                </a:solidFill>
                <a:latin typeface="Times New Roman"/>
                <a:ea typeface="Times New Roman"/>
                <a:cs typeface="Times New Roman"/>
              </a:rPr>
              <a:t>Unit 3</a:t>
            </a:r>
          </a:p>
        </p:txBody>
      </p:sp>
      <p:sp>
        <p:nvSpPr>
          <p:cNvPr id="3" name="Rectangle 2">
            <a:extLst>
              <a:ext uri="{FF2B5EF4-FFF2-40B4-BE49-F238E27FC236}">
                <a16:creationId xmlns:a16="http://schemas.microsoft.com/office/drawing/2014/main" id="{72CA3DFA-AC00-4C3C-B309-1ED737B1C294}"/>
              </a:ext>
            </a:extLst>
          </p:cNvPr>
          <p:cNvSpPr>
            <a:spLocks noGrp="1"/>
          </p:cNvSpPr>
          <p:nvPr/>
        </p:nvSpPr>
        <p:spPr>
          <a:xfrm>
            <a:off x="1352550" y="800100"/>
            <a:ext cx="9667875" cy="866775"/>
          </a:xfrm>
          <a:prstGeom prst="rect">
            <a:avLst/>
          </a:prstGeom>
          <a:noFill/>
          <a:ln w="0">
            <a:noFill/>
          </a:ln>
        </p:spPr>
        <p:txBody>
          <a:bodyPr anchor="ctr">
            <a:normAutofit/>
          </a:bodyPr>
          <a:lstStyle>
            <a:defPPr>
              <a:defRPr sz="3750" b="0">
                <a:solidFill>
                  <a:srgbClr val="06235E"/>
                </a:solidFill>
                <a:latin typeface="Times New Roman"/>
                <a:ea typeface="Times New Roman"/>
                <a:cs typeface="Times New Roman"/>
              </a:defRPr>
            </a:defPPr>
          </a:lstStyle>
          <a:p>
            <a:pPr algn="ctr">
              <a:buNone/>
              <a:defRPr sz="3750" b="0">
                <a:solidFill>
                  <a:srgbClr val="06235E"/>
                </a:solidFill>
                <a:latin typeface="Times New Roman"/>
                <a:ea typeface="Times New Roman"/>
                <a:cs typeface="Times New Roman"/>
              </a:defRPr>
            </a:pPr>
            <a:r>
              <a:rPr sz="3750" b="0" dirty="0">
                <a:solidFill>
                  <a:srgbClr val="06235E"/>
                </a:solidFill>
                <a:latin typeface="Times New Roman"/>
                <a:ea typeface="Times New Roman"/>
                <a:cs typeface="Times New Roman"/>
              </a:rPr>
              <a:t>GRASP  and Anti-patterns</a:t>
            </a:r>
          </a:p>
        </p:txBody>
      </p:sp>
      <p:sp>
        <p:nvSpPr>
          <p:cNvPr id="7" name="Rectangle 6">
            <a:extLst>
              <a:ext uri="{FF2B5EF4-FFF2-40B4-BE49-F238E27FC236}">
                <a16:creationId xmlns:a16="http://schemas.microsoft.com/office/drawing/2014/main" id="{AF0AB2C8-2EAD-D0D5-EE7C-1F908BA537AC}"/>
              </a:ext>
            </a:extLst>
          </p:cNvPr>
          <p:cNvSpPr>
            <a:spLocks noGrp="1"/>
          </p:cNvSpPr>
          <p:nvPr/>
        </p:nvSpPr>
        <p:spPr>
          <a:xfrm>
            <a:off x="1828800" y="1790700"/>
            <a:ext cx="8572500" cy="457200"/>
          </a:xfrm>
          <a:prstGeom prst="rect">
            <a:avLst/>
          </a:prstGeom>
          <a:noFill/>
          <a:ln w="0">
            <a:noFill/>
          </a:ln>
        </p:spPr>
        <p:txBody>
          <a:bodyPr anchor="ctr">
            <a:normAutofit/>
          </a:bodyPr>
          <a:lstStyle>
            <a:defPPr>
              <a:defRPr sz="2175" b="0">
                <a:solidFill>
                  <a:srgbClr val="0000FF"/>
                </a:solidFill>
                <a:latin typeface="Times New Roman"/>
                <a:ea typeface="Times New Roman"/>
                <a:cs typeface="Times New Roman"/>
              </a:defRPr>
            </a:defPPr>
          </a:lstStyle>
          <a:p>
            <a:pPr algn="ctr">
              <a:buNone/>
              <a:defRPr sz="2175" b="0">
                <a:solidFill>
                  <a:srgbClr val="0000FF"/>
                </a:solidFill>
                <a:latin typeface="Times New Roman"/>
                <a:ea typeface="Times New Roman"/>
                <a:cs typeface="Times New Roman"/>
              </a:defRPr>
            </a:pPr>
            <a:r>
              <a:rPr sz="2175" b="0" dirty="0">
                <a:solidFill>
                  <a:srgbClr val="0000FF"/>
                </a:solidFill>
                <a:latin typeface="Times New Roman"/>
                <a:ea typeface="Times New Roman"/>
                <a:cs typeface="Times New Roman"/>
              </a:rPr>
              <a:t>Responsibility assignment in object-oriented design</a:t>
            </a:r>
          </a:p>
        </p:txBody>
      </p:sp>
    </p:spTree>
    <p:extLst>
      <p:ext uri="{BB962C8B-B14F-4D97-AF65-F5344CB8AC3E}">
        <p14:creationId xmlns:p14="http://schemas.microsoft.com/office/powerpoint/2010/main" val="17565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What Is a Responsibility?</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02</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19125" y="1119188"/>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A responsibility is something an object knows or does. Good design gives each job a suitable owner.</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What an object knows</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OrderItem knows its price and quantity. Order knows which items belong to it.</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What an object does</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OrderItem calculates a subtotal. Order calculates the total. OrderController coordinates checkout.</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Knowing the data helps us choose who should do the work.</a:t>
            </a:r>
          </a:p>
        </p:txBody>
      </p:sp>
    </p:spTree>
    <p:extLst>
      <p:ext uri="{BB962C8B-B14F-4D97-AF65-F5344CB8AC3E}">
        <p14:creationId xmlns:p14="http://schemas.microsoft.com/office/powerpoint/2010/main" val="290003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What Is GRASP?</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03</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116205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GRASP means General Responsibility Assignment Software Patterns. It helps you decide which class should do each job.</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How the principles help</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Use the nine principles as questions when choosing a responsibility owner. Several can apply to the same choice.</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Who creates an item? Who calculates the total? Who coordinates payment? Each job needs a clear owner.</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The nine principles do not require nine separate classes.</a:t>
            </a:r>
          </a:p>
        </p:txBody>
      </p:sp>
    </p:spTree>
    <p:extLst>
      <p:ext uri="{BB962C8B-B14F-4D97-AF65-F5344CB8AC3E}">
        <p14:creationId xmlns:p14="http://schemas.microsoft.com/office/powerpoint/2010/main" val="290003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The Nine GRASP Patterns</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04</a:t>
            </a:r>
          </a:p>
        </p:txBody>
      </p:sp>
      <p:sp>
        <p:nvSpPr>
          <p:cNvPr id="5" name="Rectangle 4">
            <a:extLst>
              <a:ext uri="{FF2B5EF4-FFF2-40B4-BE49-F238E27FC236}">
                <a16:creationId xmlns:a16="http://schemas.microsoft.com/office/drawing/2014/main" id="{D54C40FE-D510-4C3E-BE1E-7C93A003B064}"/>
              </a:ext>
            </a:extLst>
          </p:cNvPr>
          <p:cNvSpPr>
            <a:spLocks noGrp="1"/>
          </p:cNvSpPr>
          <p:nvPr/>
        </p:nvSpPr>
        <p:spPr>
          <a:xfrm>
            <a:off x="619125" y="1238250"/>
            <a:ext cx="5210175" cy="3276600"/>
          </a:xfrm>
          <a:prstGeom prst="rect">
            <a:avLst/>
          </a:prstGeom>
          <a:solidFill>
            <a:srgbClr val="DDF2D5"/>
          </a:solidFill>
          <a:ln w="0">
            <a:noFill/>
          </a:ln>
        </p:spPr>
        <p:txBody>
          <a:bodyPr/>
          <a:lstStyle/>
          <a:p>
            <a:endParaRPr sz="2400"/>
          </a:p>
        </p:txBody>
      </p:sp>
      <p:sp>
        <p:nvSpPr>
          <p:cNvPr id="6" name="Rectangle 5">
            <a:extLst>
              <a:ext uri="{FF2B5EF4-FFF2-40B4-BE49-F238E27FC236}">
                <a16:creationId xmlns:a16="http://schemas.microsoft.com/office/drawing/2014/main" id="{028DE439-4D0B-4C24-A0F8-E444DBBCA50A}"/>
              </a:ext>
            </a:extLst>
          </p:cNvPr>
          <p:cNvSpPr>
            <a:spLocks noGrp="1"/>
          </p:cNvSpPr>
          <p:nvPr/>
        </p:nvSpPr>
        <p:spPr>
          <a:xfrm>
            <a:off x="771525" y="1390650"/>
            <a:ext cx="4857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Assigning responsibilities</a:t>
            </a:r>
          </a:p>
        </p:txBody>
      </p:sp>
      <p:sp>
        <p:nvSpPr>
          <p:cNvPr id="7" name="Rectangle 6">
            <a:extLst>
              <a:ext uri="{FF2B5EF4-FFF2-40B4-BE49-F238E27FC236}">
                <a16:creationId xmlns:a16="http://schemas.microsoft.com/office/drawing/2014/main" id="{8B0D18D2-DC92-4639-A933-A36D5E0C6E0A}"/>
              </a:ext>
            </a:extLst>
          </p:cNvPr>
          <p:cNvSpPr>
            <a:spLocks noGrp="1"/>
          </p:cNvSpPr>
          <p:nvPr/>
        </p:nvSpPr>
        <p:spPr>
          <a:xfrm>
            <a:off x="771525" y="1876425"/>
            <a:ext cx="4848225" cy="2324100"/>
          </a:xfrm>
          <a:prstGeom prst="rect">
            <a:avLst/>
          </a:prstGeom>
          <a:noFill/>
          <a:ln w="0">
            <a:noFill/>
          </a:ln>
        </p:spPr>
        <p:txBody>
          <a:bodyPr anchor="ctr">
            <a:normAutofit/>
          </a:bodyPr>
          <a:lstStyle>
            <a:defPPr>
              <a:defRPr sz="210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Information Expert</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Creator</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Controller</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Low Coupling</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High Cohesion</a:t>
            </a:r>
          </a:p>
        </p:txBody>
      </p:sp>
      <p:sp>
        <p:nvSpPr>
          <p:cNvPr id="8" name="Rectangle 7">
            <a:extLst>
              <a:ext uri="{FF2B5EF4-FFF2-40B4-BE49-F238E27FC236}">
                <a16:creationId xmlns:a16="http://schemas.microsoft.com/office/drawing/2014/main" id="{89C4EBA5-0FE2-42AF-9E68-F683BB3A284F}"/>
              </a:ext>
            </a:extLst>
          </p:cNvPr>
          <p:cNvSpPr>
            <a:spLocks noGrp="1"/>
          </p:cNvSpPr>
          <p:nvPr/>
        </p:nvSpPr>
        <p:spPr>
          <a:xfrm>
            <a:off x="6096000" y="1238250"/>
            <a:ext cx="5448300" cy="3276600"/>
          </a:xfrm>
          <a:prstGeom prst="rect">
            <a:avLst/>
          </a:prstGeom>
          <a:solidFill>
            <a:srgbClr val="F6C6AD"/>
          </a:solidFill>
          <a:ln w="0">
            <a:noFill/>
          </a:ln>
        </p:spPr>
        <p:txBody>
          <a:bodyPr/>
          <a:lstStyle/>
          <a:p>
            <a:endParaRPr sz="2400"/>
          </a:p>
        </p:txBody>
      </p:sp>
      <p:sp>
        <p:nvSpPr>
          <p:cNvPr id="9" name="Rectangle 8">
            <a:extLst>
              <a:ext uri="{FF2B5EF4-FFF2-40B4-BE49-F238E27FC236}">
                <a16:creationId xmlns:a16="http://schemas.microsoft.com/office/drawing/2014/main" id="{3F95603B-9050-4F83-9BA9-4B5B8D4CEC04}"/>
              </a:ext>
            </a:extLst>
          </p:cNvPr>
          <p:cNvSpPr>
            <a:spLocks noGrp="1"/>
          </p:cNvSpPr>
          <p:nvPr/>
        </p:nvSpPr>
        <p:spPr>
          <a:xfrm>
            <a:off x="6248400" y="1390650"/>
            <a:ext cx="5048250" cy="314325"/>
          </a:xfrm>
          <a:prstGeom prst="rect">
            <a:avLst/>
          </a:prstGeom>
          <a:noFill/>
          <a:ln w="0">
            <a:noFill/>
          </a:ln>
        </p:spPr>
        <p:txBody>
          <a:bodyPr anchor="ctr">
            <a:noAutofit/>
          </a:bodyPr>
          <a:lstStyle>
            <a:defPPr>
              <a:defRPr sz="1875" b="1">
                <a:solidFill>
                  <a:srgbClr val="C00000"/>
                </a:solidFill>
                <a:latin typeface="Times New Roman"/>
                <a:ea typeface="Times New Roman"/>
                <a:cs typeface="Times New Roman"/>
              </a:defRPr>
            </a:defPPr>
          </a:lstStyle>
          <a:p>
            <a:pPr algn="l">
              <a:buNone/>
              <a:defRPr sz="1875" b="1">
                <a:solidFill>
                  <a:srgbClr val="C00000"/>
                </a:solidFill>
                <a:latin typeface="Times New Roman"/>
                <a:ea typeface="Times New Roman"/>
                <a:cs typeface="Times New Roman"/>
              </a:defRPr>
            </a:pPr>
            <a:r>
              <a:rPr sz="2400" b="1">
                <a:solidFill>
                  <a:srgbClr val="C00000"/>
                </a:solidFill>
                <a:latin typeface="Times New Roman"/>
                <a:ea typeface="Times New Roman"/>
                <a:cs typeface="Times New Roman"/>
              </a:rPr>
              <a:t>Handling variation</a:t>
            </a:r>
          </a:p>
        </p:txBody>
      </p:sp>
      <p:sp>
        <p:nvSpPr>
          <p:cNvPr id="10" name="Rectangle 9">
            <a:extLst>
              <a:ext uri="{FF2B5EF4-FFF2-40B4-BE49-F238E27FC236}">
                <a16:creationId xmlns:a16="http://schemas.microsoft.com/office/drawing/2014/main" id="{7B597156-DA4E-447A-BEAF-66C5BAA8B8BE}"/>
              </a:ext>
            </a:extLst>
          </p:cNvPr>
          <p:cNvSpPr>
            <a:spLocks noGrp="1"/>
          </p:cNvSpPr>
          <p:nvPr/>
        </p:nvSpPr>
        <p:spPr>
          <a:xfrm>
            <a:off x="6248400" y="1876425"/>
            <a:ext cx="5048250" cy="2324100"/>
          </a:xfrm>
          <a:prstGeom prst="rect">
            <a:avLst/>
          </a:prstGeom>
          <a:noFill/>
          <a:ln w="0">
            <a:noFill/>
          </a:ln>
        </p:spPr>
        <p:txBody>
          <a:bodyPr anchor="ctr">
            <a:normAutofit/>
          </a:bodyPr>
          <a:lstStyle>
            <a:defPPr>
              <a:defRPr sz="210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Polymorphism</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Pure Fabrication</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Indirection</a:t>
            </a:r>
          </a:p>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Protected Variations</a:t>
            </a:r>
          </a:p>
        </p:txBody>
      </p:sp>
      <p:sp>
        <p:nvSpPr>
          <p:cNvPr id="11" name="Rectangle 10">
            <a:extLst>
              <a:ext uri="{FF2B5EF4-FFF2-40B4-BE49-F238E27FC236}">
                <a16:creationId xmlns:a16="http://schemas.microsoft.com/office/drawing/2014/main" id="{A0214C3B-4F1B-477C-AE53-61DCECF8BCCB}"/>
              </a:ext>
            </a:extLst>
          </p:cNvPr>
          <p:cNvSpPr>
            <a:spLocks noGrp="1"/>
          </p:cNvSpPr>
          <p:nvPr/>
        </p:nvSpPr>
        <p:spPr>
          <a:xfrm>
            <a:off x="628650" y="4743450"/>
            <a:ext cx="10915650" cy="1371600"/>
          </a:xfrm>
          <a:prstGeom prst="rect">
            <a:avLst/>
          </a:prstGeom>
          <a:solidFill>
            <a:srgbClr val="DDEBF3"/>
          </a:solidFill>
          <a:ln w="0">
            <a:noFill/>
          </a:ln>
        </p:spPr>
        <p:txBody>
          <a:bodyPr/>
          <a:lstStyle/>
          <a:p>
            <a:endParaRPr sz="2400"/>
          </a:p>
        </p:txBody>
      </p:sp>
      <p:sp>
        <p:nvSpPr>
          <p:cNvPr id="12" name="Rectangle 11">
            <a:extLst>
              <a:ext uri="{FF2B5EF4-FFF2-40B4-BE49-F238E27FC236}">
                <a16:creationId xmlns:a16="http://schemas.microsoft.com/office/drawing/2014/main" id="{EBE0BAB2-7DC8-4005-871E-A550ECBF7661}"/>
              </a:ext>
            </a:extLst>
          </p:cNvPr>
          <p:cNvSpPr>
            <a:spLocks noGrp="1"/>
          </p:cNvSpPr>
          <p:nvPr/>
        </p:nvSpPr>
        <p:spPr>
          <a:xfrm>
            <a:off x="790575" y="4867275"/>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How to read the example</a:t>
            </a:r>
          </a:p>
        </p:txBody>
      </p:sp>
      <p:sp>
        <p:nvSpPr>
          <p:cNvPr id="13" name="Rectangle 12">
            <a:extLst>
              <a:ext uri="{FF2B5EF4-FFF2-40B4-BE49-F238E27FC236}">
                <a16:creationId xmlns:a16="http://schemas.microsoft.com/office/drawing/2014/main" id="{93A8F26E-AA45-40B1-9EEA-7B67CBAFB0E1}"/>
              </a:ext>
            </a:extLst>
          </p:cNvPr>
          <p:cNvSpPr>
            <a:spLocks noGrp="1"/>
          </p:cNvSpPr>
          <p:nvPr/>
        </p:nvSpPr>
        <p:spPr>
          <a:xfrm>
            <a:off x="790575" y="5257800"/>
            <a:ext cx="10363200" cy="733425"/>
          </a:xfrm>
          <a:prstGeom prst="rect">
            <a:avLst/>
          </a:prstGeom>
          <a:noFill/>
          <a:ln w="0">
            <a:noFill/>
          </a:ln>
        </p:spPr>
        <p:txBody>
          <a:bodyPr anchor="ctr">
            <a:noAutofit/>
          </a:bodyPr>
          <a:lstStyle>
            <a:defPPr>
              <a:defRPr sz="210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Each principle answers a design question about the same coffee shop system.</a:t>
            </a:r>
          </a:p>
        </p:txBody>
      </p:sp>
    </p:spTree>
    <p:extLst>
      <p:ext uri="{BB962C8B-B14F-4D97-AF65-F5344CB8AC3E}">
        <p14:creationId xmlns:p14="http://schemas.microsoft.com/office/powerpoint/2010/main" val="66912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5DAFA4F-568B-4143-9130-4CB84882C4E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EF19A2A4-EAE8-49BB-A25B-638DE5BF4B87}"/>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Common Example: A Coffee Shop Order</a:t>
            </a:r>
          </a:p>
        </p:txBody>
      </p:sp>
      <p:sp>
        <p:nvSpPr>
          <p:cNvPr id="3" name="Rectangle 2">
            <a:extLst>
              <a:ext uri="{FF2B5EF4-FFF2-40B4-BE49-F238E27FC236}">
                <a16:creationId xmlns:a16="http://schemas.microsoft.com/office/drawing/2014/main" id="{43BED59F-7A8C-4F93-9EFC-03206DC36B6E}"/>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GRASP </a:t>
            </a:r>
          </a:p>
        </p:txBody>
      </p:sp>
      <p:sp>
        <p:nvSpPr>
          <p:cNvPr id="4" name="Rectangle 3">
            <a:extLst>
              <a:ext uri="{FF2B5EF4-FFF2-40B4-BE49-F238E27FC236}">
                <a16:creationId xmlns:a16="http://schemas.microsoft.com/office/drawing/2014/main" id="{A5F955C8-F512-4E7B-8283-6843E9DBCECA}"/>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05</a:t>
            </a:r>
          </a:p>
        </p:txBody>
      </p:sp>
      <p:sp>
        <p:nvSpPr>
          <p:cNvPr id="5" name="Rectangle 4">
            <a:extLst>
              <a:ext uri="{FF2B5EF4-FFF2-40B4-BE49-F238E27FC236}">
                <a16:creationId xmlns:a16="http://schemas.microsoft.com/office/drawing/2014/main" id="{CAF2B362-CBB5-4318-8F94-D282B8C6B086}"/>
              </a:ext>
            </a:extLst>
          </p:cNvPr>
          <p:cNvSpPr>
            <a:spLocks noGrp="1"/>
          </p:cNvSpPr>
          <p:nvPr/>
        </p:nvSpPr>
        <p:spPr>
          <a:xfrm>
            <a:off x="695325" y="1210374"/>
            <a:ext cx="2381250" cy="1038225"/>
          </a:xfrm>
          <a:prstGeom prst="rect">
            <a:avLst/>
          </a:prstGeom>
          <a:solidFill>
            <a:srgbClr val="DDF2D5"/>
          </a:solidFill>
          <a:ln w="9525">
            <a:solidFill>
              <a:srgbClr val="002060"/>
            </a:solidFill>
          </a:ln>
        </p:spPr>
        <p:txBody>
          <a:bodyPr/>
          <a:lstStyle/>
          <a:p>
            <a:endParaRPr sz="2400"/>
          </a:p>
        </p:txBody>
      </p:sp>
      <p:sp>
        <p:nvSpPr>
          <p:cNvPr id="6" name="Rectangle 5">
            <a:extLst>
              <a:ext uri="{FF2B5EF4-FFF2-40B4-BE49-F238E27FC236}">
                <a16:creationId xmlns:a16="http://schemas.microsoft.com/office/drawing/2014/main" id="{5C1D64FC-FB7D-48BE-9871-DB7B516B55E0}"/>
              </a:ext>
            </a:extLst>
          </p:cNvPr>
          <p:cNvSpPr>
            <a:spLocks noGrp="1"/>
          </p:cNvSpPr>
          <p:nvPr/>
        </p:nvSpPr>
        <p:spPr>
          <a:xfrm>
            <a:off x="771525" y="1267524"/>
            <a:ext cx="2228850" cy="923925"/>
          </a:xfrm>
          <a:prstGeom prst="rect">
            <a:avLst/>
          </a:prstGeom>
          <a:noFill/>
          <a:ln w="0">
            <a:noFill/>
          </a:ln>
        </p:spPr>
        <p:txBody>
          <a:bodyPr anchor="ctr">
            <a:no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CustomerUI</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accepts selection</a:t>
            </a:r>
          </a:p>
        </p:txBody>
      </p:sp>
      <p:sp>
        <p:nvSpPr>
          <p:cNvPr id="7" name="Rectangle 6">
            <a:extLst>
              <a:ext uri="{FF2B5EF4-FFF2-40B4-BE49-F238E27FC236}">
                <a16:creationId xmlns:a16="http://schemas.microsoft.com/office/drawing/2014/main" id="{FB99FBD2-F416-4E76-BD5F-F83567482956}"/>
              </a:ext>
            </a:extLst>
          </p:cNvPr>
          <p:cNvSpPr>
            <a:spLocks noGrp="1"/>
          </p:cNvSpPr>
          <p:nvPr/>
        </p:nvSpPr>
        <p:spPr>
          <a:xfrm>
            <a:off x="3943350" y="1210374"/>
            <a:ext cx="3124200" cy="1038225"/>
          </a:xfrm>
          <a:prstGeom prst="rect">
            <a:avLst/>
          </a:prstGeom>
          <a:solidFill>
            <a:srgbClr val="DDEBF3"/>
          </a:solidFill>
          <a:ln w="9525">
            <a:solidFill>
              <a:srgbClr val="002060"/>
            </a:solidFill>
          </a:ln>
        </p:spPr>
        <p:txBody>
          <a:bodyPr/>
          <a:lstStyle/>
          <a:p>
            <a:endParaRPr sz="2400"/>
          </a:p>
        </p:txBody>
      </p:sp>
      <p:sp>
        <p:nvSpPr>
          <p:cNvPr id="8" name="Rectangle 7">
            <a:extLst>
              <a:ext uri="{FF2B5EF4-FFF2-40B4-BE49-F238E27FC236}">
                <a16:creationId xmlns:a16="http://schemas.microsoft.com/office/drawing/2014/main" id="{ED6114AA-AF82-43AB-8BC7-B54657DAEFC6}"/>
              </a:ext>
            </a:extLst>
          </p:cNvPr>
          <p:cNvSpPr>
            <a:spLocks noGrp="1"/>
          </p:cNvSpPr>
          <p:nvPr/>
        </p:nvSpPr>
        <p:spPr>
          <a:xfrm>
            <a:off x="4019550" y="1267524"/>
            <a:ext cx="2971800"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OrderController</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coordinates order</a:t>
            </a:r>
          </a:p>
        </p:txBody>
      </p:sp>
      <p:sp>
        <p:nvSpPr>
          <p:cNvPr id="9" name="Rectangle 8">
            <a:extLst>
              <a:ext uri="{FF2B5EF4-FFF2-40B4-BE49-F238E27FC236}">
                <a16:creationId xmlns:a16="http://schemas.microsoft.com/office/drawing/2014/main" id="{CAA94118-C0BE-4AD1-B3CA-C90AD6A3B24A}"/>
              </a:ext>
            </a:extLst>
          </p:cNvPr>
          <p:cNvSpPr>
            <a:spLocks noGrp="1"/>
          </p:cNvSpPr>
          <p:nvPr/>
        </p:nvSpPr>
        <p:spPr>
          <a:xfrm>
            <a:off x="7972425" y="1210374"/>
            <a:ext cx="3305175" cy="1038225"/>
          </a:xfrm>
          <a:prstGeom prst="rect">
            <a:avLst/>
          </a:prstGeom>
          <a:solidFill>
            <a:srgbClr val="F6C6AD"/>
          </a:solidFill>
          <a:ln w="9525">
            <a:solidFill>
              <a:srgbClr val="002060"/>
            </a:solidFill>
          </a:ln>
        </p:spPr>
        <p:txBody>
          <a:bodyPr/>
          <a:lstStyle/>
          <a:p>
            <a:endParaRPr sz="2400"/>
          </a:p>
        </p:txBody>
      </p:sp>
      <p:sp>
        <p:nvSpPr>
          <p:cNvPr id="10" name="Rectangle 9">
            <a:extLst>
              <a:ext uri="{FF2B5EF4-FFF2-40B4-BE49-F238E27FC236}">
                <a16:creationId xmlns:a16="http://schemas.microsoft.com/office/drawing/2014/main" id="{31348566-DBA9-493B-B810-7AE6EA09892D}"/>
              </a:ext>
            </a:extLst>
          </p:cNvPr>
          <p:cNvSpPr>
            <a:spLocks noGrp="1"/>
          </p:cNvSpPr>
          <p:nvPr/>
        </p:nvSpPr>
        <p:spPr>
          <a:xfrm>
            <a:off x="8048625" y="1267524"/>
            <a:ext cx="3152775"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Order</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contains items</a:t>
            </a:r>
          </a:p>
        </p:txBody>
      </p:sp>
      <p:sp>
        <p:nvSpPr>
          <p:cNvPr id="11" name="Rectangle 10">
            <a:extLst>
              <a:ext uri="{FF2B5EF4-FFF2-40B4-BE49-F238E27FC236}">
                <a16:creationId xmlns:a16="http://schemas.microsoft.com/office/drawing/2014/main" id="{102FC58B-D5B2-4640-B596-6B8A4D069C95}"/>
              </a:ext>
            </a:extLst>
          </p:cNvPr>
          <p:cNvSpPr>
            <a:spLocks noGrp="1"/>
          </p:cNvSpPr>
          <p:nvPr/>
        </p:nvSpPr>
        <p:spPr>
          <a:xfrm>
            <a:off x="3076575" y="1715199"/>
            <a:ext cx="866775" cy="28575"/>
          </a:xfrm>
          <a:prstGeom prst="rect">
            <a:avLst/>
          </a:prstGeom>
          <a:solidFill>
            <a:srgbClr val="002060"/>
          </a:solidFill>
          <a:ln w="0">
            <a:noFill/>
          </a:ln>
        </p:spPr>
        <p:txBody>
          <a:bodyPr/>
          <a:lstStyle/>
          <a:p>
            <a:endParaRPr sz="2400"/>
          </a:p>
        </p:txBody>
      </p:sp>
      <p:sp>
        <p:nvSpPr>
          <p:cNvPr id="12" name="Rectangle 11">
            <a:extLst>
              <a:ext uri="{FF2B5EF4-FFF2-40B4-BE49-F238E27FC236}">
                <a16:creationId xmlns:a16="http://schemas.microsoft.com/office/drawing/2014/main" id="{CC0F2C92-0CB6-4C91-B840-5C5EDA3FA209}"/>
              </a:ext>
            </a:extLst>
          </p:cNvPr>
          <p:cNvSpPr>
            <a:spLocks noGrp="1"/>
          </p:cNvSpPr>
          <p:nvPr/>
        </p:nvSpPr>
        <p:spPr>
          <a:xfrm>
            <a:off x="7067550" y="1715199"/>
            <a:ext cx="904875" cy="28575"/>
          </a:xfrm>
          <a:prstGeom prst="rect">
            <a:avLst/>
          </a:prstGeom>
          <a:solidFill>
            <a:srgbClr val="002060"/>
          </a:solidFill>
          <a:ln w="0">
            <a:noFill/>
          </a:ln>
        </p:spPr>
        <p:txBody>
          <a:bodyPr/>
          <a:lstStyle/>
          <a:p>
            <a:endParaRPr sz="2400"/>
          </a:p>
        </p:txBody>
      </p:sp>
      <p:sp>
        <p:nvSpPr>
          <p:cNvPr id="13" name="Rectangle 12">
            <a:extLst>
              <a:ext uri="{FF2B5EF4-FFF2-40B4-BE49-F238E27FC236}">
                <a16:creationId xmlns:a16="http://schemas.microsoft.com/office/drawing/2014/main" id="{91910AB0-0E93-4C83-8373-9AE8EAA3713B}"/>
              </a:ext>
            </a:extLst>
          </p:cNvPr>
          <p:cNvSpPr>
            <a:spLocks noGrp="1"/>
          </p:cNvSpPr>
          <p:nvPr/>
        </p:nvSpPr>
        <p:spPr>
          <a:xfrm>
            <a:off x="619125" y="2604974"/>
            <a:ext cx="10944225" cy="2333625"/>
          </a:xfrm>
          <a:prstGeom prst="rect">
            <a:avLst/>
          </a:prstGeom>
          <a:solidFill>
            <a:srgbClr val="DDEBF3"/>
          </a:solidFill>
          <a:ln w="0">
            <a:noFill/>
          </a:ln>
        </p:spPr>
        <p:txBody>
          <a:bodyPr/>
          <a:lstStyle/>
          <a:p>
            <a:endParaRPr sz="2400"/>
          </a:p>
        </p:txBody>
      </p:sp>
      <p:sp>
        <p:nvSpPr>
          <p:cNvPr id="14" name="Rectangle 13">
            <a:extLst>
              <a:ext uri="{FF2B5EF4-FFF2-40B4-BE49-F238E27FC236}">
                <a16:creationId xmlns:a16="http://schemas.microsoft.com/office/drawing/2014/main" id="{E7AFD6C0-2865-4CE8-8F95-4DFDBE92695D}"/>
              </a:ext>
            </a:extLst>
          </p:cNvPr>
          <p:cNvSpPr>
            <a:spLocks noGrp="1"/>
          </p:cNvSpPr>
          <p:nvPr/>
        </p:nvSpPr>
        <p:spPr>
          <a:xfrm>
            <a:off x="790575" y="2735072"/>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The basic use case</a:t>
            </a:r>
          </a:p>
        </p:txBody>
      </p:sp>
      <p:sp>
        <p:nvSpPr>
          <p:cNvPr id="15" name="Rectangle 14">
            <a:extLst>
              <a:ext uri="{FF2B5EF4-FFF2-40B4-BE49-F238E27FC236}">
                <a16:creationId xmlns:a16="http://schemas.microsoft.com/office/drawing/2014/main" id="{C4562366-F52D-4C56-ACA3-2FE98E815AE7}"/>
              </a:ext>
            </a:extLst>
          </p:cNvPr>
          <p:cNvSpPr>
            <a:spLocks noGrp="1"/>
          </p:cNvSpPr>
          <p:nvPr/>
        </p:nvSpPr>
        <p:spPr>
          <a:xfrm>
            <a:off x="790575" y="3182747"/>
            <a:ext cx="10267950" cy="1095375"/>
          </a:xfrm>
          <a:prstGeom prst="rect">
            <a:avLst/>
          </a:prstGeom>
          <a:noFill/>
          <a:ln w="0">
            <a:noFill/>
          </a:ln>
        </p:spPr>
        <p:txBody>
          <a:bodyPr anchor="ctr">
            <a:noAutofit/>
          </a:bodyPr>
          <a:lstStyle>
            <a:defPPr>
              <a:defRPr sz="2175" b="0">
                <a:solidFill>
                  <a:srgbClr val="1D1D1D"/>
                </a:solidFill>
                <a:latin typeface="Times New Roman"/>
                <a:ea typeface="Times New Roman"/>
                <a:cs typeface="Times New Roman"/>
              </a:defRPr>
            </a:defPPr>
          </a:lstStyle>
          <a:p>
            <a:pPr lvl="0">
              <a:buNone/>
              <a:defRPr sz="2175" b="0">
                <a:solidFill>
                  <a:srgbClr val="1D1D1D"/>
                </a:solidFill>
              </a:defRPr>
            </a:pPr>
            <a:r>
              <a:rPr sz="2400" b="0">
                <a:solidFill>
                  <a:srgbClr val="1D1D1D"/>
                </a:solidFill>
                <a:latin typeface="Times New Roman"/>
                <a:ea typeface="Times New Roman"/>
                <a:cs typeface="Times New Roman"/>
              </a:rPr>
              <a:t>A customer orders two coffees at Rs. 100 each.</a:t>
            </a:r>
          </a:p>
          <a:p>
            <a:pPr lvl="0">
              <a:buNone/>
              <a:defRPr sz="2175" b="0">
                <a:solidFill>
                  <a:srgbClr val="1D1D1D"/>
                </a:solidFill>
              </a:defRPr>
            </a:pPr>
            <a:r>
              <a:rPr sz="2400" b="0">
                <a:solidFill>
                  <a:srgbClr val="1D1D1D"/>
                </a:solidFill>
                <a:latin typeface="Times New Roman"/>
                <a:ea typeface="Times New Roman"/>
                <a:cs typeface="Times New Roman"/>
              </a:rPr>
              <a:t>The system creates order items, calculates Rs. 200, and accepts payment.</a:t>
            </a:r>
          </a:p>
          <a:p>
            <a:pPr lvl="0">
              <a:buNone/>
              <a:defRPr sz="2175" b="0">
                <a:solidFill>
                  <a:srgbClr val="1D1D1D"/>
                </a:solidFill>
              </a:defRPr>
            </a:pPr>
            <a:r>
              <a:rPr sz="2400" b="0">
                <a:solidFill>
                  <a:srgbClr val="1D1D1D"/>
                </a:solidFill>
                <a:latin typeface="Times New Roman"/>
                <a:ea typeface="Times New Roman"/>
                <a:cs typeface="Times New Roman"/>
              </a:rPr>
              <a:t>The customer may pay with cash or a card.</a:t>
            </a:r>
          </a:p>
        </p:txBody>
      </p:sp>
      <p:sp>
        <p:nvSpPr>
          <p:cNvPr id="16" name="Rectangle 15">
            <a:extLst>
              <a:ext uri="{FF2B5EF4-FFF2-40B4-BE49-F238E27FC236}">
                <a16:creationId xmlns:a16="http://schemas.microsoft.com/office/drawing/2014/main" id="{8E1DEE3D-5D9D-4D88-A701-A21F8F43D12E}"/>
              </a:ext>
            </a:extLst>
          </p:cNvPr>
          <p:cNvSpPr>
            <a:spLocks noGrp="1"/>
          </p:cNvSpPr>
          <p:nvPr/>
        </p:nvSpPr>
        <p:spPr>
          <a:xfrm>
            <a:off x="790575" y="4382897"/>
            <a:ext cx="10172700" cy="333375"/>
          </a:xfrm>
          <a:prstGeom prst="rect">
            <a:avLst/>
          </a:prstGeom>
          <a:noFill/>
          <a:ln w="0">
            <a:noFill/>
          </a:ln>
        </p:spPr>
        <p:txBody>
          <a:bodyPr anchor="ctr">
            <a:noAutofit/>
          </a:bodyPr>
          <a:lstStyle>
            <a:defPPr>
              <a:defRPr sz="1950" b="1">
                <a:solidFill>
                  <a:srgbClr val="06235E"/>
                </a:solidFill>
                <a:latin typeface="Times New Roman"/>
                <a:ea typeface="Times New Roman"/>
                <a:cs typeface="Times New Roman"/>
              </a:defRPr>
            </a:defPPr>
          </a:lstStyle>
          <a:p>
            <a:pPr algn="l">
              <a:buNone/>
              <a:defRPr sz="19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One example connects all nine responsibility decisions.</a:t>
            </a:r>
          </a:p>
        </p:txBody>
      </p:sp>
    </p:spTree>
    <p:extLst>
      <p:ext uri="{BB962C8B-B14F-4D97-AF65-F5344CB8AC3E}">
        <p14:creationId xmlns:p14="http://schemas.microsoft.com/office/powerpoint/2010/main" val="1688221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1. Information Expert</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06</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19125" y="1119188"/>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Give a job to the object that has the information needed to perform it.</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Who knows the data?</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OrderItem knows price and quantity, so it calculates its subtotal.</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 knows its items, so it adds their subtotals. Two coffees at Rs. 100 give a total of Rs. 200.</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OrderItem calculates. Order adds the results.</a:t>
            </a:r>
          </a:p>
        </p:txBody>
      </p:sp>
    </p:spTree>
    <p:extLst>
      <p:ext uri="{BB962C8B-B14F-4D97-AF65-F5344CB8AC3E}">
        <p14:creationId xmlns:p14="http://schemas.microsoft.com/office/powerpoint/2010/main" val="290003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pPr marL="0" algn="l" defTabSz="914400" rtl="0">
              <a:buNone/>
            </a:pPr>
            <a:endParaRPr sz="2400" dirty="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2. Creator</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07</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148590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Let a suitable object create the objects it contains or closely uses.</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Who creates the item?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 contains OrderItem objects. It is a natural place to create them.</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Order.addItem(100, 2) creates an item and adds it to the current order.</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Containment gives us a useful clue about creation.</a:t>
            </a:r>
          </a:p>
        </p:txBody>
      </p:sp>
    </p:spTree>
    <p:extLst>
      <p:ext uri="{BB962C8B-B14F-4D97-AF65-F5344CB8AC3E}">
        <p14:creationId xmlns:p14="http://schemas.microsoft.com/office/powerpoint/2010/main" val="29000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5DAFA4F-568B-4143-9130-4CB84882C4E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EF19A2A4-EAE8-49BB-A25B-638DE5BF4B87}"/>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3. Controller</a:t>
            </a:r>
          </a:p>
        </p:txBody>
      </p:sp>
      <p:sp>
        <p:nvSpPr>
          <p:cNvPr id="3" name="Rectangle 2">
            <a:extLst>
              <a:ext uri="{FF2B5EF4-FFF2-40B4-BE49-F238E27FC236}">
                <a16:creationId xmlns:a16="http://schemas.microsoft.com/office/drawing/2014/main" id="{43BED59F-7A8C-4F93-9EFC-03206DC36B6E}"/>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a:solidFill>
                  <a:srgbClr val="0000FF"/>
                </a:solidFill>
                <a:latin typeface="Times New Roman"/>
                <a:ea typeface="Times New Roman"/>
                <a:cs typeface="Times New Roman"/>
              </a:rPr>
              <a:t>GRASP AND ANTI-PATTERNS</a:t>
            </a:r>
          </a:p>
        </p:txBody>
      </p:sp>
      <p:sp>
        <p:nvSpPr>
          <p:cNvPr id="4" name="Rectangle 3">
            <a:extLst>
              <a:ext uri="{FF2B5EF4-FFF2-40B4-BE49-F238E27FC236}">
                <a16:creationId xmlns:a16="http://schemas.microsoft.com/office/drawing/2014/main" id="{A5F955C8-F512-4E7B-8283-6843E9DBCECA}"/>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08</a:t>
            </a:r>
          </a:p>
        </p:txBody>
      </p:sp>
      <p:sp>
        <p:nvSpPr>
          <p:cNvPr id="5" name="Rectangle 4">
            <a:extLst>
              <a:ext uri="{FF2B5EF4-FFF2-40B4-BE49-F238E27FC236}">
                <a16:creationId xmlns:a16="http://schemas.microsoft.com/office/drawing/2014/main" id="{CAF2B362-CBB5-4318-8F94-D282B8C6B086}"/>
              </a:ext>
            </a:extLst>
          </p:cNvPr>
          <p:cNvSpPr>
            <a:spLocks noGrp="1"/>
          </p:cNvSpPr>
          <p:nvPr/>
        </p:nvSpPr>
        <p:spPr>
          <a:xfrm>
            <a:off x="695325" y="1210374"/>
            <a:ext cx="2381250" cy="1038225"/>
          </a:xfrm>
          <a:prstGeom prst="rect">
            <a:avLst/>
          </a:prstGeom>
          <a:solidFill>
            <a:srgbClr val="DDF2D5"/>
          </a:solidFill>
          <a:ln w="9525">
            <a:solidFill>
              <a:srgbClr val="002060"/>
            </a:solidFill>
          </a:ln>
        </p:spPr>
        <p:txBody>
          <a:bodyPr/>
          <a:lstStyle/>
          <a:p>
            <a:endParaRPr/>
          </a:p>
        </p:txBody>
      </p:sp>
      <p:sp>
        <p:nvSpPr>
          <p:cNvPr id="6" name="Rectangle 5">
            <a:extLst>
              <a:ext uri="{FF2B5EF4-FFF2-40B4-BE49-F238E27FC236}">
                <a16:creationId xmlns:a16="http://schemas.microsoft.com/office/drawing/2014/main" id="{5C1D64FC-FB7D-48BE-9871-DB7B516B55E0}"/>
              </a:ext>
            </a:extLst>
          </p:cNvPr>
          <p:cNvSpPr>
            <a:spLocks noGrp="1"/>
          </p:cNvSpPr>
          <p:nvPr/>
        </p:nvSpPr>
        <p:spPr>
          <a:xfrm>
            <a:off x="771525" y="1267524"/>
            <a:ext cx="2228850"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CustomerUI</a:t>
            </a:r>
          </a:p>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checkout event</a:t>
            </a:r>
          </a:p>
        </p:txBody>
      </p:sp>
      <p:sp>
        <p:nvSpPr>
          <p:cNvPr id="7" name="Rectangle 6">
            <a:extLst>
              <a:ext uri="{FF2B5EF4-FFF2-40B4-BE49-F238E27FC236}">
                <a16:creationId xmlns:a16="http://schemas.microsoft.com/office/drawing/2014/main" id="{FB99FBD2-F416-4E76-BD5F-F83567482956}"/>
              </a:ext>
            </a:extLst>
          </p:cNvPr>
          <p:cNvSpPr>
            <a:spLocks noGrp="1"/>
          </p:cNvSpPr>
          <p:nvPr/>
        </p:nvSpPr>
        <p:spPr>
          <a:xfrm>
            <a:off x="3943350" y="1210374"/>
            <a:ext cx="3124200" cy="1038225"/>
          </a:xfrm>
          <a:prstGeom prst="rect">
            <a:avLst/>
          </a:prstGeom>
          <a:solidFill>
            <a:srgbClr val="DDEBF3"/>
          </a:solidFill>
          <a:ln w="9525">
            <a:solidFill>
              <a:srgbClr val="002060"/>
            </a:solidFill>
          </a:ln>
        </p:spPr>
        <p:txBody>
          <a:bodyPr/>
          <a:lstStyle/>
          <a:p>
            <a:endParaRPr/>
          </a:p>
        </p:txBody>
      </p:sp>
      <p:sp>
        <p:nvSpPr>
          <p:cNvPr id="8" name="Rectangle 7">
            <a:extLst>
              <a:ext uri="{FF2B5EF4-FFF2-40B4-BE49-F238E27FC236}">
                <a16:creationId xmlns:a16="http://schemas.microsoft.com/office/drawing/2014/main" id="{ED6114AA-AF82-43AB-8BC7-B54657DAEFC6}"/>
              </a:ext>
            </a:extLst>
          </p:cNvPr>
          <p:cNvSpPr>
            <a:spLocks noGrp="1"/>
          </p:cNvSpPr>
          <p:nvPr/>
        </p:nvSpPr>
        <p:spPr>
          <a:xfrm>
            <a:off x="4019550" y="1267524"/>
            <a:ext cx="2971800"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OrderController</a:t>
            </a:r>
          </a:p>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receives request</a:t>
            </a:r>
          </a:p>
        </p:txBody>
      </p:sp>
      <p:sp>
        <p:nvSpPr>
          <p:cNvPr id="9" name="Rectangle 8">
            <a:extLst>
              <a:ext uri="{FF2B5EF4-FFF2-40B4-BE49-F238E27FC236}">
                <a16:creationId xmlns:a16="http://schemas.microsoft.com/office/drawing/2014/main" id="{CAA94118-C0BE-4AD1-B3CA-C90AD6A3B24A}"/>
              </a:ext>
            </a:extLst>
          </p:cNvPr>
          <p:cNvSpPr>
            <a:spLocks noGrp="1"/>
          </p:cNvSpPr>
          <p:nvPr/>
        </p:nvSpPr>
        <p:spPr>
          <a:xfrm>
            <a:off x="7972425" y="1210374"/>
            <a:ext cx="3305175" cy="1038225"/>
          </a:xfrm>
          <a:prstGeom prst="rect">
            <a:avLst/>
          </a:prstGeom>
          <a:solidFill>
            <a:srgbClr val="F6C6AD"/>
          </a:solidFill>
          <a:ln w="9525">
            <a:solidFill>
              <a:srgbClr val="002060"/>
            </a:solidFill>
          </a:ln>
        </p:spPr>
        <p:txBody>
          <a:bodyPr/>
          <a:lstStyle/>
          <a:p>
            <a:endParaRPr/>
          </a:p>
        </p:txBody>
      </p:sp>
      <p:sp>
        <p:nvSpPr>
          <p:cNvPr id="10" name="Rectangle 9">
            <a:extLst>
              <a:ext uri="{FF2B5EF4-FFF2-40B4-BE49-F238E27FC236}">
                <a16:creationId xmlns:a16="http://schemas.microsoft.com/office/drawing/2014/main" id="{31348566-DBA9-493B-B810-7AE6EA09892D}"/>
              </a:ext>
            </a:extLst>
          </p:cNvPr>
          <p:cNvSpPr>
            <a:spLocks noGrp="1"/>
          </p:cNvSpPr>
          <p:nvPr/>
        </p:nvSpPr>
        <p:spPr>
          <a:xfrm>
            <a:off x="8048625" y="1267524"/>
            <a:ext cx="3152775"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Order</a:t>
            </a:r>
          </a:p>
          <a:p>
            <a:pPr algn="ctr">
              <a:buNone/>
              <a:defRPr sz="1875" b="1">
                <a:solidFill>
                  <a:srgbClr val="06235E"/>
                </a:solidFill>
                <a:latin typeface="Times New Roman"/>
                <a:ea typeface="Times New Roman"/>
                <a:cs typeface="Times New Roman"/>
              </a:defRPr>
            </a:pPr>
            <a:r>
              <a:rPr sz="1875" b="1">
                <a:solidFill>
                  <a:srgbClr val="06235E"/>
                </a:solidFill>
                <a:latin typeface="Times New Roman"/>
                <a:ea typeface="Times New Roman"/>
                <a:cs typeface="Times New Roman"/>
              </a:rPr>
              <a:t>calculates total</a:t>
            </a:r>
          </a:p>
        </p:txBody>
      </p:sp>
      <p:sp>
        <p:nvSpPr>
          <p:cNvPr id="11" name="Rectangle 10">
            <a:extLst>
              <a:ext uri="{FF2B5EF4-FFF2-40B4-BE49-F238E27FC236}">
                <a16:creationId xmlns:a16="http://schemas.microsoft.com/office/drawing/2014/main" id="{102FC58B-D5B2-4640-B596-6B8A4D069C95}"/>
              </a:ext>
            </a:extLst>
          </p:cNvPr>
          <p:cNvSpPr>
            <a:spLocks noGrp="1"/>
          </p:cNvSpPr>
          <p:nvPr/>
        </p:nvSpPr>
        <p:spPr>
          <a:xfrm>
            <a:off x="3076575" y="1715199"/>
            <a:ext cx="866775" cy="28575"/>
          </a:xfrm>
          <a:prstGeom prst="rect">
            <a:avLst/>
          </a:prstGeom>
          <a:solidFill>
            <a:srgbClr val="002060"/>
          </a:solidFill>
          <a:ln w="0">
            <a:noFill/>
          </a:ln>
        </p:spPr>
        <p:txBody>
          <a:bodyPr/>
          <a:lstStyle/>
          <a:p>
            <a:endParaRPr/>
          </a:p>
        </p:txBody>
      </p:sp>
      <p:sp>
        <p:nvSpPr>
          <p:cNvPr id="12" name="Rectangle 11">
            <a:extLst>
              <a:ext uri="{FF2B5EF4-FFF2-40B4-BE49-F238E27FC236}">
                <a16:creationId xmlns:a16="http://schemas.microsoft.com/office/drawing/2014/main" id="{CC0F2C92-0CB6-4C91-B840-5C5EDA3FA209}"/>
              </a:ext>
            </a:extLst>
          </p:cNvPr>
          <p:cNvSpPr>
            <a:spLocks noGrp="1"/>
          </p:cNvSpPr>
          <p:nvPr/>
        </p:nvSpPr>
        <p:spPr>
          <a:xfrm>
            <a:off x="7067550" y="1715199"/>
            <a:ext cx="904875" cy="28575"/>
          </a:xfrm>
          <a:prstGeom prst="rect">
            <a:avLst/>
          </a:prstGeom>
          <a:solidFill>
            <a:srgbClr val="002060"/>
          </a:solidFill>
          <a:ln w="0">
            <a:noFill/>
          </a:ln>
        </p:spPr>
        <p:txBody>
          <a:bodyPr/>
          <a:lstStyle/>
          <a:p>
            <a:endParaRPr/>
          </a:p>
        </p:txBody>
      </p:sp>
      <p:sp>
        <p:nvSpPr>
          <p:cNvPr id="13" name="Rectangle 12">
            <a:extLst>
              <a:ext uri="{FF2B5EF4-FFF2-40B4-BE49-F238E27FC236}">
                <a16:creationId xmlns:a16="http://schemas.microsoft.com/office/drawing/2014/main" id="{91910AB0-0E93-4C83-8373-9AE8EAA3713B}"/>
              </a:ext>
            </a:extLst>
          </p:cNvPr>
          <p:cNvSpPr>
            <a:spLocks noGrp="1"/>
          </p:cNvSpPr>
          <p:nvPr/>
        </p:nvSpPr>
        <p:spPr>
          <a:xfrm>
            <a:off x="619125" y="2604974"/>
            <a:ext cx="10944225" cy="2333625"/>
          </a:xfrm>
          <a:prstGeom prst="rect">
            <a:avLst/>
          </a:prstGeom>
          <a:solidFill>
            <a:srgbClr val="DDEBF3"/>
          </a:solidFill>
          <a:ln w="0">
            <a:noFill/>
          </a:ln>
        </p:spPr>
        <p:txBody>
          <a:bodyPr/>
          <a:lstStyle/>
          <a:p>
            <a:endParaRPr/>
          </a:p>
        </p:txBody>
      </p:sp>
      <p:sp>
        <p:nvSpPr>
          <p:cNvPr id="14" name="Rectangle 13">
            <a:extLst>
              <a:ext uri="{FF2B5EF4-FFF2-40B4-BE49-F238E27FC236}">
                <a16:creationId xmlns:a16="http://schemas.microsoft.com/office/drawing/2014/main" id="{E7AFD6C0-2865-4CE8-8F95-4DFDBE92695D}"/>
              </a:ext>
            </a:extLst>
          </p:cNvPr>
          <p:cNvSpPr>
            <a:spLocks noGrp="1"/>
          </p:cNvSpPr>
          <p:nvPr/>
        </p:nvSpPr>
        <p:spPr>
          <a:xfrm>
            <a:off x="790575" y="2735072"/>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A controller coordinates a system request</a:t>
            </a:r>
          </a:p>
        </p:txBody>
      </p:sp>
      <p:sp>
        <p:nvSpPr>
          <p:cNvPr id="15" name="Rectangle 14">
            <a:extLst>
              <a:ext uri="{FF2B5EF4-FFF2-40B4-BE49-F238E27FC236}">
                <a16:creationId xmlns:a16="http://schemas.microsoft.com/office/drawing/2014/main" id="{C4562366-F52D-4C56-ACA3-2FE98E815AE7}"/>
              </a:ext>
            </a:extLst>
          </p:cNvPr>
          <p:cNvSpPr>
            <a:spLocks noGrp="1"/>
          </p:cNvSpPr>
          <p:nvPr/>
        </p:nvSpPr>
        <p:spPr>
          <a:xfrm>
            <a:off x="790575" y="3182747"/>
            <a:ext cx="10267950" cy="10953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lvl="0">
              <a:buNone/>
              <a:defRPr sz="2175" b="0">
                <a:solidFill>
                  <a:srgbClr val="1D1D1D"/>
                </a:solidFill>
              </a:defRPr>
            </a:pPr>
            <a:r>
              <a:rPr sz="2175" b="0">
                <a:solidFill>
                  <a:srgbClr val="1D1D1D"/>
                </a:solidFill>
                <a:latin typeface="Times New Roman"/>
                <a:ea typeface="Times New Roman"/>
                <a:cs typeface="Times New Roman"/>
              </a:rPr>
              <a:t>The customer clicks Pay. CustomerUI forwards the request to OrderController.</a:t>
            </a:r>
          </a:p>
          <a:p>
            <a:pPr lvl="0">
              <a:buNone/>
              <a:defRPr sz="2175" b="0">
                <a:solidFill>
                  <a:srgbClr val="1D1D1D"/>
                </a:solidFill>
              </a:defRPr>
            </a:pPr>
            <a:r>
              <a:rPr sz="2175" b="0">
                <a:solidFill>
                  <a:srgbClr val="1D1D1D"/>
                </a:solidFill>
                <a:latin typeface="Times New Roman"/>
                <a:ea typeface="Times New Roman"/>
                <a:cs typeface="Times New Roman"/>
              </a:rPr>
              <a:t>The controller asks Order for the total and asks a payment object to handle it.</a:t>
            </a:r>
          </a:p>
          <a:p>
            <a:pPr lvl="0">
              <a:buNone/>
              <a:defRPr sz="2175" b="0">
                <a:solidFill>
                  <a:srgbClr val="1D1D1D"/>
                </a:solidFill>
              </a:defRPr>
            </a:pPr>
            <a:r>
              <a:rPr sz="2175" b="0">
                <a:solidFill>
                  <a:srgbClr val="1D1D1D"/>
                </a:solidFill>
                <a:latin typeface="Times New Roman"/>
                <a:ea typeface="Times New Roman"/>
                <a:cs typeface="Times New Roman"/>
              </a:rPr>
              <a:t>Each object performs its own job.</a:t>
            </a:r>
          </a:p>
        </p:txBody>
      </p:sp>
      <p:sp>
        <p:nvSpPr>
          <p:cNvPr id="16" name="Rectangle 15">
            <a:extLst>
              <a:ext uri="{FF2B5EF4-FFF2-40B4-BE49-F238E27FC236}">
                <a16:creationId xmlns:a16="http://schemas.microsoft.com/office/drawing/2014/main" id="{8E1DEE3D-5D9D-4D88-A701-A21F8F43D12E}"/>
              </a:ext>
            </a:extLst>
          </p:cNvPr>
          <p:cNvSpPr>
            <a:spLocks noGrp="1"/>
          </p:cNvSpPr>
          <p:nvPr/>
        </p:nvSpPr>
        <p:spPr>
          <a:xfrm>
            <a:off x="790575" y="4382897"/>
            <a:ext cx="10172700" cy="333375"/>
          </a:xfrm>
          <a:prstGeom prst="rect">
            <a:avLst/>
          </a:prstGeom>
          <a:noFill/>
          <a:ln w="0">
            <a:noFill/>
          </a:ln>
        </p:spPr>
        <p:txBody>
          <a:bodyPr anchor="ctr">
            <a:noAutofit/>
          </a:bodyPr>
          <a:lstStyle>
            <a:defPPr>
              <a:defRPr sz="1950" b="1">
                <a:solidFill>
                  <a:srgbClr val="06235E"/>
                </a:solidFill>
                <a:latin typeface="Times New Roman"/>
                <a:ea typeface="Times New Roman"/>
                <a:cs typeface="Times New Roman"/>
              </a:defRPr>
            </a:defPPr>
          </a:lstStyle>
          <a:p>
            <a:pPr algn="l">
              <a:buNone/>
              <a:defRPr sz="1950" b="1">
                <a:solidFill>
                  <a:srgbClr val="06235E"/>
                </a:solidFill>
                <a:latin typeface="Times New Roman"/>
                <a:ea typeface="Times New Roman"/>
                <a:cs typeface="Times New Roman"/>
              </a:defRPr>
            </a:pPr>
            <a:r>
              <a:rPr sz="1950" b="1">
                <a:solidFill>
                  <a:srgbClr val="06235E"/>
                </a:solidFill>
                <a:latin typeface="Times New Roman"/>
                <a:ea typeface="Times New Roman"/>
                <a:cs typeface="Times New Roman"/>
              </a:rPr>
              <a:t>A controller delegates work to suitable objects.</a:t>
            </a:r>
          </a:p>
        </p:txBody>
      </p:sp>
    </p:spTree>
    <p:extLst>
      <p:ext uri="{BB962C8B-B14F-4D97-AF65-F5344CB8AC3E}">
        <p14:creationId xmlns:p14="http://schemas.microsoft.com/office/powerpoint/2010/main" val="168822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523875"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4. Low Coupling</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115675"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09</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495300" y="1229423"/>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Keep dependencies between classes manageable. A dependency means one class needs another class to work.</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495300"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657225"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The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657225"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If the controller knows bank API details, bank changes can affect checkout code.</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772150"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5934075"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5934075"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The controller calls PaymentMethod.pay(). Cash and card implementations hide their own details.</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581025"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Small contracts reduce dependence on implementation details.</a:t>
            </a:r>
          </a:p>
        </p:txBody>
      </p:sp>
    </p:spTree>
    <p:extLst>
      <p:ext uri="{BB962C8B-B14F-4D97-AF65-F5344CB8AC3E}">
        <p14:creationId xmlns:p14="http://schemas.microsoft.com/office/powerpoint/2010/main" val="29000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5. High Cohesion</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10</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116205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Keep closely related responsibilities together. A cohesive class has a clear purpose.</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Focused classes</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 manages items and totals. CustomerUI displays the result.</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OrderRepository saves orders. OrderController coordinates checkout. Each class has a focused job.</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Related jobs belong together in a class.</a:t>
            </a:r>
          </a:p>
        </p:txBody>
      </p:sp>
    </p:spTree>
    <p:extLst>
      <p:ext uri="{BB962C8B-B14F-4D97-AF65-F5344CB8AC3E}">
        <p14:creationId xmlns:p14="http://schemas.microsoft.com/office/powerpoint/2010/main" val="290003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6. Polymorphism</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11</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962025"/>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Put </a:t>
            </a:r>
            <a:r>
              <a:rPr sz="2400" b="1" dirty="0" err="1">
                <a:solidFill>
                  <a:srgbClr val="0000FF"/>
                </a:solidFill>
                <a:latin typeface="Times New Roman"/>
                <a:ea typeface="Times New Roman"/>
                <a:cs typeface="Times New Roman"/>
              </a:rPr>
              <a:t>behaviour</a:t>
            </a:r>
            <a:r>
              <a:rPr sz="2400" b="1" dirty="0">
                <a:solidFill>
                  <a:srgbClr val="0000FF"/>
                </a:solidFill>
                <a:latin typeface="Times New Roman"/>
                <a:ea typeface="Times New Roman"/>
                <a:cs typeface="Times New Roman"/>
              </a:rPr>
              <a:t> that varies by type into the corresponding types. Call it through a common operation.</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One shared operation</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CashPayment and CardPayment both implement PaymentMethod.pay(amount).</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payment.pay(200) runs the implementation belonging to the actual payment object.</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The actual object determines which behaviour runs.</a:t>
            </a:r>
          </a:p>
        </p:txBody>
      </p:sp>
    </p:spTree>
    <p:extLst>
      <p:ext uri="{BB962C8B-B14F-4D97-AF65-F5344CB8AC3E}">
        <p14:creationId xmlns:p14="http://schemas.microsoft.com/office/powerpoint/2010/main" val="290003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7. Pure Fabrication</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12</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Domain objects</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 and OrderItem represent concepts in the coffee shop problem.</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OrderRepository handles database storage, so Order can stay focused on items and totals.</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 useful service keeps technical work separate.</a:t>
            </a:r>
          </a:p>
        </p:txBody>
      </p:sp>
      <p:sp>
        <p:nvSpPr>
          <p:cNvPr id="3" name="Rectangle 2">
            <a:extLst>
              <a:ext uri="{FF2B5EF4-FFF2-40B4-BE49-F238E27FC236}">
                <a16:creationId xmlns:a16="http://schemas.microsoft.com/office/drawing/2014/main" id="{CA1F39C1-5B81-C9F9-5D24-DA5653A4BBDC}"/>
              </a:ext>
            </a:extLst>
          </p:cNvPr>
          <p:cNvSpPr>
            <a:spLocks noGrp="1"/>
          </p:cNvSpPr>
          <p:nvPr/>
        </p:nvSpPr>
        <p:spPr>
          <a:xfrm>
            <a:off x="638175" y="148590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Introduce a service class when a domain class would become less cohesive or more tightly coupled.</a:t>
            </a:r>
          </a:p>
        </p:txBody>
      </p:sp>
    </p:spTree>
    <p:extLst>
      <p:ext uri="{BB962C8B-B14F-4D97-AF65-F5344CB8AC3E}">
        <p14:creationId xmlns:p14="http://schemas.microsoft.com/office/powerpoint/2010/main" val="29000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5DAFA4F-568B-4143-9130-4CB84882C4E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EF19A2A4-EAE8-49BB-A25B-638DE5BF4B87}"/>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8. Indirection</a:t>
            </a:r>
          </a:p>
        </p:txBody>
      </p:sp>
      <p:sp>
        <p:nvSpPr>
          <p:cNvPr id="3" name="Rectangle 2">
            <a:extLst>
              <a:ext uri="{FF2B5EF4-FFF2-40B4-BE49-F238E27FC236}">
                <a16:creationId xmlns:a16="http://schemas.microsoft.com/office/drawing/2014/main" id="{43BED59F-7A8C-4F93-9EFC-03206DC36B6E}"/>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GRASP</a:t>
            </a:r>
          </a:p>
        </p:txBody>
      </p:sp>
      <p:sp>
        <p:nvSpPr>
          <p:cNvPr id="4" name="Rectangle 3">
            <a:extLst>
              <a:ext uri="{FF2B5EF4-FFF2-40B4-BE49-F238E27FC236}">
                <a16:creationId xmlns:a16="http://schemas.microsoft.com/office/drawing/2014/main" id="{A5F955C8-F512-4E7B-8283-6843E9DBCECA}"/>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13</a:t>
            </a:r>
          </a:p>
        </p:txBody>
      </p:sp>
      <p:sp>
        <p:nvSpPr>
          <p:cNvPr id="5" name="Rectangle 4">
            <a:extLst>
              <a:ext uri="{FF2B5EF4-FFF2-40B4-BE49-F238E27FC236}">
                <a16:creationId xmlns:a16="http://schemas.microsoft.com/office/drawing/2014/main" id="{CAF2B362-CBB5-4318-8F94-D282B8C6B086}"/>
              </a:ext>
            </a:extLst>
          </p:cNvPr>
          <p:cNvSpPr>
            <a:spLocks noGrp="1"/>
          </p:cNvSpPr>
          <p:nvPr/>
        </p:nvSpPr>
        <p:spPr>
          <a:xfrm>
            <a:off x="695325" y="1210374"/>
            <a:ext cx="2381250" cy="1038225"/>
          </a:xfrm>
          <a:prstGeom prst="rect">
            <a:avLst/>
          </a:prstGeom>
          <a:solidFill>
            <a:srgbClr val="DDF2D5"/>
          </a:solidFill>
          <a:ln w="9525">
            <a:solidFill>
              <a:srgbClr val="002060"/>
            </a:solidFill>
          </a:ln>
        </p:spPr>
        <p:txBody>
          <a:bodyPr/>
          <a:lstStyle/>
          <a:p>
            <a:endParaRPr sz="2400"/>
          </a:p>
        </p:txBody>
      </p:sp>
      <p:sp>
        <p:nvSpPr>
          <p:cNvPr id="6" name="Rectangle 5">
            <a:extLst>
              <a:ext uri="{FF2B5EF4-FFF2-40B4-BE49-F238E27FC236}">
                <a16:creationId xmlns:a16="http://schemas.microsoft.com/office/drawing/2014/main" id="{5C1D64FC-FB7D-48BE-9871-DB7B516B55E0}"/>
              </a:ext>
            </a:extLst>
          </p:cNvPr>
          <p:cNvSpPr>
            <a:spLocks noGrp="1"/>
          </p:cNvSpPr>
          <p:nvPr/>
        </p:nvSpPr>
        <p:spPr>
          <a:xfrm>
            <a:off x="771525" y="1267524"/>
            <a:ext cx="2228850" cy="923925"/>
          </a:xfrm>
          <a:prstGeom prst="rect">
            <a:avLst/>
          </a:prstGeom>
          <a:noFill/>
          <a:ln w="0">
            <a:noFill/>
          </a:ln>
        </p:spPr>
        <p:txBody>
          <a:bodyPr anchor="ctr">
            <a:no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CardPayment</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requests payment</a:t>
            </a:r>
          </a:p>
        </p:txBody>
      </p:sp>
      <p:sp>
        <p:nvSpPr>
          <p:cNvPr id="7" name="Rectangle 6">
            <a:extLst>
              <a:ext uri="{FF2B5EF4-FFF2-40B4-BE49-F238E27FC236}">
                <a16:creationId xmlns:a16="http://schemas.microsoft.com/office/drawing/2014/main" id="{FB99FBD2-F416-4E76-BD5F-F83567482956}"/>
              </a:ext>
            </a:extLst>
          </p:cNvPr>
          <p:cNvSpPr>
            <a:spLocks noGrp="1"/>
          </p:cNvSpPr>
          <p:nvPr/>
        </p:nvSpPr>
        <p:spPr>
          <a:xfrm>
            <a:off x="3943350" y="1210374"/>
            <a:ext cx="3124200" cy="1038225"/>
          </a:xfrm>
          <a:prstGeom prst="rect">
            <a:avLst/>
          </a:prstGeom>
          <a:solidFill>
            <a:srgbClr val="DDEBF3"/>
          </a:solidFill>
          <a:ln w="9525">
            <a:solidFill>
              <a:srgbClr val="002060"/>
            </a:solidFill>
          </a:ln>
        </p:spPr>
        <p:txBody>
          <a:bodyPr/>
          <a:lstStyle/>
          <a:p>
            <a:endParaRPr sz="2400"/>
          </a:p>
        </p:txBody>
      </p:sp>
      <p:sp>
        <p:nvSpPr>
          <p:cNvPr id="8" name="Rectangle 7">
            <a:extLst>
              <a:ext uri="{FF2B5EF4-FFF2-40B4-BE49-F238E27FC236}">
                <a16:creationId xmlns:a16="http://schemas.microsoft.com/office/drawing/2014/main" id="{ED6114AA-AF82-43AB-8BC7-B54657DAEFC6}"/>
              </a:ext>
            </a:extLst>
          </p:cNvPr>
          <p:cNvSpPr>
            <a:spLocks noGrp="1"/>
          </p:cNvSpPr>
          <p:nvPr/>
        </p:nvSpPr>
        <p:spPr>
          <a:xfrm>
            <a:off x="4019550" y="1267524"/>
            <a:ext cx="2971800"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PaymentGateway</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mediates access</a:t>
            </a:r>
          </a:p>
        </p:txBody>
      </p:sp>
      <p:sp>
        <p:nvSpPr>
          <p:cNvPr id="9" name="Rectangle 8">
            <a:extLst>
              <a:ext uri="{FF2B5EF4-FFF2-40B4-BE49-F238E27FC236}">
                <a16:creationId xmlns:a16="http://schemas.microsoft.com/office/drawing/2014/main" id="{CAA94118-C0BE-4AD1-B3CA-C90AD6A3B24A}"/>
              </a:ext>
            </a:extLst>
          </p:cNvPr>
          <p:cNvSpPr>
            <a:spLocks noGrp="1"/>
          </p:cNvSpPr>
          <p:nvPr/>
        </p:nvSpPr>
        <p:spPr>
          <a:xfrm>
            <a:off x="7972425" y="1210374"/>
            <a:ext cx="3305175" cy="1038225"/>
          </a:xfrm>
          <a:prstGeom prst="rect">
            <a:avLst/>
          </a:prstGeom>
          <a:solidFill>
            <a:srgbClr val="F6C6AD"/>
          </a:solidFill>
          <a:ln w="9525">
            <a:solidFill>
              <a:srgbClr val="002060"/>
            </a:solidFill>
          </a:ln>
        </p:spPr>
        <p:txBody>
          <a:bodyPr/>
          <a:lstStyle/>
          <a:p>
            <a:endParaRPr sz="2400"/>
          </a:p>
        </p:txBody>
      </p:sp>
      <p:sp>
        <p:nvSpPr>
          <p:cNvPr id="10" name="Rectangle 9">
            <a:extLst>
              <a:ext uri="{FF2B5EF4-FFF2-40B4-BE49-F238E27FC236}">
                <a16:creationId xmlns:a16="http://schemas.microsoft.com/office/drawing/2014/main" id="{31348566-DBA9-493B-B810-7AE6EA09892D}"/>
              </a:ext>
            </a:extLst>
          </p:cNvPr>
          <p:cNvSpPr>
            <a:spLocks noGrp="1"/>
          </p:cNvSpPr>
          <p:nvPr/>
        </p:nvSpPr>
        <p:spPr>
          <a:xfrm>
            <a:off x="8048625" y="1267524"/>
            <a:ext cx="3152775" cy="923925"/>
          </a:xfrm>
          <a:prstGeom prst="rect">
            <a:avLst/>
          </a:prstGeom>
          <a:noFill/>
          <a:ln w="0">
            <a:noFill/>
          </a:ln>
        </p:spPr>
        <p:txBody>
          <a:bodyPr anchor="ctr">
            <a:normAutofit/>
          </a:bodyPr>
          <a:lstStyle>
            <a:defPPr>
              <a:defRPr sz="1875" b="1">
                <a:solidFill>
                  <a:srgbClr val="06235E"/>
                </a:solidFill>
                <a:latin typeface="Times New Roman"/>
                <a:ea typeface="Times New Roman"/>
                <a:cs typeface="Times New Roman"/>
              </a:defRPr>
            </a:defPPr>
          </a:lstStyle>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Bank service</a:t>
            </a:r>
          </a:p>
          <a:p>
            <a:pPr algn="ctr">
              <a:buNone/>
              <a:defRPr sz="1875"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authorises payment</a:t>
            </a:r>
          </a:p>
        </p:txBody>
      </p:sp>
      <p:sp>
        <p:nvSpPr>
          <p:cNvPr id="11" name="Rectangle 10">
            <a:extLst>
              <a:ext uri="{FF2B5EF4-FFF2-40B4-BE49-F238E27FC236}">
                <a16:creationId xmlns:a16="http://schemas.microsoft.com/office/drawing/2014/main" id="{102FC58B-D5B2-4640-B596-6B8A4D069C95}"/>
              </a:ext>
            </a:extLst>
          </p:cNvPr>
          <p:cNvSpPr>
            <a:spLocks noGrp="1"/>
          </p:cNvSpPr>
          <p:nvPr/>
        </p:nvSpPr>
        <p:spPr>
          <a:xfrm>
            <a:off x="3076575" y="1715199"/>
            <a:ext cx="866775" cy="28575"/>
          </a:xfrm>
          <a:prstGeom prst="rect">
            <a:avLst/>
          </a:prstGeom>
          <a:solidFill>
            <a:srgbClr val="002060"/>
          </a:solidFill>
          <a:ln w="0">
            <a:noFill/>
          </a:ln>
        </p:spPr>
        <p:txBody>
          <a:bodyPr/>
          <a:lstStyle/>
          <a:p>
            <a:endParaRPr sz="2400"/>
          </a:p>
        </p:txBody>
      </p:sp>
      <p:sp>
        <p:nvSpPr>
          <p:cNvPr id="12" name="Rectangle 11">
            <a:extLst>
              <a:ext uri="{FF2B5EF4-FFF2-40B4-BE49-F238E27FC236}">
                <a16:creationId xmlns:a16="http://schemas.microsoft.com/office/drawing/2014/main" id="{CC0F2C92-0CB6-4C91-B840-5C5EDA3FA209}"/>
              </a:ext>
            </a:extLst>
          </p:cNvPr>
          <p:cNvSpPr>
            <a:spLocks noGrp="1"/>
          </p:cNvSpPr>
          <p:nvPr/>
        </p:nvSpPr>
        <p:spPr>
          <a:xfrm>
            <a:off x="7067550" y="1715199"/>
            <a:ext cx="904875" cy="28575"/>
          </a:xfrm>
          <a:prstGeom prst="rect">
            <a:avLst/>
          </a:prstGeom>
          <a:solidFill>
            <a:srgbClr val="002060"/>
          </a:solidFill>
          <a:ln w="0">
            <a:noFill/>
          </a:ln>
        </p:spPr>
        <p:txBody>
          <a:bodyPr/>
          <a:lstStyle/>
          <a:p>
            <a:endParaRPr sz="2400"/>
          </a:p>
        </p:txBody>
      </p:sp>
      <p:sp>
        <p:nvSpPr>
          <p:cNvPr id="13" name="Rectangle 12">
            <a:extLst>
              <a:ext uri="{FF2B5EF4-FFF2-40B4-BE49-F238E27FC236}">
                <a16:creationId xmlns:a16="http://schemas.microsoft.com/office/drawing/2014/main" id="{91910AB0-0E93-4C83-8373-9AE8EAA3713B}"/>
              </a:ext>
            </a:extLst>
          </p:cNvPr>
          <p:cNvSpPr>
            <a:spLocks noGrp="1"/>
          </p:cNvSpPr>
          <p:nvPr/>
        </p:nvSpPr>
        <p:spPr>
          <a:xfrm>
            <a:off x="619125" y="2604974"/>
            <a:ext cx="10944225" cy="2333625"/>
          </a:xfrm>
          <a:prstGeom prst="rect">
            <a:avLst/>
          </a:prstGeom>
          <a:solidFill>
            <a:srgbClr val="DDEBF3"/>
          </a:solidFill>
          <a:ln w="0">
            <a:noFill/>
          </a:ln>
        </p:spPr>
        <p:txBody>
          <a:bodyPr/>
          <a:lstStyle/>
          <a:p>
            <a:endParaRPr sz="2400"/>
          </a:p>
        </p:txBody>
      </p:sp>
      <p:sp>
        <p:nvSpPr>
          <p:cNvPr id="14" name="Rectangle 13">
            <a:extLst>
              <a:ext uri="{FF2B5EF4-FFF2-40B4-BE49-F238E27FC236}">
                <a16:creationId xmlns:a16="http://schemas.microsoft.com/office/drawing/2014/main" id="{E7AFD6C0-2865-4CE8-8F95-4DFDBE92695D}"/>
              </a:ext>
            </a:extLst>
          </p:cNvPr>
          <p:cNvSpPr>
            <a:spLocks noGrp="1"/>
          </p:cNvSpPr>
          <p:nvPr/>
        </p:nvSpPr>
        <p:spPr>
          <a:xfrm>
            <a:off x="790575" y="2735072"/>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An intermediary separates collaborators</a:t>
            </a:r>
          </a:p>
        </p:txBody>
      </p:sp>
      <p:sp>
        <p:nvSpPr>
          <p:cNvPr id="15" name="Rectangle 14">
            <a:extLst>
              <a:ext uri="{FF2B5EF4-FFF2-40B4-BE49-F238E27FC236}">
                <a16:creationId xmlns:a16="http://schemas.microsoft.com/office/drawing/2014/main" id="{C4562366-F52D-4C56-ACA3-2FE98E815AE7}"/>
              </a:ext>
            </a:extLst>
          </p:cNvPr>
          <p:cNvSpPr>
            <a:spLocks noGrp="1"/>
          </p:cNvSpPr>
          <p:nvPr/>
        </p:nvSpPr>
        <p:spPr>
          <a:xfrm>
            <a:off x="790575" y="3182747"/>
            <a:ext cx="10267950" cy="1095375"/>
          </a:xfrm>
          <a:prstGeom prst="rect">
            <a:avLst/>
          </a:prstGeom>
          <a:noFill/>
          <a:ln w="0">
            <a:noFill/>
          </a:ln>
        </p:spPr>
        <p:txBody>
          <a:bodyPr anchor="ctr">
            <a:noAutofit/>
          </a:bodyPr>
          <a:lstStyle>
            <a:defPPr>
              <a:defRPr sz="2175" b="0">
                <a:solidFill>
                  <a:srgbClr val="1D1D1D"/>
                </a:solidFill>
                <a:latin typeface="Times New Roman"/>
                <a:ea typeface="Times New Roman"/>
                <a:cs typeface="Times New Roman"/>
              </a:defRPr>
            </a:defPPr>
          </a:lstStyle>
          <a:p>
            <a:pPr lvl="0">
              <a:buNone/>
              <a:defRPr sz="2175" b="0">
                <a:solidFill>
                  <a:srgbClr val="1D1D1D"/>
                </a:solidFill>
              </a:defRPr>
            </a:pPr>
            <a:r>
              <a:rPr sz="2400" b="0">
                <a:solidFill>
                  <a:srgbClr val="1D1D1D"/>
                </a:solidFill>
                <a:latin typeface="Times New Roman"/>
                <a:ea typeface="Times New Roman"/>
                <a:cs typeface="Times New Roman"/>
              </a:rPr>
              <a:t>CardPayment can ask a PaymentGateway to authorise a payment.</a:t>
            </a:r>
          </a:p>
          <a:p>
            <a:pPr lvl="0">
              <a:buNone/>
              <a:defRPr sz="2175" b="0">
                <a:solidFill>
                  <a:srgbClr val="1D1D1D"/>
                </a:solidFill>
              </a:defRPr>
            </a:pPr>
            <a:r>
              <a:rPr sz="2400" b="0">
                <a:solidFill>
                  <a:srgbClr val="1D1D1D"/>
                </a:solidFill>
                <a:latin typeface="Times New Roman"/>
                <a:ea typeface="Times New Roman"/>
                <a:cs typeface="Times New Roman"/>
              </a:rPr>
              <a:t>The gateway handles the bank request format and other integration details.</a:t>
            </a:r>
          </a:p>
          <a:p>
            <a:pPr lvl="0">
              <a:buNone/>
              <a:defRPr sz="2175" b="0">
                <a:solidFill>
                  <a:srgbClr val="1D1D1D"/>
                </a:solidFill>
              </a:defRPr>
            </a:pPr>
            <a:r>
              <a:rPr sz="2400" b="0">
                <a:solidFill>
                  <a:srgbClr val="1D1D1D"/>
                </a:solidFill>
                <a:latin typeface="Times New Roman"/>
                <a:ea typeface="Times New Roman"/>
                <a:cs typeface="Times New Roman"/>
              </a:rPr>
              <a:t>CardPayment does not construct the bank request itself.</a:t>
            </a:r>
          </a:p>
        </p:txBody>
      </p:sp>
      <p:sp>
        <p:nvSpPr>
          <p:cNvPr id="16" name="Rectangle 15">
            <a:extLst>
              <a:ext uri="{FF2B5EF4-FFF2-40B4-BE49-F238E27FC236}">
                <a16:creationId xmlns:a16="http://schemas.microsoft.com/office/drawing/2014/main" id="{8E1DEE3D-5D9D-4D88-A701-A21F8F43D12E}"/>
              </a:ext>
            </a:extLst>
          </p:cNvPr>
          <p:cNvSpPr>
            <a:spLocks noGrp="1"/>
          </p:cNvSpPr>
          <p:nvPr/>
        </p:nvSpPr>
        <p:spPr>
          <a:xfrm>
            <a:off x="790575" y="4382897"/>
            <a:ext cx="10172700" cy="333375"/>
          </a:xfrm>
          <a:prstGeom prst="rect">
            <a:avLst/>
          </a:prstGeom>
          <a:noFill/>
          <a:ln w="0">
            <a:noFill/>
          </a:ln>
        </p:spPr>
        <p:txBody>
          <a:bodyPr anchor="ctr">
            <a:noAutofit/>
          </a:bodyPr>
          <a:lstStyle>
            <a:defPPr>
              <a:defRPr sz="1950" b="1">
                <a:solidFill>
                  <a:srgbClr val="06235E"/>
                </a:solidFill>
                <a:latin typeface="Times New Roman"/>
                <a:ea typeface="Times New Roman"/>
                <a:cs typeface="Times New Roman"/>
              </a:defRPr>
            </a:defPPr>
          </a:lstStyle>
          <a:p>
            <a:pPr algn="l">
              <a:buNone/>
              <a:defRPr sz="19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Indirection provides an intermediate object.</a:t>
            </a:r>
          </a:p>
        </p:txBody>
      </p:sp>
    </p:spTree>
    <p:extLst>
      <p:ext uri="{BB962C8B-B14F-4D97-AF65-F5344CB8AC3E}">
        <p14:creationId xmlns:p14="http://schemas.microsoft.com/office/powerpoint/2010/main" val="1688221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71512" y="66675"/>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9. Protected Variations</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63312" y="6553200"/>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14</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71512" y="1304925"/>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Place a stable interface around something likely to change.</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42937" y="2686050"/>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4862" y="2828925"/>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Expected change</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4862" y="3286125"/>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The coffee shop may replace its bank provider. Bank APIs can differ.</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9787" y="2686050"/>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81712" y="2828925"/>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example</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81712" y="3286125"/>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Different bank adapters implement PaymentGateway. CardPayment keeps using the same gateway contract.</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8662" y="5695950"/>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 stable contract protects callers from expected changes.</a:t>
            </a:r>
          </a:p>
        </p:txBody>
      </p:sp>
    </p:spTree>
    <p:extLst>
      <p:ext uri="{BB962C8B-B14F-4D97-AF65-F5344CB8AC3E}">
        <p14:creationId xmlns:p14="http://schemas.microsoft.com/office/powerpoint/2010/main" val="290003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64EDF62-20CF-4D23-8A70-9272DFFD6E39}"/>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495FEC96-A80B-406D-B63B-5F3B47A6986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Java: Expert and Creator</a:t>
            </a:r>
          </a:p>
        </p:txBody>
      </p:sp>
      <p:sp>
        <p:nvSpPr>
          <p:cNvPr id="3" name="Rectangle 2">
            <a:extLst>
              <a:ext uri="{FF2B5EF4-FFF2-40B4-BE49-F238E27FC236}">
                <a16:creationId xmlns:a16="http://schemas.microsoft.com/office/drawing/2014/main" id="{1A8C8AFE-90F2-48A3-83FF-E3CF72C6FC19}"/>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dirty="0">
                <a:solidFill>
                  <a:srgbClr val="0000FF"/>
                </a:solidFill>
                <a:latin typeface="Times New Roman"/>
                <a:ea typeface="Times New Roman"/>
                <a:cs typeface="Times New Roman"/>
              </a:rPr>
              <a:t>GRASP </a:t>
            </a:r>
          </a:p>
        </p:txBody>
      </p:sp>
      <p:sp>
        <p:nvSpPr>
          <p:cNvPr id="4" name="Rectangle 3">
            <a:extLst>
              <a:ext uri="{FF2B5EF4-FFF2-40B4-BE49-F238E27FC236}">
                <a16:creationId xmlns:a16="http://schemas.microsoft.com/office/drawing/2014/main" id="{13D19075-4CDA-4998-9B15-57F3F3CDDE12}"/>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15</a:t>
            </a:r>
          </a:p>
        </p:txBody>
      </p:sp>
      <p:sp>
        <p:nvSpPr>
          <p:cNvPr id="5" name="Rectangle 4">
            <a:extLst>
              <a:ext uri="{FF2B5EF4-FFF2-40B4-BE49-F238E27FC236}">
                <a16:creationId xmlns:a16="http://schemas.microsoft.com/office/drawing/2014/main" id="{EE196F80-0304-42F9-A80B-1384BAB6F823}"/>
              </a:ext>
            </a:extLst>
          </p:cNvPr>
          <p:cNvSpPr>
            <a:spLocks noGrp="1"/>
          </p:cNvSpPr>
          <p:nvPr/>
        </p:nvSpPr>
        <p:spPr>
          <a:xfrm>
            <a:off x="638175" y="1228725"/>
            <a:ext cx="5381625" cy="4572000"/>
          </a:xfrm>
          <a:prstGeom prst="rect">
            <a:avLst/>
          </a:prstGeom>
          <a:solidFill>
            <a:srgbClr val="F8FAFC"/>
          </a:solidFill>
          <a:ln w="9525">
            <a:solidFill>
              <a:srgbClr val="002060"/>
            </a:solidFill>
          </a:ln>
        </p:spPr>
        <p:txBody>
          <a:bodyPr/>
          <a:lstStyle/>
          <a:p>
            <a:endParaRPr/>
          </a:p>
        </p:txBody>
      </p:sp>
      <p:sp>
        <p:nvSpPr>
          <p:cNvPr id="6" name="Rectangle 5">
            <a:extLst>
              <a:ext uri="{FF2B5EF4-FFF2-40B4-BE49-F238E27FC236}">
                <a16:creationId xmlns:a16="http://schemas.microsoft.com/office/drawing/2014/main" id="{5B236FAC-7461-48FB-AA64-930006AB04C9}"/>
              </a:ext>
            </a:extLst>
          </p:cNvPr>
          <p:cNvSpPr>
            <a:spLocks noGrp="1"/>
          </p:cNvSpPr>
          <p:nvPr/>
        </p:nvSpPr>
        <p:spPr>
          <a:xfrm>
            <a:off x="809625" y="1333500"/>
            <a:ext cx="5038725" cy="4362450"/>
          </a:xfrm>
          <a:prstGeom prst="rect">
            <a:avLst/>
          </a:prstGeom>
          <a:noFill/>
          <a:ln w="0">
            <a:noFill/>
          </a:ln>
        </p:spPr>
        <p:txBody>
          <a:bodyPr lIns="0" tIns="0" rIns="0" bIns="0" anchor="ctr">
            <a:normAutofit fontScale="86742"/>
          </a:bodyPr>
          <a:lstStyle>
            <a:defPPr>
              <a:defRPr sz="1650" b="1">
                <a:solidFill>
                  <a:srgbClr val="1D1D1D"/>
                </a:solidFill>
                <a:latin typeface="Courier New"/>
                <a:ea typeface="Courier New"/>
                <a:cs typeface="Courier New"/>
              </a:defRPr>
            </a:defPPr>
          </a:lstStyle>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final class OrderItem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final int price, quantity;</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OrderItem(int p, int q)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price = p; quantity = q;</a:t>
            </a:r>
          </a:p>
          <a:p>
            <a:pPr>
              <a:buNone/>
              <a:defRPr sz="1650">
                <a:solidFill>
                  <a:srgbClr val="1D1D1D"/>
                </a:solidFill>
              </a:defRPr>
            </a:pPr>
            <a:r>
              <a:rPr sz="1650" b="1">
                <a:solidFill>
                  <a:srgbClr val="1D1D1D"/>
                </a:solidFill>
                <a:latin typeface="Courier New"/>
                <a:ea typeface="Courier New"/>
                <a:cs typeface="Courier New"/>
              </a:rPr>
              <a:t>  }</a:t>
            </a:r>
            <a:endParaRPr sz="1650" b="0">
              <a:solidFill>
                <a:srgbClr val="171717"/>
              </a:solidFill>
              <a:latin typeface="Courier New"/>
              <a:ea typeface="Courier New"/>
              <a:cs typeface="Courier New"/>
            </a:endParaRP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int subtotal()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return price * quantity;</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final class Order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final java.util.List&lt;OrderItem&gt; items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new java.util.ArrayList&lt;&gt;();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void addItem(int p, int q)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items.add(new OrderItem(p, q));</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int total()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return items.stream()</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.mapToInt(OrderItem::subtotal).sum();</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p:txBody>
      </p:sp>
      <p:sp>
        <p:nvSpPr>
          <p:cNvPr id="7" name="Rectangle 6">
            <a:extLst>
              <a:ext uri="{FF2B5EF4-FFF2-40B4-BE49-F238E27FC236}">
                <a16:creationId xmlns:a16="http://schemas.microsoft.com/office/drawing/2014/main" id="{2D069B26-E10A-4659-BFA1-4DD93D68281B}"/>
              </a:ext>
            </a:extLst>
          </p:cNvPr>
          <p:cNvSpPr>
            <a:spLocks noGrp="1"/>
          </p:cNvSpPr>
          <p:nvPr/>
        </p:nvSpPr>
        <p:spPr>
          <a:xfrm>
            <a:off x="6276975" y="1228725"/>
            <a:ext cx="5257800" cy="4572000"/>
          </a:xfrm>
          <a:prstGeom prst="rect">
            <a:avLst/>
          </a:prstGeom>
          <a:solidFill>
            <a:srgbClr val="DDF2D5"/>
          </a:solidFill>
          <a:ln w="0">
            <a:noFill/>
          </a:ln>
        </p:spPr>
        <p:txBody>
          <a:bodyPr/>
          <a:lstStyle/>
          <a:p>
            <a:endParaRPr/>
          </a:p>
        </p:txBody>
      </p:sp>
      <p:sp>
        <p:nvSpPr>
          <p:cNvPr id="8" name="Rectangle 7">
            <a:extLst>
              <a:ext uri="{FF2B5EF4-FFF2-40B4-BE49-F238E27FC236}">
                <a16:creationId xmlns:a16="http://schemas.microsoft.com/office/drawing/2014/main" id="{12DA72DD-6E96-4423-B373-B35254B53C5F}"/>
              </a:ext>
            </a:extLst>
          </p:cNvPr>
          <p:cNvSpPr>
            <a:spLocks noGrp="1"/>
          </p:cNvSpPr>
          <p:nvPr/>
        </p:nvSpPr>
        <p:spPr>
          <a:xfrm>
            <a:off x="6457950" y="1409700"/>
            <a:ext cx="4905375"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Information Expert</a:t>
            </a:r>
          </a:p>
        </p:txBody>
      </p:sp>
      <p:sp>
        <p:nvSpPr>
          <p:cNvPr id="9" name="Rectangle 8">
            <a:extLst>
              <a:ext uri="{FF2B5EF4-FFF2-40B4-BE49-F238E27FC236}">
                <a16:creationId xmlns:a16="http://schemas.microsoft.com/office/drawing/2014/main" id="{6834017D-F02E-4B5B-9FFE-920523D37906}"/>
              </a:ext>
            </a:extLst>
          </p:cNvPr>
          <p:cNvSpPr>
            <a:spLocks noGrp="1"/>
          </p:cNvSpPr>
          <p:nvPr/>
        </p:nvSpPr>
        <p:spPr>
          <a:xfrm>
            <a:off x="6457950" y="2019300"/>
            <a:ext cx="4705350" cy="790575"/>
          </a:xfrm>
          <a:prstGeom prst="rect">
            <a:avLst/>
          </a:prstGeom>
          <a:noFill/>
          <a:ln w="0">
            <a:noFill/>
          </a:ln>
        </p:spPr>
        <p:txBody>
          <a:bodyPr anchor="ctr">
            <a:normAutofit/>
          </a:bodyPr>
          <a:lstStyle>
            <a:defPPr>
              <a:defRPr sz="2025" b="0">
                <a:solidFill>
                  <a:srgbClr val="1D1D1D"/>
                </a:solidFill>
                <a:latin typeface="Times New Roman"/>
                <a:ea typeface="Times New Roman"/>
                <a:cs typeface="Times New Roman"/>
              </a:defRPr>
            </a:defPPr>
          </a:lstStyle>
          <a:p>
            <a:pPr algn="l">
              <a:buNone/>
              <a:defRPr sz="2025"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OrderItem calculates its subtotal. Order sums all item subtotals.</a:t>
            </a:r>
          </a:p>
        </p:txBody>
      </p:sp>
      <p:sp>
        <p:nvSpPr>
          <p:cNvPr id="10" name="Rectangle 9">
            <a:extLst>
              <a:ext uri="{FF2B5EF4-FFF2-40B4-BE49-F238E27FC236}">
                <a16:creationId xmlns:a16="http://schemas.microsoft.com/office/drawing/2014/main" id="{56224578-E838-411A-A78C-2F98C72825B5}"/>
              </a:ext>
            </a:extLst>
          </p:cNvPr>
          <p:cNvSpPr>
            <a:spLocks noGrp="1"/>
          </p:cNvSpPr>
          <p:nvPr/>
        </p:nvSpPr>
        <p:spPr>
          <a:xfrm>
            <a:off x="6457950" y="3105150"/>
            <a:ext cx="476250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Creator</a:t>
            </a:r>
          </a:p>
        </p:txBody>
      </p:sp>
      <p:sp>
        <p:nvSpPr>
          <p:cNvPr id="11" name="Rectangle 10">
            <a:extLst>
              <a:ext uri="{FF2B5EF4-FFF2-40B4-BE49-F238E27FC236}">
                <a16:creationId xmlns:a16="http://schemas.microsoft.com/office/drawing/2014/main" id="{FB065C5C-9E62-4761-B873-7450FECB03CD}"/>
              </a:ext>
            </a:extLst>
          </p:cNvPr>
          <p:cNvSpPr>
            <a:spLocks noGrp="1"/>
          </p:cNvSpPr>
          <p:nvPr/>
        </p:nvSpPr>
        <p:spPr>
          <a:xfrm>
            <a:off x="6457950" y="3638550"/>
            <a:ext cx="4705350" cy="1581150"/>
          </a:xfrm>
          <a:prstGeom prst="rect">
            <a:avLst/>
          </a:prstGeom>
          <a:noFill/>
          <a:ln w="0">
            <a:noFill/>
          </a:ln>
        </p:spPr>
        <p:txBody>
          <a:bodyPr anchor="ctr">
            <a:normAutofit/>
          </a:bodyPr>
          <a:lstStyle>
            <a:defPPr>
              <a:defRPr sz="2025" b="0">
                <a:solidFill>
                  <a:srgbClr val="1D1D1D"/>
                </a:solidFill>
                <a:latin typeface="Times New Roman"/>
                <a:ea typeface="Times New Roman"/>
                <a:cs typeface="Times New Roman"/>
              </a:defRPr>
            </a:defPPr>
          </a:lstStyle>
          <a:p>
            <a:pPr algn="l">
              <a:buNone/>
              <a:defRPr sz="2025"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Order creates the items it contains. addItem(100, 2) gives a total of Rs. 200.</a:t>
            </a:r>
          </a:p>
        </p:txBody>
      </p:sp>
    </p:spTree>
    <p:extLst>
      <p:ext uri="{BB962C8B-B14F-4D97-AF65-F5344CB8AC3E}">
        <p14:creationId xmlns:p14="http://schemas.microsoft.com/office/powerpoint/2010/main" val="1107197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64EDF62-20CF-4D23-8A70-9272DFFD6E39}"/>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495FEC96-A80B-406D-B63B-5F3B47A6986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Java: Controller and Polymorphism</a:t>
            </a:r>
          </a:p>
        </p:txBody>
      </p:sp>
      <p:sp>
        <p:nvSpPr>
          <p:cNvPr id="3" name="Rectangle 2">
            <a:extLst>
              <a:ext uri="{FF2B5EF4-FFF2-40B4-BE49-F238E27FC236}">
                <a16:creationId xmlns:a16="http://schemas.microsoft.com/office/drawing/2014/main" id="{1A8C8AFE-90F2-48A3-83FF-E3CF72C6FC19}"/>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dirty="0">
                <a:solidFill>
                  <a:srgbClr val="0000FF"/>
                </a:solidFill>
                <a:latin typeface="Times New Roman"/>
                <a:ea typeface="Times New Roman"/>
                <a:cs typeface="Times New Roman"/>
              </a:rPr>
              <a:t>GRASP </a:t>
            </a:r>
          </a:p>
        </p:txBody>
      </p:sp>
      <p:sp>
        <p:nvSpPr>
          <p:cNvPr id="4" name="Rectangle 3">
            <a:extLst>
              <a:ext uri="{FF2B5EF4-FFF2-40B4-BE49-F238E27FC236}">
                <a16:creationId xmlns:a16="http://schemas.microsoft.com/office/drawing/2014/main" id="{13D19075-4CDA-4998-9B15-57F3F3CDDE12}"/>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16</a:t>
            </a:r>
          </a:p>
        </p:txBody>
      </p:sp>
      <p:sp>
        <p:nvSpPr>
          <p:cNvPr id="5" name="Rectangle 4">
            <a:extLst>
              <a:ext uri="{FF2B5EF4-FFF2-40B4-BE49-F238E27FC236}">
                <a16:creationId xmlns:a16="http://schemas.microsoft.com/office/drawing/2014/main" id="{EE196F80-0304-42F9-A80B-1384BAB6F823}"/>
              </a:ext>
            </a:extLst>
          </p:cNvPr>
          <p:cNvSpPr>
            <a:spLocks noGrp="1"/>
          </p:cNvSpPr>
          <p:nvPr/>
        </p:nvSpPr>
        <p:spPr>
          <a:xfrm>
            <a:off x="638175" y="1228725"/>
            <a:ext cx="5381625" cy="4572000"/>
          </a:xfrm>
          <a:prstGeom prst="rect">
            <a:avLst/>
          </a:prstGeom>
          <a:solidFill>
            <a:srgbClr val="F8FAFC"/>
          </a:solidFill>
          <a:ln w="9525">
            <a:solidFill>
              <a:srgbClr val="002060"/>
            </a:solidFill>
          </a:ln>
        </p:spPr>
        <p:txBody>
          <a:bodyPr/>
          <a:lstStyle/>
          <a:p>
            <a:endParaRPr/>
          </a:p>
        </p:txBody>
      </p:sp>
      <p:sp>
        <p:nvSpPr>
          <p:cNvPr id="6" name="Rectangle 5">
            <a:extLst>
              <a:ext uri="{FF2B5EF4-FFF2-40B4-BE49-F238E27FC236}">
                <a16:creationId xmlns:a16="http://schemas.microsoft.com/office/drawing/2014/main" id="{5B236FAC-7461-48FB-AA64-930006AB04C9}"/>
              </a:ext>
            </a:extLst>
          </p:cNvPr>
          <p:cNvSpPr>
            <a:spLocks noGrp="1"/>
          </p:cNvSpPr>
          <p:nvPr/>
        </p:nvSpPr>
        <p:spPr>
          <a:xfrm>
            <a:off x="809625" y="1333500"/>
            <a:ext cx="5038725" cy="4362450"/>
          </a:xfrm>
          <a:prstGeom prst="rect">
            <a:avLst/>
          </a:prstGeom>
          <a:noFill/>
          <a:ln w="0">
            <a:noFill/>
          </a:ln>
        </p:spPr>
        <p:txBody>
          <a:bodyPr lIns="0" tIns="0" rIns="0" bIns="0" anchor="ctr">
            <a:normAutofit fontScale="82612" lnSpcReduction="10000"/>
          </a:bodyPr>
          <a:lstStyle>
            <a:defPPr>
              <a:defRPr sz="1650" b="1">
                <a:solidFill>
                  <a:srgbClr val="1D1D1D"/>
                </a:solidFill>
                <a:latin typeface="Courier New"/>
                <a:ea typeface="Courier New"/>
                <a:cs typeface="Courier New"/>
              </a:defRPr>
            </a:defPPr>
          </a:lstStyle>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interface PaymentMethod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void pay(int amount);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final class CashPayment</a:t>
            </a:r>
          </a:p>
          <a:p>
            <a:pPr>
              <a:buNone/>
              <a:defRPr sz="1650">
                <a:solidFill>
                  <a:srgbClr val="1D1D1D"/>
                </a:solidFill>
              </a:defRPr>
            </a:pPr>
            <a:r>
              <a:rPr sz="1650" b="1">
                <a:solidFill>
                  <a:srgbClr val="1D1D1D"/>
                </a:solidFill>
                <a:latin typeface="Courier New"/>
                <a:ea typeface="Courier New"/>
                <a:cs typeface="Courier New"/>
              </a:rPr>
              <a:t>    implements PaymentMethod {</a:t>
            </a:r>
            <a:endParaRPr sz="1650" b="0">
              <a:solidFill>
                <a:srgbClr val="171717"/>
              </a:solidFill>
              <a:latin typeface="Courier New"/>
              <a:ea typeface="Courier New"/>
              <a:cs typeface="Courier New"/>
            </a:endParaRP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public void pay(int amount)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System.out.println("Cash: " + amount);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final class CardPayment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implements PaymentMethod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public void pay(int amount)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System.out.println("Card: " + amount);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final class OrderController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void checkout(Order order,</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PaymentMethod payment)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payment.pay(order.total());</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  }</a:t>
            </a:r>
          </a:p>
          <a:p>
            <a:pPr algn="l">
              <a:buNone/>
              <a:defRPr sz="1650" b="0">
                <a:solidFill>
                  <a:srgbClr val="1D1D1D"/>
                </a:solidFill>
                <a:latin typeface="Courier New"/>
                <a:ea typeface="Courier New"/>
                <a:cs typeface="Courier New"/>
              </a:defRPr>
            </a:pPr>
            <a:r>
              <a:rPr sz="1650" b="1">
                <a:solidFill>
                  <a:srgbClr val="1D1D1D"/>
                </a:solidFill>
                <a:latin typeface="Courier New"/>
                <a:ea typeface="Courier New"/>
                <a:cs typeface="Courier New"/>
              </a:rPr>
              <a:t>}</a:t>
            </a:r>
          </a:p>
        </p:txBody>
      </p:sp>
      <p:sp>
        <p:nvSpPr>
          <p:cNvPr id="7" name="Rectangle 6">
            <a:extLst>
              <a:ext uri="{FF2B5EF4-FFF2-40B4-BE49-F238E27FC236}">
                <a16:creationId xmlns:a16="http://schemas.microsoft.com/office/drawing/2014/main" id="{2D069B26-E10A-4659-BFA1-4DD93D68281B}"/>
              </a:ext>
            </a:extLst>
          </p:cNvPr>
          <p:cNvSpPr>
            <a:spLocks noGrp="1"/>
          </p:cNvSpPr>
          <p:nvPr/>
        </p:nvSpPr>
        <p:spPr>
          <a:xfrm>
            <a:off x="6276975" y="1228725"/>
            <a:ext cx="5257800" cy="4572000"/>
          </a:xfrm>
          <a:prstGeom prst="rect">
            <a:avLst/>
          </a:prstGeom>
          <a:solidFill>
            <a:srgbClr val="DDF2D5"/>
          </a:solidFill>
          <a:ln w="0">
            <a:noFill/>
          </a:ln>
        </p:spPr>
        <p:txBody>
          <a:bodyPr/>
          <a:lstStyle/>
          <a:p>
            <a:endParaRPr/>
          </a:p>
        </p:txBody>
      </p:sp>
      <p:sp>
        <p:nvSpPr>
          <p:cNvPr id="8" name="Rectangle 7">
            <a:extLst>
              <a:ext uri="{FF2B5EF4-FFF2-40B4-BE49-F238E27FC236}">
                <a16:creationId xmlns:a16="http://schemas.microsoft.com/office/drawing/2014/main" id="{12DA72DD-6E96-4423-B373-B35254B53C5F}"/>
              </a:ext>
            </a:extLst>
          </p:cNvPr>
          <p:cNvSpPr>
            <a:spLocks noGrp="1"/>
          </p:cNvSpPr>
          <p:nvPr/>
        </p:nvSpPr>
        <p:spPr>
          <a:xfrm>
            <a:off x="6457950" y="1409700"/>
            <a:ext cx="4905375"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Controller</a:t>
            </a:r>
          </a:p>
        </p:txBody>
      </p:sp>
      <p:sp>
        <p:nvSpPr>
          <p:cNvPr id="9" name="Rectangle 8">
            <a:extLst>
              <a:ext uri="{FF2B5EF4-FFF2-40B4-BE49-F238E27FC236}">
                <a16:creationId xmlns:a16="http://schemas.microsoft.com/office/drawing/2014/main" id="{6834017D-F02E-4B5B-9FFE-920523D37906}"/>
              </a:ext>
            </a:extLst>
          </p:cNvPr>
          <p:cNvSpPr>
            <a:spLocks noGrp="1"/>
          </p:cNvSpPr>
          <p:nvPr/>
        </p:nvSpPr>
        <p:spPr>
          <a:xfrm>
            <a:off x="6457950" y="2019300"/>
            <a:ext cx="4705350" cy="790575"/>
          </a:xfrm>
          <a:prstGeom prst="rect">
            <a:avLst/>
          </a:prstGeom>
          <a:noFill/>
          <a:ln w="0">
            <a:noFill/>
          </a:ln>
        </p:spPr>
        <p:txBody>
          <a:bodyPr anchor="ctr">
            <a:normAutofit/>
          </a:bodyPr>
          <a:lstStyle>
            <a:defPPr>
              <a:defRPr sz="2025" b="0">
                <a:solidFill>
                  <a:srgbClr val="1D1D1D"/>
                </a:solidFill>
                <a:latin typeface="Times New Roman"/>
                <a:ea typeface="Times New Roman"/>
                <a:cs typeface="Times New Roman"/>
              </a:defRPr>
            </a:defPPr>
          </a:lstStyle>
          <a:p>
            <a:pPr algn="l">
              <a:buNone/>
              <a:defRPr sz="2025"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checkout() coordinates the request and delegates calculation to Order.</a:t>
            </a:r>
          </a:p>
        </p:txBody>
      </p:sp>
      <p:sp>
        <p:nvSpPr>
          <p:cNvPr id="10" name="Rectangle 9">
            <a:extLst>
              <a:ext uri="{FF2B5EF4-FFF2-40B4-BE49-F238E27FC236}">
                <a16:creationId xmlns:a16="http://schemas.microsoft.com/office/drawing/2014/main" id="{56224578-E838-411A-A78C-2F98C72825B5}"/>
              </a:ext>
            </a:extLst>
          </p:cNvPr>
          <p:cNvSpPr>
            <a:spLocks noGrp="1"/>
          </p:cNvSpPr>
          <p:nvPr/>
        </p:nvSpPr>
        <p:spPr>
          <a:xfrm>
            <a:off x="6457950" y="3105150"/>
            <a:ext cx="476250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Polymorphism</a:t>
            </a:r>
          </a:p>
        </p:txBody>
      </p:sp>
      <p:sp>
        <p:nvSpPr>
          <p:cNvPr id="11" name="Rectangle 10">
            <a:extLst>
              <a:ext uri="{FF2B5EF4-FFF2-40B4-BE49-F238E27FC236}">
                <a16:creationId xmlns:a16="http://schemas.microsoft.com/office/drawing/2014/main" id="{FB065C5C-9E62-4761-B873-7450FECB03CD}"/>
              </a:ext>
            </a:extLst>
          </p:cNvPr>
          <p:cNvSpPr>
            <a:spLocks noGrp="1"/>
          </p:cNvSpPr>
          <p:nvPr/>
        </p:nvSpPr>
        <p:spPr>
          <a:xfrm>
            <a:off x="6457950" y="3638550"/>
            <a:ext cx="4705350" cy="1581150"/>
          </a:xfrm>
          <a:prstGeom prst="rect">
            <a:avLst/>
          </a:prstGeom>
          <a:noFill/>
          <a:ln w="0">
            <a:noFill/>
          </a:ln>
        </p:spPr>
        <p:txBody>
          <a:bodyPr anchor="ctr">
            <a:normAutofit/>
          </a:bodyPr>
          <a:lstStyle>
            <a:defPPr>
              <a:defRPr sz="2025" b="0">
                <a:solidFill>
                  <a:srgbClr val="1D1D1D"/>
                </a:solidFill>
                <a:latin typeface="Times New Roman"/>
                <a:ea typeface="Times New Roman"/>
                <a:cs typeface="Times New Roman"/>
              </a:defRPr>
            </a:defPPr>
          </a:lstStyle>
          <a:p>
            <a:pPr algn="l">
              <a:buNone/>
              <a:defRPr sz="2025"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The same checkout method supports either payment type. This example simulates payment.</a:t>
            </a:r>
          </a:p>
        </p:txBody>
      </p:sp>
    </p:spTree>
    <p:extLst>
      <p:ext uri="{BB962C8B-B14F-4D97-AF65-F5344CB8AC3E}">
        <p14:creationId xmlns:p14="http://schemas.microsoft.com/office/powerpoint/2010/main" val="1107197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UML Class Diagram: Order Responsibilities</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17</a:t>
            </a:r>
          </a:p>
        </p:txBody>
      </p:sp>
      <p:sp>
        <p:nvSpPr>
          <p:cNvPr id="15" name="Rectangle 14">
            <a:extLst>
              <a:ext uri="{FF2B5EF4-FFF2-40B4-BE49-F238E27FC236}">
                <a16:creationId xmlns:a16="http://schemas.microsoft.com/office/drawing/2014/main" id="{57AB7005-DA5E-4842-B1DE-5EBF2C53D661}"/>
              </a:ext>
            </a:extLst>
          </p:cNvPr>
          <p:cNvSpPr>
            <a:spLocks noGrp="1"/>
          </p:cNvSpPr>
          <p:nvPr/>
        </p:nvSpPr>
        <p:spPr>
          <a:xfrm>
            <a:off x="666750" y="1333500"/>
            <a:ext cx="2857500" cy="1619250"/>
          </a:xfrm>
          <a:prstGeom prst="rect">
            <a:avLst/>
          </a:prstGeom>
          <a:solidFill>
            <a:srgbClr val="DDEBF7"/>
          </a:solidFill>
          <a:ln w="14288">
            <a:solidFill>
              <a:srgbClr val="06235E"/>
            </a:solidFill>
          </a:ln>
        </p:spPr>
        <p:txBody>
          <a:bodyPr/>
          <a:lstStyle/>
          <a:p>
            <a:endParaRPr lang="en-US"/>
          </a:p>
        </p:txBody>
      </p:sp>
      <p:sp>
        <p:nvSpPr>
          <p:cNvPr id="16" name="Rectangle 15">
            <a:extLst>
              <a:ext uri="{FF2B5EF4-FFF2-40B4-BE49-F238E27FC236}">
                <a16:creationId xmlns:a16="http://schemas.microsoft.com/office/drawing/2014/main" id="{02CB60F0-2581-40E3-B41C-3D0D4B234FF4}"/>
              </a:ext>
            </a:extLst>
          </p:cNvPr>
          <p:cNvSpPr>
            <a:spLocks noGrp="1"/>
          </p:cNvSpPr>
          <p:nvPr/>
        </p:nvSpPr>
        <p:spPr>
          <a:xfrm>
            <a:off x="762000" y="140970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CustomerUI</a:t>
            </a:r>
          </a:p>
        </p:txBody>
      </p:sp>
      <p:sp>
        <p:nvSpPr>
          <p:cNvPr id="17" name="Straight Connector 16">
            <a:extLst>
              <a:ext uri="{FF2B5EF4-FFF2-40B4-BE49-F238E27FC236}">
                <a16:creationId xmlns:a16="http://schemas.microsoft.com/office/drawing/2014/main" id="{5A8C7CB3-B43C-4272-B8C7-966E1A8178D2}"/>
              </a:ext>
            </a:extLst>
          </p:cNvPr>
          <p:cNvSpPr>
            <a:spLocks noGrp="1"/>
          </p:cNvSpPr>
          <p:nvPr/>
        </p:nvSpPr>
        <p:spPr>
          <a:xfrm>
            <a:off x="666750" y="1762125"/>
            <a:ext cx="2857500" cy="0"/>
          </a:xfrm>
          <a:prstGeom prst="line">
            <a:avLst/>
          </a:prstGeom>
          <a:noFill/>
          <a:ln w="16193">
            <a:solidFill>
              <a:srgbClr val="06235E"/>
            </a:solidFill>
            <a:prstDash val="solid"/>
          </a:ln>
        </p:spPr>
        <p:txBody>
          <a:bodyPr/>
          <a:lstStyle/>
          <a:p>
            <a:endParaRPr lang="en-US"/>
          </a:p>
        </p:txBody>
      </p:sp>
      <p:sp>
        <p:nvSpPr>
          <p:cNvPr id="18" name="Rectangle 17">
            <a:extLst>
              <a:ext uri="{FF2B5EF4-FFF2-40B4-BE49-F238E27FC236}">
                <a16:creationId xmlns:a16="http://schemas.microsoft.com/office/drawing/2014/main" id="{FFCCCD5D-27EB-4AD8-92F3-771AAF282699}"/>
              </a:ext>
            </a:extLst>
          </p:cNvPr>
          <p:cNvSpPr>
            <a:spLocks noGrp="1"/>
          </p:cNvSpPr>
          <p:nvPr/>
        </p:nvSpPr>
        <p:spPr>
          <a:xfrm>
            <a:off x="78105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controller: OrderController</a:t>
            </a:r>
          </a:p>
        </p:txBody>
      </p:sp>
      <p:sp>
        <p:nvSpPr>
          <p:cNvPr id="19" name="Straight Connector 18">
            <a:extLst>
              <a:ext uri="{FF2B5EF4-FFF2-40B4-BE49-F238E27FC236}">
                <a16:creationId xmlns:a16="http://schemas.microsoft.com/office/drawing/2014/main" id="{AE430D57-B63E-48F2-BB2D-B4E736086AA3}"/>
              </a:ext>
            </a:extLst>
          </p:cNvPr>
          <p:cNvSpPr>
            <a:spLocks noGrp="1"/>
          </p:cNvSpPr>
          <p:nvPr/>
        </p:nvSpPr>
        <p:spPr>
          <a:xfrm>
            <a:off x="666750" y="2286000"/>
            <a:ext cx="2857500" cy="0"/>
          </a:xfrm>
          <a:prstGeom prst="line">
            <a:avLst/>
          </a:prstGeom>
          <a:noFill/>
          <a:ln w="16193">
            <a:solidFill>
              <a:srgbClr val="06235E"/>
            </a:solidFill>
            <a:prstDash val="solid"/>
          </a:ln>
        </p:spPr>
        <p:txBody>
          <a:bodyPr/>
          <a:lstStyle/>
          <a:p>
            <a:endParaRPr lang="en-US"/>
          </a:p>
        </p:txBody>
      </p:sp>
      <p:sp>
        <p:nvSpPr>
          <p:cNvPr id="20" name="Rectangle 19">
            <a:extLst>
              <a:ext uri="{FF2B5EF4-FFF2-40B4-BE49-F238E27FC236}">
                <a16:creationId xmlns:a16="http://schemas.microsoft.com/office/drawing/2014/main" id="{D239DD35-0AE3-450B-BCD4-8CC057F5C819}"/>
              </a:ext>
            </a:extLst>
          </p:cNvPr>
          <p:cNvSpPr>
            <a:spLocks noGrp="1"/>
          </p:cNvSpPr>
          <p:nvPr/>
        </p:nvSpPr>
        <p:spPr>
          <a:xfrm>
            <a:off x="781050" y="2371725"/>
            <a:ext cx="2628900" cy="52387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addItem(p, q)</a:t>
            </a:r>
          </a:p>
          <a:p>
            <a:r>
              <a:rPr sz="1725" b="0">
                <a:solidFill>
                  <a:srgbClr val="1D1D1D"/>
                </a:solidFill>
                <a:latin typeface="Times New Roman"/>
                <a:ea typeface="Times New Roman"/>
                <a:cs typeface="Times New Roman"/>
              </a:rPr>
              <a:t>+ checkout(payment)</a:t>
            </a:r>
          </a:p>
        </p:txBody>
      </p:sp>
      <p:sp>
        <p:nvSpPr>
          <p:cNvPr id="21" name="Rectangle 20">
            <a:extLst>
              <a:ext uri="{FF2B5EF4-FFF2-40B4-BE49-F238E27FC236}">
                <a16:creationId xmlns:a16="http://schemas.microsoft.com/office/drawing/2014/main" id="{AC0AA210-C041-4AC1-B1C5-6B1B4E22180F}"/>
              </a:ext>
            </a:extLst>
          </p:cNvPr>
          <p:cNvSpPr>
            <a:spLocks noGrp="1"/>
          </p:cNvSpPr>
          <p:nvPr/>
        </p:nvSpPr>
        <p:spPr>
          <a:xfrm>
            <a:off x="4381500" y="1333500"/>
            <a:ext cx="2857500" cy="1619250"/>
          </a:xfrm>
          <a:prstGeom prst="rect">
            <a:avLst/>
          </a:prstGeom>
          <a:solidFill>
            <a:srgbClr val="DDEBF7"/>
          </a:solidFill>
          <a:ln w="14288">
            <a:solidFill>
              <a:srgbClr val="06235E"/>
            </a:solidFill>
          </a:ln>
        </p:spPr>
        <p:txBody>
          <a:bodyPr/>
          <a:lstStyle/>
          <a:p>
            <a:endParaRPr lang="en-US"/>
          </a:p>
        </p:txBody>
      </p:sp>
      <p:sp>
        <p:nvSpPr>
          <p:cNvPr id="22" name="Rectangle 21">
            <a:extLst>
              <a:ext uri="{FF2B5EF4-FFF2-40B4-BE49-F238E27FC236}">
                <a16:creationId xmlns:a16="http://schemas.microsoft.com/office/drawing/2014/main" id="{2027D43E-8522-4DA9-AF43-4A2823548863}"/>
              </a:ext>
            </a:extLst>
          </p:cNvPr>
          <p:cNvSpPr>
            <a:spLocks noGrp="1"/>
          </p:cNvSpPr>
          <p:nvPr/>
        </p:nvSpPr>
        <p:spPr>
          <a:xfrm>
            <a:off x="4476750" y="140970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OrderController</a:t>
            </a:r>
          </a:p>
        </p:txBody>
      </p:sp>
      <p:sp>
        <p:nvSpPr>
          <p:cNvPr id="23" name="Straight Connector 22">
            <a:extLst>
              <a:ext uri="{FF2B5EF4-FFF2-40B4-BE49-F238E27FC236}">
                <a16:creationId xmlns:a16="http://schemas.microsoft.com/office/drawing/2014/main" id="{A9D7A1B6-B5E4-4C4E-820F-43B3E850E88D}"/>
              </a:ext>
            </a:extLst>
          </p:cNvPr>
          <p:cNvSpPr>
            <a:spLocks noGrp="1"/>
          </p:cNvSpPr>
          <p:nvPr/>
        </p:nvSpPr>
        <p:spPr>
          <a:xfrm>
            <a:off x="4381500" y="1762125"/>
            <a:ext cx="2857500" cy="0"/>
          </a:xfrm>
          <a:prstGeom prst="line">
            <a:avLst/>
          </a:prstGeom>
          <a:noFill/>
          <a:ln w="16193">
            <a:solidFill>
              <a:srgbClr val="06235E"/>
            </a:solidFill>
            <a:prstDash val="solid"/>
          </a:ln>
        </p:spPr>
        <p:txBody>
          <a:bodyPr/>
          <a:lstStyle/>
          <a:p>
            <a:endParaRPr lang="en-US"/>
          </a:p>
        </p:txBody>
      </p:sp>
      <p:sp>
        <p:nvSpPr>
          <p:cNvPr id="24" name="Rectangle 23">
            <a:extLst>
              <a:ext uri="{FF2B5EF4-FFF2-40B4-BE49-F238E27FC236}">
                <a16:creationId xmlns:a16="http://schemas.microsoft.com/office/drawing/2014/main" id="{200C34D2-DA9E-4E4A-BE01-719A90B58C62}"/>
              </a:ext>
            </a:extLst>
          </p:cNvPr>
          <p:cNvSpPr>
            <a:spLocks noGrp="1"/>
          </p:cNvSpPr>
          <p:nvPr/>
        </p:nvSpPr>
        <p:spPr>
          <a:xfrm>
            <a:off x="449580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currentOrder: Order</a:t>
            </a:r>
          </a:p>
        </p:txBody>
      </p:sp>
      <p:sp>
        <p:nvSpPr>
          <p:cNvPr id="25" name="Straight Connector 24">
            <a:extLst>
              <a:ext uri="{FF2B5EF4-FFF2-40B4-BE49-F238E27FC236}">
                <a16:creationId xmlns:a16="http://schemas.microsoft.com/office/drawing/2014/main" id="{5E8DBE15-E067-4F9A-977A-B5C6D69FE30D}"/>
              </a:ext>
            </a:extLst>
          </p:cNvPr>
          <p:cNvSpPr>
            <a:spLocks noGrp="1"/>
          </p:cNvSpPr>
          <p:nvPr/>
        </p:nvSpPr>
        <p:spPr>
          <a:xfrm>
            <a:off x="4381500" y="2286000"/>
            <a:ext cx="2857500" cy="0"/>
          </a:xfrm>
          <a:prstGeom prst="line">
            <a:avLst/>
          </a:prstGeom>
          <a:noFill/>
          <a:ln w="16193">
            <a:solidFill>
              <a:srgbClr val="06235E"/>
            </a:solidFill>
            <a:prstDash val="solid"/>
          </a:ln>
        </p:spPr>
        <p:txBody>
          <a:bodyPr/>
          <a:lstStyle/>
          <a:p>
            <a:endParaRPr lang="en-US"/>
          </a:p>
        </p:txBody>
      </p:sp>
      <p:sp>
        <p:nvSpPr>
          <p:cNvPr id="26" name="Rectangle 25">
            <a:extLst>
              <a:ext uri="{FF2B5EF4-FFF2-40B4-BE49-F238E27FC236}">
                <a16:creationId xmlns:a16="http://schemas.microsoft.com/office/drawing/2014/main" id="{87B630DD-E567-4E8A-98B4-C0768DB9E267}"/>
              </a:ext>
            </a:extLst>
          </p:cNvPr>
          <p:cNvSpPr>
            <a:spLocks noGrp="1"/>
          </p:cNvSpPr>
          <p:nvPr/>
        </p:nvSpPr>
        <p:spPr>
          <a:xfrm>
            <a:off x="4495800" y="2371725"/>
            <a:ext cx="2628900" cy="52387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addItem(p, q)</a:t>
            </a:r>
          </a:p>
          <a:p>
            <a:r>
              <a:rPr sz="1725" b="0">
                <a:solidFill>
                  <a:srgbClr val="1D1D1D"/>
                </a:solidFill>
                <a:latin typeface="Times New Roman"/>
                <a:ea typeface="Times New Roman"/>
                <a:cs typeface="Times New Roman"/>
              </a:rPr>
              <a:t>+ checkout(order, payment)</a:t>
            </a:r>
          </a:p>
        </p:txBody>
      </p:sp>
      <p:sp>
        <p:nvSpPr>
          <p:cNvPr id="27" name="Rectangle 26">
            <a:extLst>
              <a:ext uri="{FF2B5EF4-FFF2-40B4-BE49-F238E27FC236}">
                <a16:creationId xmlns:a16="http://schemas.microsoft.com/office/drawing/2014/main" id="{49EAEE88-2881-425C-A55F-E8994EEABD3A}"/>
              </a:ext>
            </a:extLst>
          </p:cNvPr>
          <p:cNvSpPr>
            <a:spLocks noGrp="1"/>
          </p:cNvSpPr>
          <p:nvPr/>
        </p:nvSpPr>
        <p:spPr>
          <a:xfrm>
            <a:off x="8286750" y="1333500"/>
            <a:ext cx="2857500" cy="1619250"/>
          </a:xfrm>
          <a:prstGeom prst="rect">
            <a:avLst/>
          </a:prstGeom>
          <a:solidFill>
            <a:srgbClr val="DDEBF7"/>
          </a:solidFill>
          <a:ln w="14288">
            <a:solidFill>
              <a:srgbClr val="06235E"/>
            </a:solidFill>
          </a:ln>
        </p:spPr>
        <p:txBody>
          <a:bodyPr/>
          <a:lstStyle/>
          <a:p>
            <a:endParaRPr lang="en-US"/>
          </a:p>
        </p:txBody>
      </p:sp>
      <p:sp>
        <p:nvSpPr>
          <p:cNvPr id="28" name="Rectangle 27">
            <a:extLst>
              <a:ext uri="{FF2B5EF4-FFF2-40B4-BE49-F238E27FC236}">
                <a16:creationId xmlns:a16="http://schemas.microsoft.com/office/drawing/2014/main" id="{DD365365-BDC4-4BF6-B238-99C285F52322}"/>
              </a:ext>
            </a:extLst>
          </p:cNvPr>
          <p:cNvSpPr>
            <a:spLocks noGrp="1"/>
          </p:cNvSpPr>
          <p:nvPr/>
        </p:nvSpPr>
        <p:spPr>
          <a:xfrm>
            <a:off x="8382000" y="140970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Order</a:t>
            </a:r>
          </a:p>
        </p:txBody>
      </p:sp>
      <p:sp>
        <p:nvSpPr>
          <p:cNvPr id="29" name="Straight Connector 28">
            <a:extLst>
              <a:ext uri="{FF2B5EF4-FFF2-40B4-BE49-F238E27FC236}">
                <a16:creationId xmlns:a16="http://schemas.microsoft.com/office/drawing/2014/main" id="{1F9ED753-46DB-48F4-B8E9-6177289F1B2C}"/>
              </a:ext>
            </a:extLst>
          </p:cNvPr>
          <p:cNvSpPr>
            <a:spLocks noGrp="1"/>
          </p:cNvSpPr>
          <p:nvPr/>
        </p:nvSpPr>
        <p:spPr>
          <a:xfrm>
            <a:off x="8286750" y="1762125"/>
            <a:ext cx="2857500" cy="0"/>
          </a:xfrm>
          <a:prstGeom prst="line">
            <a:avLst/>
          </a:prstGeom>
          <a:noFill/>
          <a:ln w="16193">
            <a:solidFill>
              <a:srgbClr val="06235E"/>
            </a:solidFill>
            <a:prstDash val="solid"/>
          </a:ln>
        </p:spPr>
        <p:txBody>
          <a:bodyPr/>
          <a:lstStyle/>
          <a:p>
            <a:endParaRPr lang="en-US"/>
          </a:p>
        </p:txBody>
      </p:sp>
      <p:sp>
        <p:nvSpPr>
          <p:cNvPr id="30" name="Rectangle 29">
            <a:extLst>
              <a:ext uri="{FF2B5EF4-FFF2-40B4-BE49-F238E27FC236}">
                <a16:creationId xmlns:a16="http://schemas.microsoft.com/office/drawing/2014/main" id="{E5CED7BB-325B-4A6A-86E7-C5F81337EE3E}"/>
              </a:ext>
            </a:extLst>
          </p:cNvPr>
          <p:cNvSpPr>
            <a:spLocks noGrp="1"/>
          </p:cNvSpPr>
          <p:nvPr/>
        </p:nvSpPr>
        <p:spPr>
          <a:xfrm>
            <a:off x="840105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items: List&lt;OrderItem&gt;</a:t>
            </a:r>
          </a:p>
        </p:txBody>
      </p:sp>
      <p:sp>
        <p:nvSpPr>
          <p:cNvPr id="31" name="Straight Connector 30">
            <a:extLst>
              <a:ext uri="{FF2B5EF4-FFF2-40B4-BE49-F238E27FC236}">
                <a16:creationId xmlns:a16="http://schemas.microsoft.com/office/drawing/2014/main" id="{A427218D-9C17-4A91-A13B-668E7A4DAFBA}"/>
              </a:ext>
            </a:extLst>
          </p:cNvPr>
          <p:cNvSpPr>
            <a:spLocks noGrp="1"/>
          </p:cNvSpPr>
          <p:nvPr/>
        </p:nvSpPr>
        <p:spPr>
          <a:xfrm>
            <a:off x="8286750" y="2286000"/>
            <a:ext cx="2857500" cy="0"/>
          </a:xfrm>
          <a:prstGeom prst="line">
            <a:avLst/>
          </a:prstGeom>
          <a:noFill/>
          <a:ln w="16193">
            <a:solidFill>
              <a:srgbClr val="06235E"/>
            </a:solidFill>
            <a:prstDash val="solid"/>
          </a:ln>
        </p:spPr>
        <p:txBody>
          <a:bodyPr/>
          <a:lstStyle/>
          <a:p>
            <a:endParaRPr lang="en-US"/>
          </a:p>
        </p:txBody>
      </p:sp>
      <p:sp>
        <p:nvSpPr>
          <p:cNvPr id="32" name="Rectangle 31">
            <a:extLst>
              <a:ext uri="{FF2B5EF4-FFF2-40B4-BE49-F238E27FC236}">
                <a16:creationId xmlns:a16="http://schemas.microsoft.com/office/drawing/2014/main" id="{2A33118D-DCBA-4B67-9994-5D4F7752C19D}"/>
              </a:ext>
            </a:extLst>
          </p:cNvPr>
          <p:cNvSpPr>
            <a:spLocks noGrp="1"/>
          </p:cNvSpPr>
          <p:nvPr/>
        </p:nvSpPr>
        <p:spPr>
          <a:xfrm>
            <a:off x="8401050" y="2371725"/>
            <a:ext cx="2628900" cy="52387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addItem(p, q)</a:t>
            </a:r>
          </a:p>
          <a:p>
            <a:r>
              <a:rPr sz="1725" b="0">
                <a:solidFill>
                  <a:srgbClr val="1D1D1D"/>
                </a:solidFill>
                <a:latin typeface="Times New Roman"/>
                <a:ea typeface="Times New Roman"/>
                <a:cs typeface="Times New Roman"/>
              </a:rPr>
              <a:t>+ total(): int</a:t>
            </a:r>
          </a:p>
        </p:txBody>
      </p:sp>
      <p:sp>
        <p:nvSpPr>
          <p:cNvPr id="33" name="Rectangle 32">
            <a:extLst>
              <a:ext uri="{FF2B5EF4-FFF2-40B4-BE49-F238E27FC236}">
                <a16:creationId xmlns:a16="http://schemas.microsoft.com/office/drawing/2014/main" id="{B494FD41-5EDF-414E-A1F4-F3DF53D2918D}"/>
              </a:ext>
            </a:extLst>
          </p:cNvPr>
          <p:cNvSpPr>
            <a:spLocks noGrp="1"/>
          </p:cNvSpPr>
          <p:nvPr/>
        </p:nvSpPr>
        <p:spPr>
          <a:xfrm>
            <a:off x="4381500" y="4095750"/>
            <a:ext cx="2857500" cy="1619250"/>
          </a:xfrm>
          <a:prstGeom prst="rect">
            <a:avLst/>
          </a:prstGeom>
          <a:solidFill>
            <a:srgbClr val="E2F0D9"/>
          </a:solidFill>
          <a:ln w="14288">
            <a:solidFill>
              <a:srgbClr val="06235E"/>
            </a:solidFill>
          </a:ln>
        </p:spPr>
        <p:txBody>
          <a:bodyPr/>
          <a:lstStyle/>
          <a:p>
            <a:endParaRPr lang="en-US"/>
          </a:p>
        </p:txBody>
      </p:sp>
      <p:sp>
        <p:nvSpPr>
          <p:cNvPr id="34" name="Rectangle 33">
            <a:extLst>
              <a:ext uri="{FF2B5EF4-FFF2-40B4-BE49-F238E27FC236}">
                <a16:creationId xmlns:a16="http://schemas.microsoft.com/office/drawing/2014/main" id="{6B3509EB-D922-4DFA-AA63-2AE53913A17F}"/>
              </a:ext>
            </a:extLst>
          </p:cNvPr>
          <p:cNvSpPr>
            <a:spLocks noGrp="1"/>
          </p:cNvSpPr>
          <p:nvPr/>
        </p:nvSpPr>
        <p:spPr>
          <a:xfrm>
            <a:off x="4476750" y="417195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OrderRepository</a:t>
            </a:r>
          </a:p>
        </p:txBody>
      </p:sp>
      <p:sp>
        <p:nvSpPr>
          <p:cNvPr id="35" name="Straight Connector 34">
            <a:extLst>
              <a:ext uri="{FF2B5EF4-FFF2-40B4-BE49-F238E27FC236}">
                <a16:creationId xmlns:a16="http://schemas.microsoft.com/office/drawing/2014/main" id="{46574B9E-3C07-4709-98FE-2ABD923EA8A5}"/>
              </a:ext>
            </a:extLst>
          </p:cNvPr>
          <p:cNvSpPr>
            <a:spLocks noGrp="1"/>
          </p:cNvSpPr>
          <p:nvPr/>
        </p:nvSpPr>
        <p:spPr>
          <a:xfrm>
            <a:off x="4381500" y="4524375"/>
            <a:ext cx="2857500" cy="0"/>
          </a:xfrm>
          <a:prstGeom prst="line">
            <a:avLst/>
          </a:prstGeom>
          <a:noFill/>
          <a:ln w="16193">
            <a:solidFill>
              <a:srgbClr val="06235E"/>
            </a:solidFill>
            <a:prstDash val="solid"/>
          </a:ln>
        </p:spPr>
        <p:txBody>
          <a:bodyPr/>
          <a:lstStyle/>
          <a:p>
            <a:endParaRPr lang="en-US"/>
          </a:p>
        </p:txBody>
      </p:sp>
      <p:sp>
        <p:nvSpPr>
          <p:cNvPr id="36" name="Rectangle 35">
            <a:extLst>
              <a:ext uri="{FF2B5EF4-FFF2-40B4-BE49-F238E27FC236}">
                <a16:creationId xmlns:a16="http://schemas.microsoft.com/office/drawing/2014/main" id="{F50CAA4C-2983-446E-B97B-DD15F53A56DB}"/>
              </a:ext>
            </a:extLst>
          </p:cNvPr>
          <p:cNvSpPr>
            <a:spLocks noGrp="1"/>
          </p:cNvSpPr>
          <p:nvPr/>
        </p:nvSpPr>
        <p:spPr>
          <a:xfrm>
            <a:off x="4495800" y="461962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database: Connection</a:t>
            </a:r>
          </a:p>
        </p:txBody>
      </p:sp>
      <p:sp>
        <p:nvSpPr>
          <p:cNvPr id="37" name="Straight Connector 36">
            <a:extLst>
              <a:ext uri="{FF2B5EF4-FFF2-40B4-BE49-F238E27FC236}">
                <a16:creationId xmlns:a16="http://schemas.microsoft.com/office/drawing/2014/main" id="{A10FFA42-7463-4C80-8D85-2A2954D1BD68}"/>
              </a:ext>
            </a:extLst>
          </p:cNvPr>
          <p:cNvSpPr>
            <a:spLocks noGrp="1"/>
          </p:cNvSpPr>
          <p:nvPr/>
        </p:nvSpPr>
        <p:spPr>
          <a:xfrm>
            <a:off x="4381500" y="5048250"/>
            <a:ext cx="2857500" cy="0"/>
          </a:xfrm>
          <a:prstGeom prst="line">
            <a:avLst/>
          </a:prstGeom>
          <a:noFill/>
          <a:ln w="16193">
            <a:solidFill>
              <a:srgbClr val="06235E"/>
            </a:solidFill>
            <a:prstDash val="solid"/>
          </a:ln>
        </p:spPr>
        <p:txBody>
          <a:bodyPr/>
          <a:lstStyle/>
          <a:p>
            <a:endParaRPr lang="en-US"/>
          </a:p>
        </p:txBody>
      </p:sp>
      <p:sp>
        <p:nvSpPr>
          <p:cNvPr id="38" name="Rectangle 37">
            <a:extLst>
              <a:ext uri="{FF2B5EF4-FFF2-40B4-BE49-F238E27FC236}">
                <a16:creationId xmlns:a16="http://schemas.microsoft.com/office/drawing/2014/main" id="{5410B007-FE3D-449E-BB2F-062BFF423835}"/>
              </a:ext>
            </a:extLst>
          </p:cNvPr>
          <p:cNvSpPr>
            <a:spLocks noGrp="1"/>
          </p:cNvSpPr>
          <p:nvPr/>
        </p:nvSpPr>
        <p:spPr>
          <a:xfrm>
            <a:off x="4495800" y="5133975"/>
            <a:ext cx="2628900" cy="52387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save(order: Order)</a:t>
            </a:r>
          </a:p>
        </p:txBody>
      </p:sp>
      <p:sp>
        <p:nvSpPr>
          <p:cNvPr id="39" name="Rectangle 38">
            <a:extLst>
              <a:ext uri="{FF2B5EF4-FFF2-40B4-BE49-F238E27FC236}">
                <a16:creationId xmlns:a16="http://schemas.microsoft.com/office/drawing/2014/main" id="{4C8AC579-FA7B-4DAC-9548-AF9014A48C72}"/>
              </a:ext>
            </a:extLst>
          </p:cNvPr>
          <p:cNvSpPr>
            <a:spLocks noGrp="1"/>
          </p:cNvSpPr>
          <p:nvPr/>
        </p:nvSpPr>
        <p:spPr>
          <a:xfrm>
            <a:off x="8286750" y="4095750"/>
            <a:ext cx="2857500" cy="1619250"/>
          </a:xfrm>
          <a:prstGeom prst="rect">
            <a:avLst/>
          </a:prstGeom>
          <a:solidFill>
            <a:srgbClr val="E2F0D9"/>
          </a:solidFill>
          <a:ln w="14288">
            <a:solidFill>
              <a:srgbClr val="06235E"/>
            </a:solidFill>
          </a:ln>
        </p:spPr>
        <p:txBody>
          <a:bodyPr/>
          <a:lstStyle/>
          <a:p>
            <a:endParaRPr lang="en-US"/>
          </a:p>
        </p:txBody>
      </p:sp>
      <p:sp>
        <p:nvSpPr>
          <p:cNvPr id="40" name="Rectangle 39">
            <a:extLst>
              <a:ext uri="{FF2B5EF4-FFF2-40B4-BE49-F238E27FC236}">
                <a16:creationId xmlns:a16="http://schemas.microsoft.com/office/drawing/2014/main" id="{64139786-15B7-472C-9DB3-9323D7C91F59}"/>
              </a:ext>
            </a:extLst>
          </p:cNvPr>
          <p:cNvSpPr>
            <a:spLocks noGrp="1"/>
          </p:cNvSpPr>
          <p:nvPr/>
        </p:nvSpPr>
        <p:spPr>
          <a:xfrm>
            <a:off x="8382000" y="417195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OrderItem</a:t>
            </a:r>
          </a:p>
        </p:txBody>
      </p:sp>
      <p:sp>
        <p:nvSpPr>
          <p:cNvPr id="41" name="Straight Connector 40">
            <a:extLst>
              <a:ext uri="{FF2B5EF4-FFF2-40B4-BE49-F238E27FC236}">
                <a16:creationId xmlns:a16="http://schemas.microsoft.com/office/drawing/2014/main" id="{B5061382-ABCC-407E-8CEA-2A15FA4A4B50}"/>
              </a:ext>
            </a:extLst>
          </p:cNvPr>
          <p:cNvSpPr>
            <a:spLocks noGrp="1"/>
          </p:cNvSpPr>
          <p:nvPr/>
        </p:nvSpPr>
        <p:spPr>
          <a:xfrm>
            <a:off x="8286750" y="4524375"/>
            <a:ext cx="2857500" cy="0"/>
          </a:xfrm>
          <a:prstGeom prst="line">
            <a:avLst/>
          </a:prstGeom>
          <a:noFill/>
          <a:ln w="16193">
            <a:solidFill>
              <a:srgbClr val="06235E"/>
            </a:solidFill>
            <a:prstDash val="solid"/>
          </a:ln>
        </p:spPr>
        <p:txBody>
          <a:bodyPr/>
          <a:lstStyle/>
          <a:p>
            <a:endParaRPr lang="en-US"/>
          </a:p>
        </p:txBody>
      </p:sp>
      <p:sp>
        <p:nvSpPr>
          <p:cNvPr id="42" name="Rectangle 41">
            <a:extLst>
              <a:ext uri="{FF2B5EF4-FFF2-40B4-BE49-F238E27FC236}">
                <a16:creationId xmlns:a16="http://schemas.microsoft.com/office/drawing/2014/main" id="{25D61197-B6CA-4B2C-A397-CEB35D5834CC}"/>
              </a:ext>
            </a:extLst>
          </p:cNvPr>
          <p:cNvSpPr>
            <a:spLocks noGrp="1"/>
          </p:cNvSpPr>
          <p:nvPr/>
        </p:nvSpPr>
        <p:spPr>
          <a:xfrm>
            <a:off x="8401050" y="461962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price, quantity: int</a:t>
            </a:r>
          </a:p>
        </p:txBody>
      </p:sp>
      <p:sp>
        <p:nvSpPr>
          <p:cNvPr id="43" name="Straight Connector 42">
            <a:extLst>
              <a:ext uri="{FF2B5EF4-FFF2-40B4-BE49-F238E27FC236}">
                <a16:creationId xmlns:a16="http://schemas.microsoft.com/office/drawing/2014/main" id="{2D615F1F-9D1D-43D0-94CA-7574259DB8BB}"/>
              </a:ext>
            </a:extLst>
          </p:cNvPr>
          <p:cNvSpPr>
            <a:spLocks noGrp="1"/>
          </p:cNvSpPr>
          <p:nvPr/>
        </p:nvSpPr>
        <p:spPr>
          <a:xfrm>
            <a:off x="8286750" y="5048250"/>
            <a:ext cx="2857500" cy="0"/>
          </a:xfrm>
          <a:prstGeom prst="line">
            <a:avLst/>
          </a:prstGeom>
          <a:noFill/>
          <a:ln w="16193">
            <a:solidFill>
              <a:srgbClr val="06235E"/>
            </a:solidFill>
            <a:prstDash val="solid"/>
          </a:ln>
        </p:spPr>
        <p:txBody>
          <a:bodyPr/>
          <a:lstStyle/>
          <a:p>
            <a:endParaRPr lang="en-US"/>
          </a:p>
        </p:txBody>
      </p:sp>
      <p:sp>
        <p:nvSpPr>
          <p:cNvPr id="44" name="Rectangle 43">
            <a:extLst>
              <a:ext uri="{FF2B5EF4-FFF2-40B4-BE49-F238E27FC236}">
                <a16:creationId xmlns:a16="http://schemas.microsoft.com/office/drawing/2014/main" id="{C4EFFC93-6F43-4A6B-90B4-8595167DCAAD}"/>
              </a:ext>
            </a:extLst>
          </p:cNvPr>
          <p:cNvSpPr>
            <a:spLocks noGrp="1"/>
          </p:cNvSpPr>
          <p:nvPr/>
        </p:nvSpPr>
        <p:spPr>
          <a:xfrm>
            <a:off x="8401050" y="5133975"/>
            <a:ext cx="2628900" cy="52387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subtotal(): int</a:t>
            </a:r>
          </a:p>
        </p:txBody>
      </p:sp>
      <p:sp>
        <p:nvSpPr>
          <p:cNvPr id="45" name="Straight Connector 44">
            <a:extLst>
              <a:ext uri="{FF2B5EF4-FFF2-40B4-BE49-F238E27FC236}">
                <a16:creationId xmlns:a16="http://schemas.microsoft.com/office/drawing/2014/main" id="{33147FC0-ADC3-4F5D-BEA8-6328F26B6E5E}"/>
              </a:ext>
            </a:extLst>
          </p:cNvPr>
          <p:cNvSpPr>
            <a:spLocks noGrp="1"/>
          </p:cNvSpPr>
          <p:nvPr/>
        </p:nvSpPr>
        <p:spPr>
          <a:xfrm>
            <a:off x="3524250" y="2143125"/>
            <a:ext cx="857250" cy="0"/>
          </a:xfrm>
          <a:prstGeom prst="line">
            <a:avLst/>
          </a:prstGeom>
          <a:noFill/>
          <a:ln w="16193">
            <a:solidFill>
              <a:srgbClr val="06235E"/>
            </a:solidFill>
            <a:prstDash val="solid"/>
          </a:ln>
        </p:spPr>
        <p:txBody>
          <a:bodyPr/>
          <a:lstStyle/>
          <a:p>
            <a:endParaRPr lang="en-US"/>
          </a:p>
        </p:txBody>
      </p:sp>
      <p:sp>
        <p:nvSpPr>
          <p:cNvPr id="46" name="Rectangle 45">
            <a:extLst>
              <a:ext uri="{FF2B5EF4-FFF2-40B4-BE49-F238E27FC236}">
                <a16:creationId xmlns:a16="http://schemas.microsoft.com/office/drawing/2014/main" id="{0270E270-F768-401C-BA13-4F25B9D1EF80}"/>
              </a:ext>
            </a:extLst>
          </p:cNvPr>
          <p:cNvSpPr>
            <a:spLocks noGrp="1"/>
          </p:cNvSpPr>
          <p:nvPr/>
        </p:nvSpPr>
        <p:spPr>
          <a:xfrm>
            <a:off x="3667125" y="1790700"/>
            <a:ext cx="666750" cy="285750"/>
          </a:xfrm>
          <a:prstGeom prst="rect">
            <a:avLst/>
          </a:prstGeom>
          <a:noFill/>
          <a:ln w="0">
            <a:noFill/>
          </a:ln>
        </p:spPr>
        <p:txBody>
          <a:bodyPr lIns="0" tIns="0" rIns="0" bIns="0"/>
          <a:lstStyle>
            <a:defPPr>
              <a:defRPr sz="1575" b="0">
                <a:solidFill>
                  <a:srgbClr val="06235E"/>
                </a:solidFill>
                <a:latin typeface="Times New Roman"/>
                <a:ea typeface="Times New Roman"/>
                <a:cs typeface="Times New Roman"/>
              </a:defRPr>
            </a:defPPr>
          </a:lstStyle>
          <a:p>
            <a:r>
              <a:rPr sz="1575" b="0">
                <a:solidFill>
                  <a:srgbClr val="06235E"/>
                </a:solidFill>
                <a:latin typeface="Times New Roman"/>
                <a:ea typeface="Times New Roman"/>
                <a:cs typeface="Times New Roman"/>
              </a:rPr>
              <a:t>uses</a:t>
            </a:r>
          </a:p>
        </p:txBody>
      </p:sp>
      <p:sp>
        <p:nvSpPr>
          <p:cNvPr id="47" name="Straight Connector 46">
            <a:extLst>
              <a:ext uri="{FF2B5EF4-FFF2-40B4-BE49-F238E27FC236}">
                <a16:creationId xmlns:a16="http://schemas.microsoft.com/office/drawing/2014/main" id="{C958E54D-3402-409E-9D62-C11EE8BFC654}"/>
              </a:ext>
            </a:extLst>
          </p:cNvPr>
          <p:cNvSpPr>
            <a:spLocks noGrp="1"/>
          </p:cNvSpPr>
          <p:nvPr/>
        </p:nvSpPr>
        <p:spPr>
          <a:xfrm>
            <a:off x="7239000" y="2143125"/>
            <a:ext cx="1047750" cy="0"/>
          </a:xfrm>
          <a:prstGeom prst="line">
            <a:avLst/>
          </a:prstGeom>
          <a:noFill/>
          <a:ln w="16193">
            <a:solidFill>
              <a:srgbClr val="06235E"/>
            </a:solidFill>
            <a:prstDash val="solid"/>
          </a:ln>
        </p:spPr>
        <p:txBody>
          <a:bodyPr/>
          <a:lstStyle/>
          <a:p>
            <a:endParaRPr lang="en-US"/>
          </a:p>
        </p:txBody>
      </p:sp>
      <p:sp>
        <p:nvSpPr>
          <p:cNvPr id="48" name="Rectangle 47">
            <a:extLst>
              <a:ext uri="{FF2B5EF4-FFF2-40B4-BE49-F238E27FC236}">
                <a16:creationId xmlns:a16="http://schemas.microsoft.com/office/drawing/2014/main" id="{9933B4B3-0DF4-4F2B-BF06-68ED78160ABD}"/>
              </a:ext>
            </a:extLst>
          </p:cNvPr>
          <p:cNvSpPr>
            <a:spLocks noGrp="1"/>
          </p:cNvSpPr>
          <p:nvPr/>
        </p:nvSpPr>
        <p:spPr>
          <a:xfrm>
            <a:off x="7267575" y="1743075"/>
            <a:ext cx="1000125" cy="285750"/>
          </a:xfrm>
          <a:prstGeom prst="rect">
            <a:avLst/>
          </a:prstGeom>
          <a:noFill/>
          <a:ln w="0">
            <a:noFill/>
          </a:ln>
        </p:spPr>
        <p:txBody>
          <a:bodyPr lIns="0" tIns="0" rIns="0" bIns="0"/>
          <a:lstStyle>
            <a:defPPr>
              <a:defRPr sz="1425" b="0">
                <a:solidFill>
                  <a:srgbClr val="06235E"/>
                </a:solidFill>
                <a:latin typeface="Times New Roman"/>
                <a:ea typeface="Times New Roman"/>
                <a:cs typeface="Times New Roman"/>
              </a:defRPr>
            </a:defPPr>
          </a:lstStyle>
          <a:p>
            <a:r>
              <a:rPr sz="1425" b="0">
                <a:solidFill>
                  <a:srgbClr val="06235E"/>
                </a:solidFill>
                <a:latin typeface="Times New Roman"/>
                <a:ea typeface="Times New Roman"/>
                <a:cs typeface="Times New Roman"/>
              </a:rPr>
              <a:t>coordinates</a:t>
            </a:r>
          </a:p>
        </p:txBody>
      </p:sp>
      <p:sp>
        <p:nvSpPr>
          <p:cNvPr id="49" name="Straight Connector 48">
            <a:extLst>
              <a:ext uri="{FF2B5EF4-FFF2-40B4-BE49-F238E27FC236}">
                <a16:creationId xmlns:a16="http://schemas.microsoft.com/office/drawing/2014/main" id="{FE96FBBE-1FF0-40E0-8034-E759F95F8E99}"/>
              </a:ext>
            </a:extLst>
          </p:cNvPr>
          <p:cNvSpPr>
            <a:spLocks noGrp="1"/>
          </p:cNvSpPr>
          <p:nvPr/>
        </p:nvSpPr>
        <p:spPr>
          <a:xfrm>
            <a:off x="5810250" y="2952750"/>
            <a:ext cx="0" cy="1143000"/>
          </a:xfrm>
          <a:prstGeom prst="line">
            <a:avLst/>
          </a:prstGeom>
          <a:noFill/>
          <a:ln w="16193">
            <a:solidFill>
              <a:srgbClr val="06235E"/>
            </a:solidFill>
            <a:prstDash val="dash"/>
          </a:ln>
        </p:spPr>
        <p:txBody>
          <a:bodyPr/>
          <a:lstStyle/>
          <a:p>
            <a:endParaRPr lang="en-US"/>
          </a:p>
        </p:txBody>
      </p:sp>
      <p:sp>
        <p:nvSpPr>
          <p:cNvPr id="50" name="Freeform 49">
            <a:extLst>
              <a:ext uri="{FF2B5EF4-FFF2-40B4-BE49-F238E27FC236}">
                <a16:creationId xmlns:a16="http://schemas.microsoft.com/office/drawing/2014/main" id="{113EEB09-5832-4F56-9AC6-FDBFEF344A6E}"/>
              </a:ext>
            </a:extLst>
          </p:cNvPr>
          <p:cNvSpPr>
            <a:spLocks noGrp="1"/>
          </p:cNvSpPr>
          <p:nvPr/>
        </p:nvSpPr>
        <p:spPr>
          <a:xfrm>
            <a:off x="5734050" y="4000500"/>
            <a:ext cx="152400" cy="95250"/>
          </a:xfrm>
          <a:custGeom>
            <a:avLst/>
            <a:gdLst/>
            <a:ahLst/>
            <a:cxnLst/>
            <a:rect l="0" t="0" r="0" b="0"/>
            <a:pathLst>
              <a:path w="152400" h="95250">
                <a:moveTo>
                  <a:pt x="0" y="0"/>
                </a:moveTo>
                <a:lnTo>
                  <a:pt x="76200" y="95250"/>
                </a:lnTo>
                <a:lnTo>
                  <a:pt x="152400" y="0"/>
                </a:lnTo>
              </a:path>
            </a:pathLst>
          </a:custGeom>
          <a:noFill/>
          <a:ln w="16193">
            <a:solidFill>
              <a:srgbClr val="06235E"/>
            </a:solidFill>
          </a:ln>
        </p:spPr>
        <p:txBody>
          <a:bodyPr/>
          <a:lstStyle/>
          <a:p>
            <a:endParaRPr lang="en-US"/>
          </a:p>
        </p:txBody>
      </p:sp>
      <p:sp>
        <p:nvSpPr>
          <p:cNvPr id="51" name="Rectangle 50">
            <a:extLst>
              <a:ext uri="{FF2B5EF4-FFF2-40B4-BE49-F238E27FC236}">
                <a16:creationId xmlns:a16="http://schemas.microsoft.com/office/drawing/2014/main" id="{F98C17E4-2A77-41BA-935B-5B4E9E1E3848}"/>
              </a:ext>
            </a:extLst>
          </p:cNvPr>
          <p:cNvSpPr>
            <a:spLocks noGrp="1"/>
          </p:cNvSpPr>
          <p:nvPr/>
        </p:nvSpPr>
        <p:spPr>
          <a:xfrm>
            <a:off x="5972175" y="3333750"/>
            <a:ext cx="1000125" cy="285750"/>
          </a:xfrm>
          <a:prstGeom prst="rect">
            <a:avLst/>
          </a:prstGeom>
          <a:noFill/>
          <a:ln w="0">
            <a:noFill/>
          </a:ln>
        </p:spPr>
        <p:txBody>
          <a:bodyPr lIns="0" tIns="0" rIns="0" bIns="0"/>
          <a:lstStyle>
            <a:defPPr>
              <a:defRPr sz="1650" b="0">
                <a:solidFill>
                  <a:srgbClr val="06235E"/>
                </a:solidFill>
                <a:latin typeface="Times New Roman"/>
                <a:ea typeface="Times New Roman"/>
                <a:cs typeface="Times New Roman"/>
              </a:defRPr>
            </a:defPPr>
          </a:lstStyle>
          <a:p>
            <a:r>
              <a:rPr sz="1650" b="0">
                <a:solidFill>
                  <a:srgbClr val="06235E"/>
                </a:solidFill>
                <a:latin typeface="Times New Roman"/>
                <a:ea typeface="Times New Roman"/>
                <a:cs typeface="Times New Roman"/>
              </a:rPr>
              <a:t>«use»</a:t>
            </a:r>
          </a:p>
        </p:txBody>
      </p:sp>
      <p:sp>
        <p:nvSpPr>
          <p:cNvPr id="52" name="Straight Connector 51">
            <a:extLst>
              <a:ext uri="{FF2B5EF4-FFF2-40B4-BE49-F238E27FC236}">
                <a16:creationId xmlns:a16="http://schemas.microsoft.com/office/drawing/2014/main" id="{FE28568D-8C68-47AD-A0CF-D514FF9F9893}"/>
              </a:ext>
            </a:extLst>
          </p:cNvPr>
          <p:cNvSpPr>
            <a:spLocks noGrp="1"/>
          </p:cNvSpPr>
          <p:nvPr/>
        </p:nvSpPr>
        <p:spPr>
          <a:xfrm>
            <a:off x="9715500" y="3095625"/>
            <a:ext cx="0" cy="1000125"/>
          </a:xfrm>
          <a:prstGeom prst="line">
            <a:avLst/>
          </a:prstGeom>
          <a:noFill/>
          <a:ln w="16193">
            <a:solidFill>
              <a:srgbClr val="06235E"/>
            </a:solidFill>
            <a:prstDash val="solid"/>
          </a:ln>
        </p:spPr>
        <p:txBody>
          <a:bodyPr/>
          <a:lstStyle/>
          <a:p>
            <a:endParaRPr lang="en-US"/>
          </a:p>
        </p:txBody>
      </p:sp>
      <p:sp>
        <p:nvSpPr>
          <p:cNvPr id="53" name="Diamond 52">
            <a:extLst>
              <a:ext uri="{FF2B5EF4-FFF2-40B4-BE49-F238E27FC236}">
                <a16:creationId xmlns:a16="http://schemas.microsoft.com/office/drawing/2014/main" id="{87BE73C5-D3C8-476A-88DB-F153A9F3EB91}"/>
              </a:ext>
            </a:extLst>
          </p:cNvPr>
          <p:cNvSpPr>
            <a:spLocks noGrp="1"/>
          </p:cNvSpPr>
          <p:nvPr/>
        </p:nvSpPr>
        <p:spPr>
          <a:xfrm>
            <a:off x="9620250" y="2952750"/>
            <a:ext cx="190500" cy="228600"/>
          </a:xfrm>
          <a:prstGeom prst="diamond">
            <a:avLst/>
          </a:prstGeom>
          <a:solidFill>
            <a:srgbClr val="06235E"/>
          </a:solidFill>
          <a:ln w="9525">
            <a:solidFill>
              <a:srgbClr val="06235E"/>
            </a:solidFill>
          </a:ln>
        </p:spPr>
        <p:txBody>
          <a:bodyPr/>
          <a:lstStyle/>
          <a:p>
            <a:endParaRPr lang="en-US"/>
          </a:p>
        </p:txBody>
      </p:sp>
      <p:sp>
        <p:nvSpPr>
          <p:cNvPr id="54" name="Rectangle 53">
            <a:extLst>
              <a:ext uri="{FF2B5EF4-FFF2-40B4-BE49-F238E27FC236}">
                <a16:creationId xmlns:a16="http://schemas.microsoft.com/office/drawing/2014/main" id="{D8094ACB-BB9B-43E6-9350-60FC64AFD6B9}"/>
              </a:ext>
            </a:extLst>
          </p:cNvPr>
          <p:cNvSpPr>
            <a:spLocks noGrp="1"/>
          </p:cNvSpPr>
          <p:nvPr/>
        </p:nvSpPr>
        <p:spPr>
          <a:xfrm>
            <a:off x="9934575" y="3086100"/>
            <a:ext cx="333375" cy="285750"/>
          </a:xfrm>
          <a:prstGeom prst="rect">
            <a:avLst/>
          </a:prstGeom>
          <a:noFill/>
          <a:ln w="0">
            <a:noFill/>
          </a:ln>
        </p:spPr>
        <p:txBody>
          <a:bodyPr lIns="0" tIns="0" rIns="0" bIns="0"/>
          <a:lstStyle>
            <a:defPPr>
              <a:defRPr sz="1650" b="0">
                <a:solidFill>
                  <a:srgbClr val="06235E"/>
                </a:solidFill>
                <a:latin typeface="Times New Roman"/>
                <a:ea typeface="Times New Roman"/>
                <a:cs typeface="Times New Roman"/>
              </a:defRPr>
            </a:defPPr>
          </a:lstStyle>
          <a:p>
            <a:r>
              <a:rPr sz="1650" b="0">
                <a:solidFill>
                  <a:srgbClr val="06235E"/>
                </a:solidFill>
                <a:latin typeface="Times New Roman"/>
                <a:ea typeface="Times New Roman"/>
                <a:cs typeface="Times New Roman"/>
              </a:rPr>
              <a:t>1</a:t>
            </a:r>
          </a:p>
        </p:txBody>
      </p:sp>
      <p:sp>
        <p:nvSpPr>
          <p:cNvPr id="55" name="Rectangle 54">
            <a:extLst>
              <a:ext uri="{FF2B5EF4-FFF2-40B4-BE49-F238E27FC236}">
                <a16:creationId xmlns:a16="http://schemas.microsoft.com/office/drawing/2014/main" id="{6DC0AA76-D9BE-421A-BA4A-118DAC6F4CE2}"/>
              </a:ext>
            </a:extLst>
          </p:cNvPr>
          <p:cNvSpPr>
            <a:spLocks noGrp="1"/>
          </p:cNvSpPr>
          <p:nvPr/>
        </p:nvSpPr>
        <p:spPr>
          <a:xfrm>
            <a:off x="9934575" y="3752850"/>
            <a:ext cx="619125" cy="285750"/>
          </a:xfrm>
          <a:prstGeom prst="rect">
            <a:avLst/>
          </a:prstGeom>
          <a:noFill/>
          <a:ln w="0">
            <a:noFill/>
          </a:ln>
        </p:spPr>
        <p:txBody>
          <a:bodyPr lIns="0" tIns="0" rIns="0" bIns="0"/>
          <a:lstStyle>
            <a:defPPr>
              <a:defRPr sz="1650" b="0">
                <a:solidFill>
                  <a:srgbClr val="06235E"/>
                </a:solidFill>
                <a:latin typeface="Times New Roman"/>
                <a:ea typeface="Times New Roman"/>
                <a:cs typeface="Times New Roman"/>
              </a:defRPr>
            </a:defPPr>
          </a:lstStyle>
          <a:p>
            <a:r>
              <a:rPr sz="1650" b="0">
                <a:solidFill>
                  <a:srgbClr val="06235E"/>
                </a:solidFill>
                <a:latin typeface="Times New Roman"/>
                <a:ea typeface="Times New Roman"/>
                <a:cs typeface="Times New Roman"/>
              </a:rPr>
              <a:t>0..*</a:t>
            </a:r>
          </a:p>
        </p:txBody>
      </p:sp>
      <p:sp>
        <p:nvSpPr>
          <p:cNvPr id="56" name="Rectangle 55">
            <a:extLst>
              <a:ext uri="{FF2B5EF4-FFF2-40B4-BE49-F238E27FC236}">
                <a16:creationId xmlns:a16="http://schemas.microsoft.com/office/drawing/2014/main" id="{2269AAD8-E7CA-424C-8BD2-F45A2097BD0B}"/>
              </a:ext>
            </a:extLst>
          </p:cNvPr>
          <p:cNvSpPr>
            <a:spLocks noGrp="1"/>
          </p:cNvSpPr>
          <p:nvPr/>
        </p:nvSpPr>
        <p:spPr>
          <a:xfrm>
            <a:off x="666750" y="6019800"/>
            <a:ext cx="10572750" cy="3429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Composition: an Order owns its items. Dashed line: dependency on storage.</a:t>
            </a:r>
          </a:p>
        </p:txBody>
      </p:sp>
    </p:spTree>
    <p:extLst>
      <p:ext uri="{BB962C8B-B14F-4D97-AF65-F5344CB8AC3E}">
        <p14:creationId xmlns:p14="http://schemas.microsoft.com/office/powerpoint/2010/main" val="669121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Participants and Responsibilities: Order</a:t>
            </a:r>
          </a:p>
        </p:txBody>
      </p:sp>
      <p:sp>
        <p:nvSpPr>
          <p:cNvPr id="3" name="Rectangle 2">
            <a:extLst>
              <a:ext uri="{FF2B5EF4-FFF2-40B4-BE49-F238E27FC236}">
                <a16:creationId xmlns:a16="http://schemas.microsoft.com/office/drawing/2014/main" id="{A2FD1436-36B6-4184-AD4B-2C3581C65FA0}"/>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dirty="0">
                <a:solidFill>
                  <a:srgbClr val="0000FF"/>
                </a:solidFill>
                <a:latin typeface="Times New Roman"/>
                <a:ea typeface="Times New Roman"/>
                <a:cs typeface="Times New Roman"/>
              </a:rPr>
              <a:t>GRASP </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18</a:t>
            </a:r>
          </a:p>
        </p:txBody>
      </p:sp>
      <p:sp>
        <p:nvSpPr>
          <p:cNvPr id="5" name="Rectangle 4">
            <a:extLst>
              <a:ext uri="{FF2B5EF4-FFF2-40B4-BE49-F238E27FC236}">
                <a16:creationId xmlns:a16="http://schemas.microsoft.com/office/drawing/2014/main" id="{D54C40FE-D510-4C3E-BE1E-7C93A003B064}"/>
              </a:ext>
            </a:extLst>
          </p:cNvPr>
          <p:cNvSpPr>
            <a:spLocks noGrp="1"/>
          </p:cNvSpPr>
          <p:nvPr/>
        </p:nvSpPr>
        <p:spPr>
          <a:xfrm>
            <a:off x="619125" y="1238250"/>
            <a:ext cx="5210175" cy="3276600"/>
          </a:xfrm>
          <a:prstGeom prst="rect">
            <a:avLst/>
          </a:prstGeom>
          <a:solidFill>
            <a:srgbClr val="DDF2D5"/>
          </a:solidFill>
          <a:ln w="0">
            <a:noFill/>
          </a:ln>
        </p:spPr>
        <p:txBody>
          <a:bodyPr/>
          <a:lstStyle/>
          <a:p>
            <a:endParaRPr/>
          </a:p>
        </p:txBody>
      </p:sp>
      <p:sp>
        <p:nvSpPr>
          <p:cNvPr id="6" name="Rectangle 5">
            <a:extLst>
              <a:ext uri="{FF2B5EF4-FFF2-40B4-BE49-F238E27FC236}">
                <a16:creationId xmlns:a16="http://schemas.microsoft.com/office/drawing/2014/main" id="{028DE439-4D0B-4C24-A0F8-E444DBBCA50A}"/>
              </a:ext>
            </a:extLst>
          </p:cNvPr>
          <p:cNvSpPr>
            <a:spLocks noGrp="1"/>
          </p:cNvSpPr>
          <p:nvPr/>
        </p:nvSpPr>
        <p:spPr>
          <a:xfrm>
            <a:off x="771525" y="1390650"/>
            <a:ext cx="4857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Interface and coordination</a:t>
            </a:r>
          </a:p>
        </p:txBody>
      </p:sp>
      <p:sp>
        <p:nvSpPr>
          <p:cNvPr id="7" name="Rectangle 6">
            <a:extLst>
              <a:ext uri="{FF2B5EF4-FFF2-40B4-BE49-F238E27FC236}">
                <a16:creationId xmlns:a16="http://schemas.microsoft.com/office/drawing/2014/main" id="{8B0D18D2-DC92-4639-A933-A36D5E0C6E0A}"/>
              </a:ext>
            </a:extLst>
          </p:cNvPr>
          <p:cNvSpPr>
            <a:spLocks noGrp="1"/>
          </p:cNvSpPr>
          <p:nvPr/>
        </p:nvSpPr>
        <p:spPr>
          <a:xfrm>
            <a:off x="771525" y="1876425"/>
            <a:ext cx="4848225" cy="2324100"/>
          </a:xfrm>
          <a:prstGeom prst="rect">
            <a:avLst/>
          </a:prstGeom>
          <a:noFill/>
          <a:ln w="0">
            <a:noFill/>
          </a:ln>
        </p:spPr>
        <p:txBody>
          <a:bodyPr anchor="ctr">
            <a:normAutofit/>
          </a:bodyPr>
          <a:lstStyle>
            <a:defPPr>
              <a:defRPr sz="195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CustomerUI</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Receives selections and displays results.</a:t>
            </a:r>
          </a:p>
          <a:p>
            <a:pPr algn="l">
              <a:buNone/>
              <a:defRPr sz="2100" b="0">
                <a:solidFill>
                  <a:srgbClr val="1D1D1D"/>
                </a:solidFill>
                <a:latin typeface="Times New Roman"/>
                <a:ea typeface="Times New Roman"/>
                <a:cs typeface="Times New Roman"/>
              </a:defRPr>
            </a:pPr>
            <a:endParaRPr sz="1950" b="0">
              <a:solidFill>
                <a:srgbClr val="1D1D1D"/>
              </a:solidFill>
              <a:latin typeface="Times New Roman"/>
              <a:ea typeface="Times New Roman"/>
              <a:cs typeface="Times New Roman"/>
            </a:endParaRP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OrderController</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Handles system requests and delegates work.</a:t>
            </a:r>
          </a:p>
        </p:txBody>
      </p:sp>
      <p:sp>
        <p:nvSpPr>
          <p:cNvPr id="8" name="Rectangle 7">
            <a:extLst>
              <a:ext uri="{FF2B5EF4-FFF2-40B4-BE49-F238E27FC236}">
                <a16:creationId xmlns:a16="http://schemas.microsoft.com/office/drawing/2014/main" id="{89C4EBA5-0FE2-42AF-9E68-F683BB3A284F}"/>
              </a:ext>
            </a:extLst>
          </p:cNvPr>
          <p:cNvSpPr>
            <a:spLocks noGrp="1"/>
          </p:cNvSpPr>
          <p:nvPr/>
        </p:nvSpPr>
        <p:spPr>
          <a:xfrm>
            <a:off x="6096000" y="1238250"/>
            <a:ext cx="5448300" cy="3276600"/>
          </a:xfrm>
          <a:prstGeom prst="rect">
            <a:avLst/>
          </a:prstGeom>
          <a:solidFill>
            <a:srgbClr val="F6C6AD"/>
          </a:solidFill>
          <a:ln w="0">
            <a:noFill/>
          </a:ln>
        </p:spPr>
        <p:txBody>
          <a:bodyPr/>
          <a:lstStyle/>
          <a:p>
            <a:endParaRPr/>
          </a:p>
        </p:txBody>
      </p:sp>
      <p:sp>
        <p:nvSpPr>
          <p:cNvPr id="9" name="Rectangle 8">
            <a:extLst>
              <a:ext uri="{FF2B5EF4-FFF2-40B4-BE49-F238E27FC236}">
                <a16:creationId xmlns:a16="http://schemas.microsoft.com/office/drawing/2014/main" id="{3F95603B-9050-4F83-9BA9-4B5B8D4CEC04}"/>
              </a:ext>
            </a:extLst>
          </p:cNvPr>
          <p:cNvSpPr>
            <a:spLocks noGrp="1"/>
          </p:cNvSpPr>
          <p:nvPr/>
        </p:nvSpPr>
        <p:spPr>
          <a:xfrm>
            <a:off x="6248400" y="1390650"/>
            <a:ext cx="5048250" cy="314325"/>
          </a:xfrm>
          <a:prstGeom prst="rect">
            <a:avLst/>
          </a:prstGeom>
          <a:noFill/>
          <a:ln w="0">
            <a:noFill/>
          </a:ln>
        </p:spPr>
        <p:txBody>
          <a:bodyPr anchor="ctr">
            <a:noAutofit/>
          </a:bodyPr>
          <a:lstStyle>
            <a:defPPr>
              <a:defRPr sz="1875" b="1">
                <a:solidFill>
                  <a:srgbClr val="C00000"/>
                </a:solidFill>
                <a:latin typeface="Times New Roman"/>
                <a:ea typeface="Times New Roman"/>
                <a:cs typeface="Times New Roman"/>
              </a:defRPr>
            </a:defPPr>
          </a:lstStyle>
          <a:p>
            <a:pPr algn="l">
              <a:buNone/>
              <a:defRPr sz="1875" b="1">
                <a:solidFill>
                  <a:srgbClr val="C00000"/>
                </a:solidFill>
                <a:latin typeface="Times New Roman"/>
                <a:ea typeface="Times New Roman"/>
                <a:cs typeface="Times New Roman"/>
              </a:defRPr>
            </a:pPr>
            <a:r>
              <a:rPr sz="1875" b="1">
                <a:solidFill>
                  <a:srgbClr val="C00000"/>
                </a:solidFill>
                <a:latin typeface="Times New Roman"/>
                <a:ea typeface="Times New Roman"/>
                <a:cs typeface="Times New Roman"/>
              </a:rPr>
              <a:t>Domain and storage</a:t>
            </a:r>
          </a:p>
        </p:txBody>
      </p:sp>
      <p:sp>
        <p:nvSpPr>
          <p:cNvPr id="10" name="Rectangle 9">
            <a:extLst>
              <a:ext uri="{FF2B5EF4-FFF2-40B4-BE49-F238E27FC236}">
                <a16:creationId xmlns:a16="http://schemas.microsoft.com/office/drawing/2014/main" id="{7B597156-DA4E-447A-BEAF-66C5BAA8B8BE}"/>
              </a:ext>
            </a:extLst>
          </p:cNvPr>
          <p:cNvSpPr>
            <a:spLocks noGrp="1"/>
          </p:cNvSpPr>
          <p:nvPr/>
        </p:nvSpPr>
        <p:spPr>
          <a:xfrm>
            <a:off x="6248400" y="1876425"/>
            <a:ext cx="5048250" cy="2324100"/>
          </a:xfrm>
          <a:prstGeom prst="rect">
            <a:avLst/>
          </a:prstGeom>
          <a:noFill/>
          <a:ln w="0">
            <a:noFill/>
          </a:ln>
        </p:spPr>
        <p:txBody>
          <a:bodyPr anchor="ctr">
            <a:normAutofit/>
          </a:bodyPr>
          <a:lstStyle>
            <a:defPPr>
              <a:defRPr sz="195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Order creates items and sums subtotals.</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OrderItem calculates price × quantity.</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OrderRepository saves orders.</a:t>
            </a:r>
          </a:p>
        </p:txBody>
      </p:sp>
      <p:sp>
        <p:nvSpPr>
          <p:cNvPr id="11" name="Rectangle 10">
            <a:extLst>
              <a:ext uri="{FF2B5EF4-FFF2-40B4-BE49-F238E27FC236}">
                <a16:creationId xmlns:a16="http://schemas.microsoft.com/office/drawing/2014/main" id="{A0214C3B-4F1B-477C-AE53-61DCECF8BCCB}"/>
              </a:ext>
            </a:extLst>
          </p:cNvPr>
          <p:cNvSpPr>
            <a:spLocks noGrp="1"/>
          </p:cNvSpPr>
          <p:nvPr/>
        </p:nvSpPr>
        <p:spPr>
          <a:xfrm>
            <a:off x="628650" y="4743450"/>
            <a:ext cx="10915650" cy="1371600"/>
          </a:xfrm>
          <a:prstGeom prst="rect">
            <a:avLst/>
          </a:prstGeom>
          <a:solidFill>
            <a:srgbClr val="DDEBF3"/>
          </a:solidFill>
          <a:ln w="0">
            <a:noFill/>
          </a:ln>
        </p:spPr>
        <p:txBody>
          <a:bodyPr/>
          <a:lstStyle/>
          <a:p>
            <a:endParaRPr sz="2200"/>
          </a:p>
        </p:txBody>
      </p:sp>
      <p:sp>
        <p:nvSpPr>
          <p:cNvPr id="12" name="Rectangle 11">
            <a:extLst>
              <a:ext uri="{FF2B5EF4-FFF2-40B4-BE49-F238E27FC236}">
                <a16:creationId xmlns:a16="http://schemas.microsoft.com/office/drawing/2014/main" id="{EBE0BAB2-7DC8-4005-871E-A550ECBF7661}"/>
              </a:ext>
            </a:extLst>
          </p:cNvPr>
          <p:cNvSpPr>
            <a:spLocks noGrp="1"/>
          </p:cNvSpPr>
          <p:nvPr/>
        </p:nvSpPr>
        <p:spPr>
          <a:xfrm>
            <a:off x="790575" y="4867275"/>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Common example</a:t>
            </a:r>
          </a:p>
        </p:txBody>
      </p:sp>
      <p:sp>
        <p:nvSpPr>
          <p:cNvPr id="13" name="Rectangle 12">
            <a:extLst>
              <a:ext uri="{FF2B5EF4-FFF2-40B4-BE49-F238E27FC236}">
                <a16:creationId xmlns:a16="http://schemas.microsoft.com/office/drawing/2014/main" id="{93A8F26E-AA45-40B1-9EEA-7B67CBAFB0E1}"/>
              </a:ext>
            </a:extLst>
          </p:cNvPr>
          <p:cNvSpPr>
            <a:spLocks noGrp="1"/>
          </p:cNvSpPr>
          <p:nvPr/>
        </p:nvSpPr>
        <p:spPr>
          <a:xfrm>
            <a:off x="790575" y="5257800"/>
            <a:ext cx="10363200" cy="733425"/>
          </a:xfrm>
          <a:prstGeom prst="rect">
            <a:avLst/>
          </a:prstGeom>
          <a:noFill/>
          <a:ln w="0">
            <a:noFill/>
          </a:ln>
        </p:spPr>
        <p:txBody>
          <a:bodyPr anchor="ctr">
            <a:noAutofit/>
          </a:bodyPr>
          <a:lstStyle>
            <a:defPPr>
              <a:defRPr sz="2025"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Two coffees at Rs. 100 each: OrderItem returns Rs. 200, and Order returns Rs. 200.</a:t>
            </a:r>
          </a:p>
        </p:txBody>
      </p:sp>
    </p:spTree>
    <p:extLst>
      <p:ext uri="{BB962C8B-B14F-4D97-AF65-F5344CB8AC3E}">
        <p14:creationId xmlns:p14="http://schemas.microsoft.com/office/powerpoint/2010/main" val="669121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UML Class Diagram: Payment Responsibilities</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19</a:t>
            </a:r>
          </a:p>
        </p:txBody>
      </p:sp>
      <p:sp>
        <p:nvSpPr>
          <p:cNvPr id="15" name="Rectangle 14">
            <a:extLst>
              <a:ext uri="{FF2B5EF4-FFF2-40B4-BE49-F238E27FC236}">
                <a16:creationId xmlns:a16="http://schemas.microsoft.com/office/drawing/2014/main" id="{1E624219-8B1B-45F4-9134-807BAEB9A8BC}"/>
              </a:ext>
            </a:extLst>
          </p:cNvPr>
          <p:cNvSpPr>
            <a:spLocks noGrp="1"/>
          </p:cNvSpPr>
          <p:nvPr/>
        </p:nvSpPr>
        <p:spPr>
          <a:xfrm>
            <a:off x="666750" y="1333500"/>
            <a:ext cx="2857500" cy="1524000"/>
          </a:xfrm>
          <a:prstGeom prst="rect">
            <a:avLst/>
          </a:prstGeom>
          <a:solidFill>
            <a:srgbClr val="E2F0D9"/>
          </a:solidFill>
          <a:ln w="14288">
            <a:solidFill>
              <a:srgbClr val="06235E"/>
            </a:solidFill>
          </a:ln>
        </p:spPr>
        <p:txBody>
          <a:bodyPr/>
          <a:lstStyle/>
          <a:p>
            <a:endParaRPr lang="en-US"/>
          </a:p>
        </p:txBody>
      </p:sp>
      <p:sp>
        <p:nvSpPr>
          <p:cNvPr id="16" name="Rectangle 15">
            <a:extLst>
              <a:ext uri="{FF2B5EF4-FFF2-40B4-BE49-F238E27FC236}">
                <a16:creationId xmlns:a16="http://schemas.microsoft.com/office/drawing/2014/main" id="{3BAE391F-C349-4013-99CD-E05D2A59AA2F}"/>
              </a:ext>
            </a:extLst>
          </p:cNvPr>
          <p:cNvSpPr>
            <a:spLocks noGrp="1"/>
          </p:cNvSpPr>
          <p:nvPr/>
        </p:nvSpPr>
        <p:spPr>
          <a:xfrm>
            <a:off x="762000" y="1409700"/>
            <a:ext cx="2667000" cy="304800"/>
          </a:xfrm>
          <a:prstGeom prst="rect">
            <a:avLst/>
          </a:prstGeom>
          <a:noFill/>
          <a:ln w="0">
            <a:noFill/>
          </a:ln>
        </p:spPr>
        <p:txBody>
          <a:bodyPr lIns="0" tIns="0" rIns="0" bIns="0"/>
          <a:lstStyle>
            <a:defPPr>
              <a:defRPr sz="1575" b="1">
                <a:solidFill>
                  <a:srgbClr val="06235E"/>
                </a:solidFill>
                <a:latin typeface="Times New Roman"/>
                <a:ea typeface="Times New Roman"/>
                <a:cs typeface="Times New Roman"/>
              </a:defRPr>
            </a:defPPr>
          </a:lstStyle>
          <a:p>
            <a:r>
              <a:rPr sz="1575" b="1">
                <a:solidFill>
                  <a:srgbClr val="06235E"/>
                </a:solidFill>
                <a:latin typeface="Times New Roman"/>
                <a:ea typeface="Times New Roman"/>
                <a:cs typeface="Times New Roman"/>
              </a:rPr>
              <a:t>«interface» PaymentMethod</a:t>
            </a:r>
          </a:p>
        </p:txBody>
      </p:sp>
      <p:sp>
        <p:nvSpPr>
          <p:cNvPr id="17" name="Straight Connector 16">
            <a:extLst>
              <a:ext uri="{FF2B5EF4-FFF2-40B4-BE49-F238E27FC236}">
                <a16:creationId xmlns:a16="http://schemas.microsoft.com/office/drawing/2014/main" id="{01236B78-D24B-4FC8-807F-EFA97C508861}"/>
              </a:ext>
            </a:extLst>
          </p:cNvPr>
          <p:cNvSpPr>
            <a:spLocks noGrp="1"/>
          </p:cNvSpPr>
          <p:nvPr/>
        </p:nvSpPr>
        <p:spPr>
          <a:xfrm>
            <a:off x="666750" y="1762125"/>
            <a:ext cx="2857500" cy="0"/>
          </a:xfrm>
          <a:prstGeom prst="line">
            <a:avLst/>
          </a:prstGeom>
          <a:noFill/>
          <a:ln w="16193">
            <a:solidFill>
              <a:srgbClr val="06235E"/>
            </a:solidFill>
            <a:prstDash val="solid"/>
          </a:ln>
        </p:spPr>
        <p:txBody>
          <a:bodyPr/>
          <a:lstStyle/>
          <a:p>
            <a:endParaRPr lang="en-US"/>
          </a:p>
        </p:txBody>
      </p:sp>
      <p:sp>
        <p:nvSpPr>
          <p:cNvPr id="18" name="Rectangle 17">
            <a:extLst>
              <a:ext uri="{FF2B5EF4-FFF2-40B4-BE49-F238E27FC236}">
                <a16:creationId xmlns:a16="http://schemas.microsoft.com/office/drawing/2014/main" id="{FC2E08D5-13DB-4E7B-9E67-730F30F7C5CB}"/>
              </a:ext>
            </a:extLst>
          </p:cNvPr>
          <p:cNvSpPr>
            <a:spLocks noGrp="1"/>
          </p:cNvSpPr>
          <p:nvPr/>
        </p:nvSpPr>
        <p:spPr>
          <a:xfrm>
            <a:off x="78105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endParaRPr/>
          </a:p>
        </p:txBody>
      </p:sp>
      <p:sp>
        <p:nvSpPr>
          <p:cNvPr id="19" name="Straight Connector 18">
            <a:extLst>
              <a:ext uri="{FF2B5EF4-FFF2-40B4-BE49-F238E27FC236}">
                <a16:creationId xmlns:a16="http://schemas.microsoft.com/office/drawing/2014/main" id="{53FF1B36-794D-47B8-9718-A5D1C58E1247}"/>
              </a:ext>
            </a:extLst>
          </p:cNvPr>
          <p:cNvSpPr>
            <a:spLocks noGrp="1"/>
          </p:cNvSpPr>
          <p:nvPr/>
        </p:nvSpPr>
        <p:spPr>
          <a:xfrm>
            <a:off x="666750" y="2286000"/>
            <a:ext cx="2857500" cy="0"/>
          </a:xfrm>
          <a:prstGeom prst="line">
            <a:avLst/>
          </a:prstGeom>
          <a:noFill/>
          <a:ln w="16193">
            <a:solidFill>
              <a:srgbClr val="06235E"/>
            </a:solidFill>
            <a:prstDash val="solid"/>
          </a:ln>
        </p:spPr>
        <p:txBody>
          <a:bodyPr/>
          <a:lstStyle/>
          <a:p>
            <a:endParaRPr lang="en-US"/>
          </a:p>
        </p:txBody>
      </p:sp>
      <p:sp>
        <p:nvSpPr>
          <p:cNvPr id="20" name="Rectangle 19">
            <a:extLst>
              <a:ext uri="{FF2B5EF4-FFF2-40B4-BE49-F238E27FC236}">
                <a16:creationId xmlns:a16="http://schemas.microsoft.com/office/drawing/2014/main" id="{749C6734-7479-4211-8886-C42F2DBE7011}"/>
              </a:ext>
            </a:extLst>
          </p:cNvPr>
          <p:cNvSpPr>
            <a:spLocks noGrp="1"/>
          </p:cNvSpPr>
          <p:nvPr/>
        </p:nvSpPr>
        <p:spPr>
          <a:xfrm>
            <a:off x="781050" y="237172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pay(amount: int)</a:t>
            </a:r>
          </a:p>
        </p:txBody>
      </p:sp>
      <p:sp>
        <p:nvSpPr>
          <p:cNvPr id="21" name="Rectangle 20">
            <a:extLst>
              <a:ext uri="{FF2B5EF4-FFF2-40B4-BE49-F238E27FC236}">
                <a16:creationId xmlns:a16="http://schemas.microsoft.com/office/drawing/2014/main" id="{655023DD-22E9-4873-9A5B-4C10FA317381}"/>
              </a:ext>
            </a:extLst>
          </p:cNvPr>
          <p:cNvSpPr>
            <a:spLocks noGrp="1"/>
          </p:cNvSpPr>
          <p:nvPr/>
        </p:nvSpPr>
        <p:spPr>
          <a:xfrm>
            <a:off x="666750" y="3905250"/>
            <a:ext cx="2857500" cy="1524000"/>
          </a:xfrm>
          <a:prstGeom prst="rect">
            <a:avLst/>
          </a:prstGeom>
          <a:solidFill>
            <a:srgbClr val="DDEBF7"/>
          </a:solidFill>
          <a:ln w="14288">
            <a:solidFill>
              <a:srgbClr val="06235E"/>
            </a:solidFill>
          </a:ln>
        </p:spPr>
        <p:txBody>
          <a:bodyPr/>
          <a:lstStyle/>
          <a:p>
            <a:endParaRPr lang="en-US"/>
          </a:p>
        </p:txBody>
      </p:sp>
      <p:sp>
        <p:nvSpPr>
          <p:cNvPr id="22" name="Rectangle 21">
            <a:extLst>
              <a:ext uri="{FF2B5EF4-FFF2-40B4-BE49-F238E27FC236}">
                <a16:creationId xmlns:a16="http://schemas.microsoft.com/office/drawing/2014/main" id="{5F67E1E1-517D-454C-9FD0-1C22B572A752}"/>
              </a:ext>
            </a:extLst>
          </p:cNvPr>
          <p:cNvSpPr>
            <a:spLocks noGrp="1"/>
          </p:cNvSpPr>
          <p:nvPr/>
        </p:nvSpPr>
        <p:spPr>
          <a:xfrm>
            <a:off x="762000" y="398145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CashPayment</a:t>
            </a:r>
          </a:p>
        </p:txBody>
      </p:sp>
      <p:sp>
        <p:nvSpPr>
          <p:cNvPr id="23" name="Straight Connector 22">
            <a:extLst>
              <a:ext uri="{FF2B5EF4-FFF2-40B4-BE49-F238E27FC236}">
                <a16:creationId xmlns:a16="http://schemas.microsoft.com/office/drawing/2014/main" id="{AF9977F5-3C2D-4F78-8B2C-CE2BCB64FFCC}"/>
              </a:ext>
            </a:extLst>
          </p:cNvPr>
          <p:cNvSpPr>
            <a:spLocks noGrp="1"/>
          </p:cNvSpPr>
          <p:nvPr/>
        </p:nvSpPr>
        <p:spPr>
          <a:xfrm>
            <a:off x="666750" y="4333875"/>
            <a:ext cx="2857500" cy="0"/>
          </a:xfrm>
          <a:prstGeom prst="line">
            <a:avLst/>
          </a:prstGeom>
          <a:noFill/>
          <a:ln w="16193">
            <a:solidFill>
              <a:srgbClr val="06235E"/>
            </a:solidFill>
            <a:prstDash val="solid"/>
          </a:ln>
        </p:spPr>
        <p:txBody>
          <a:bodyPr/>
          <a:lstStyle/>
          <a:p>
            <a:endParaRPr lang="en-US"/>
          </a:p>
        </p:txBody>
      </p:sp>
      <p:sp>
        <p:nvSpPr>
          <p:cNvPr id="24" name="Rectangle 23">
            <a:extLst>
              <a:ext uri="{FF2B5EF4-FFF2-40B4-BE49-F238E27FC236}">
                <a16:creationId xmlns:a16="http://schemas.microsoft.com/office/drawing/2014/main" id="{719D17FA-F8B8-4E17-9901-0ED40A70D9FE}"/>
              </a:ext>
            </a:extLst>
          </p:cNvPr>
          <p:cNvSpPr>
            <a:spLocks noGrp="1"/>
          </p:cNvSpPr>
          <p:nvPr/>
        </p:nvSpPr>
        <p:spPr>
          <a:xfrm>
            <a:off x="781050" y="442912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endParaRPr/>
          </a:p>
        </p:txBody>
      </p:sp>
      <p:sp>
        <p:nvSpPr>
          <p:cNvPr id="25" name="Straight Connector 24">
            <a:extLst>
              <a:ext uri="{FF2B5EF4-FFF2-40B4-BE49-F238E27FC236}">
                <a16:creationId xmlns:a16="http://schemas.microsoft.com/office/drawing/2014/main" id="{BB1CAAD4-BC25-49E5-9932-468F3B97916A}"/>
              </a:ext>
            </a:extLst>
          </p:cNvPr>
          <p:cNvSpPr>
            <a:spLocks noGrp="1"/>
          </p:cNvSpPr>
          <p:nvPr/>
        </p:nvSpPr>
        <p:spPr>
          <a:xfrm>
            <a:off x="666750" y="4857750"/>
            <a:ext cx="2857500" cy="0"/>
          </a:xfrm>
          <a:prstGeom prst="line">
            <a:avLst/>
          </a:prstGeom>
          <a:noFill/>
          <a:ln w="16193">
            <a:solidFill>
              <a:srgbClr val="06235E"/>
            </a:solidFill>
            <a:prstDash val="solid"/>
          </a:ln>
        </p:spPr>
        <p:txBody>
          <a:bodyPr/>
          <a:lstStyle/>
          <a:p>
            <a:endParaRPr lang="en-US"/>
          </a:p>
        </p:txBody>
      </p:sp>
      <p:sp>
        <p:nvSpPr>
          <p:cNvPr id="26" name="Rectangle 25">
            <a:extLst>
              <a:ext uri="{FF2B5EF4-FFF2-40B4-BE49-F238E27FC236}">
                <a16:creationId xmlns:a16="http://schemas.microsoft.com/office/drawing/2014/main" id="{AFC4562E-CCC8-4722-A224-3E346259C8FE}"/>
              </a:ext>
            </a:extLst>
          </p:cNvPr>
          <p:cNvSpPr>
            <a:spLocks noGrp="1"/>
          </p:cNvSpPr>
          <p:nvPr/>
        </p:nvSpPr>
        <p:spPr>
          <a:xfrm>
            <a:off x="781050" y="494347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pay(amount: int)</a:t>
            </a:r>
          </a:p>
        </p:txBody>
      </p:sp>
      <p:sp>
        <p:nvSpPr>
          <p:cNvPr id="27" name="Rectangle 26">
            <a:extLst>
              <a:ext uri="{FF2B5EF4-FFF2-40B4-BE49-F238E27FC236}">
                <a16:creationId xmlns:a16="http://schemas.microsoft.com/office/drawing/2014/main" id="{D03112C7-C090-408B-9050-2B993911E1C2}"/>
              </a:ext>
            </a:extLst>
          </p:cNvPr>
          <p:cNvSpPr>
            <a:spLocks noGrp="1"/>
          </p:cNvSpPr>
          <p:nvPr/>
        </p:nvSpPr>
        <p:spPr>
          <a:xfrm>
            <a:off x="4381500" y="3905250"/>
            <a:ext cx="2857500" cy="1524000"/>
          </a:xfrm>
          <a:prstGeom prst="rect">
            <a:avLst/>
          </a:prstGeom>
          <a:solidFill>
            <a:srgbClr val="DDEBF7"/>
          </a:solidFill>
          <a:ln w="14288">
            <a:solidFill>
              <a:srgbClr val="06235E"/>
            </a:solidFill>
          </a:ln>
        </p:spPr>
        <p:txBody>
          <a:bodyPr/>
          <a:lstStyle/>
          <a:p>
            <a:endParaRPr lang="en-US"/>
          </a:p>
        </p:txBody>
      </p:sp>
      <p:sp>
        <p:nvSpPr>
          <p:cNvPr id="28" name="Rectangle 27">
            <a:extLst>
              <a:ext uri="{FF2B5EF4-FFF2-40B4-BE49-F238E27FC236}">
                <a16:creationId xmlns:a16="http://schemas.microsoft.com/office/drawing/2014/main" id="{A89892D0-1B0E-4FBB-9BDC-FFF22BEB03D9}"/>
              </a:ext>
            </a:extLst>
          </p:cNvPr>
          <p:cNvSpPr>
            <a:spLocks noGrp="1"/>
          </p:cNvSpPr>
          <p:nvPr/>
        </p:nvSpPr>
        <p:spPr>
          <a:xfrm>
            <a:off x="4476750" y="398145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CardPayment</a:t>
            </a:r>
          </a:p>
        </p:txBody>
      </p:sp>
      <p:sp>
        <p:nvSpPr>
          <p:cNvPr id="29" name="Straight Connector 28">
            <a:extLst>
              <a:ext uri="{FF2B5EF4-FFF2-40B4-BE49-F238E27FC236}">
                <a16:creationId xmlns:a16="http://schemas.microsoft.com/office/drawing/2014/main" id="{856F98C5-17C1-436D-851D-FBBD77F449A5}"/>
              </a:ext>
            </a:extLst>
          </p:cNvPr>
          <p:cNvSpPr>
            <a:spLocks noGrp="1"/>
          </p:cNvSpPr>
          <p:nvPr/>
        </p:nvSpPr>
        <p:spPr>
          <a:xfrm>
            <a:off x="4381500" y="4333875"/>
            <a:ext cx="2857500" cy="0"/>
          </a:xfrm>
          <a:prstGeom prst="line">
            <a:avLst/>
          </a:prstGeom>
          <a:noFill/>
          <a:ln w="16193">
            <a:solidFill>
              <a:srgbClr val="06235E"/>
            </a:solidFill>
            <a:prstDash val="solid"/>
          </a:ln>
        </p:spPr>
        <p:txBody>
          <a:bodyPr/>
          <a:lstStyle/>
          <a:p>
            <a:endParaRPr lang="en-US"/>
          </a:p>
        </p:txBody>
      </p:sp>
      <p:sp>
        <p:nvSpPr>
          <p:cNvPr id="30" name="Rectangle 29">
            <a:extLst>
              <a:ext uri="{FF2B5EF4-FFF2-40B4-BE49-F238E27FC236}">
                <a16:creationId xmlns:a16="http://schemas.microsoft.com/office/drawing/2014/main" id="{72491B22-12C5-47A5-9562-DB3A8D205ADA}"/>
              </a:ext>
            </a:extLst>
          </p:cNvPr>
          <p:cNvSpPr>
            <a:spLocks noGrp="1"/>
          </p:cNvSpPr>
          <p:nvPr/>
        </p:nvSpPr>
        <p:spPr>
          <a:xfrm>
            <a:off x="4495800" y="442912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gateway: PaymentGateway</a:t>
            </a:r>
          </a:p>
        </p:txBody>
      </p:sp>
      <p:sp>
        <p:nvSpPr>
          <p:cNvPr id="31" name="Straight Connector 30">
            <a:extLst>
              <a:ext uri="{FF2B5EF4-FFF2-40B4-BE49-F238E27FC236}">
                <a16:creationId xmlns:a16="http://schemas.microsoft.com/office/drawing/2014/main" id="{6EB9C5AD-458F-4538-979A-9466D1157527}"/>
              </a:ext>
            </a:extLst>
          </p:cNvPr>
          <p:cNvSpPr>
            <a:spLocks noGrp="1"/>
          </p:cNvSpPr>
          <p:nvPr/>
        </p:nvSpPr>
        <p:spPr>
          <a:xfrm>
            <a:off x="4381500" y="4857750"/>
            <a:ext cx="2857500" cy="0"/>
          </a:xfrm>
          <a:prstGeom prst="line">
            <a:avLst/>
          </a:prstGeom>
          <a:noFill/>
          <a:ln w="16193">
            <a:solidFill>
              <a:srgbClr val="06235E"/>
            </a:solidFill>
            <a:prstDash val="solid"/>
          </a:ln>
        </p:spPr>
        <p:txBody>
          <a:bodyPr/>
          <a:lstStyle/>
          <a:p>
            <a:endParaRPr lang="en-US"/>
          </a:p>
        </p:txBody>
      </p:sp>
      <p:sp>
        <p:nvSpPr>
          <p:cNvPr id="32" name="Rectangle 31">
            <a:extLst>
              <a:ext uri="{FF2B5EF4-FFF2-40B4-BE49-F238E27FC236}">
                <a16:creationId xmlns:a16="http://schemas.microsoft.com/office/drawing/2014/main" id="{6B0AF7E9-F786-4E96-87DB-B4E7A6BB5EDC}"/>
              </a:ext>
            </a:extLst>
          </p:cNvPr>
          <p:cNvSpPr>
            <a:spLocks noGrp="1"/>
          </p:cNvSpPr>
          <p:nvPr/>
        </p:nvSpPr>
        <p:spPr>
          <a:xfrm>
            <a:off x="4495800" y="494347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pay(amount: int)</a:t>
            </a:r>
          </a:p>
        </p:txBody>
      </p:sp>
      <p:sp>
        <p:nvSpPr>
          <p:cNvPr id="33" name="Rectangle 32">
            <a:extLst>
              <a:ext uri="{FF2B5EF4-FFF2-40B4-BE49-F238E27FC236}">
                <a16:creationId xmlns:a16="http://schemas.microsoft.com/office/drawing/2014/main" id="{809EABA8-855E-4312-B2F8-8FF62A5EC46B}"/>
              </a:ext>
            </a:extLst>
          </p:cNvPr>
          <p:cNvSpPr>
            <a:spLocks noGrp="1"/>
          </p:cNvSpPr>
          <p:nvPr/>
        </p:nvSpPr>
        <p:spPr>
          <a:xfrm>
            <a:off x="4381500" y="1333500"/>
            <a:ext cx="2857500" cy="1524000"/>
          </a:xfrm>
          <a:prstGeom prst="rect">
            <a:avLst/>
          </a:prstGeom>
          <a:solidFill>
            <a:srgbClr val="E2F0D9"/>
          </a:solidFill>
          <a:ln w="14288">
            <a:solidFill>
              <a:srgbClr val="06235E"/>
            </a:solidFill>
          </a:ln>
        </p:spPr>
        <p:txBody>
          <a:bodyPr/>
          <a:lstStyle/>
          <a:p>
            <a:endParaRPr lang="en-US"/>
          </a:p>
        </p:txBody>
      </p:sp>
      <p:sp>
        <p:nvSpPr>
          <p:cNvPr id="34" name="Rectangle 33">
            <a:extLst>
              <a:ext uri="{FF2B5EF4-FFF2-40B4-BE49-F238E27FC236}">
                <a16:creationId xmlns:a16="http://schemas.microsoft.com/office/drawing/2014/main" id="{B218005C-899F-4A3E-A451-EAF13974AC23}"/>
              </a:ext>
            </a:extLst>
          </p:cNvPr>
          <p:cNvSpPr>
            <a:spLocks noGrp="1"/>
          </p:cNvSpPr>
          <p:nvPr/>
        </p:nvSpPr>
        <p:spPr>
          <a:xfrm>
            <a:off x="4476750" y="1409700"/>
            <a:ext cx="2667000" cy="304800"/>
          </a:xfrm>
          <a:prstGeom prst="rect">
            <a:avLst/>
          </a:prstGeom>
          <a:noFill/>
          <a:ln w="0">
            <a:noFill/>
          </a:ln>
        </p:spPr>
        <p:txBody>
          <a:bodyPr lIns="0" tIns="0" rIns="0" bIns="0"/>
          <a:lstStyle>
            <a:defPPr>
              <a:defRPr sz="1575" b="1">
                <a:solidFill>
                  <a:srgbClr val="06235E"/>
                </a:solidFill>
                <a:latin typeface="Times New Roman"/>
                <a:ea typeface="Times New Roman"/>
                <a:cs typeface="Times New Roman"/>
              </a:defRPr>
            </a:defPPr>
          </a:lstStyle>
          <a:p>
            <a:r>
              <a:rPr sz="1575" b="1">
                <a:solidFill>
                  <a:srgbClr val="06235E"/>
                </a:solidFill>
                <a:latin typeface="Times New Roman"/>
                <a:ea typeface="Times New Roman"/>
                <a:cs typeface="Times New Roman"/>
              </a:rPr>
              <a:t>«interface» PaymentGateway</a:t>
            </a:r>
          </a:p>
        </p:txBody>
      </p:sp>
      <p:sp>
        <p:nvSpPr>
          <p:cNvPr id="35" name="Straight Connector 34">
            <a:extLst>
              <a:ext uri="{FF2B5EF4-FFF2-40B4-BE49-F238E27FC236}">
                <a16:creationId xmlns:a16="http://schemas.microsoft.com/office/drawing/2014/main" id="{65152DFC-5173-4475-BC70-E3E203B7D2E2}"/>
              </a:ext>
            </a:extLst>
          </p:cNvPr>
          <p:cNvSpPr>
            <a:spLocks noGrp="1"/>
          </p:cNvSpPr>
          <p:nvPr/>
        </p:nvSpPr>
        <p:spPr>
          <a:xfrm>
            <a:off x="4381500" y="1762125"/>
            <a:ext cx="2857500" cy="0"/>
          </a:xfrm>
          <a:prstGeom prst="line">
            <a:avLst/>
          </a:prstGeom>
          <a:noFill/>
          <a:ln w="16193">
            <a:solidFill>
              <a:srgbClr val="06235E"/>
            </a:solidFill>
            <a:prstDash val="solid"/>
          </a:ln>
        </p:spPr>
        <p:txBody>
          <a:bodyPr/>
          <a:lstStyle/>
          <a:p>
            <a:endParaRPr lang="en-US"/>
          </a:p>
        </p:txBody>
      </p:sp>
      <p:sp>
        <p:nvSpPr>
          <p:cNvPr id="36" name="Rectangle 35">
            <a:extLst>
              <a:ext uri="{FF2B5EF4-FFF2-40B4-BE49-F238E27FC236}">
                <a16:creationId xmlns:a16="http://schemas.microsoft.com/office/drawing/2014/main" id="{3A2A80C0-9AA3-45EF-B40E-BA2D0AA24F07}"/>
              </a:ext>
            </a:extLst>
          </p:cNvPr>
          <p:cNvSpPr>
            <a:spLocks noGrp="1"/>
          </p:cNvSpPr>
          <p:nvPr/>
        </p:nvSpPr>
        <p:spPr>
          <a:xfrm>
            <a:off x="449580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endParaRPr/>
          </a:p>
        </p:txBody>
      </p:sp>
      <p:sp>
        <p:nvSpPr>
          <p:cNvPr id="37" name="Straight Connector 36">
            <a:extLst>
              <a:ext uri="{FF2B5EF4-FFF2-40B4-BE49-F238E27FC236}">
                <a16:creationId xmlns:a16="http://schemas.microsoft.com/office/drawing/2014/main" id="{67D2DEBE-4945-406C-8C82-6447B7407C3D}"/>
              </a:ext>
            </a:extLst>
          </p:cNvPr>
          <p:cNvSpPr>
            <a:spLocks noGrp="1"/>
          </p:cNvSpPr>
          <p:nvPr/>
        </p:nvSpPr>
        <p:spPr>
          <a:xfrm>
            <a:off x="4381500" y="2286000"/>
            <a:ext cx="2857500" cy="0"/>
          </a:xfrm>
          <a:prstGeom prst="line">
            <a:avLst/>
          </a:prstGeom>
          <a:noFill/>
          <a:ln w="16193">
            <a:solidFill>
              <a:srgbClr val="06235E"/>
            </a:solidFill>
            <a:prstDash val="solid"/>
          </a:ln>
        </p:spPr>
        <p:txBody>
          <a:bodyPr/>
          <a:lstStyle/>
          <a:p>
            <a:endParaRPr lang="en-US"/>
          </a:p>
        </p:txBody>
      </p:sp>
      <p:sp>
        <p:nvSpPr>
          <p:cNvPr id="38" name="Rectangle 37">
            <a:extLst>
              <a:ext uri="{FF2B5EF4-FFF2-40B4-BE49-F238E27FC236}">
                <a16:creationId xmlns:a16="http://schemas.microsoft.com/office/drawing/2014/main" id="{4F37C1EC-5320-4585-B17B-B32A263A22AA}"/>
              </a:ext>
            </a:extLst>
          </p:cNvPr>
          <p:cNvSpPr>
            <a:spLocks noGrp="1"/>
          </p:cNvSpPr>
          <p:nvPr/>
        </p:nvSpPr>
        <p:spPr>
          <a:xfrm>
            <a:off x="4495800" y="237172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authorise(amount: int)</a:t>
            </a:r>
          </a:p>
        </p:txBody>
      </p:sp>
      <p:sp>
        <p:nvSpPr>
          <p:cNvPr id="39" name="Rectangle 38">
            <a:extLst>
              <a:ext uri="{FF2B5EF4-FFF2-40B4-BE49-F238E27FC236}">
                <a16:creationId xmlns:a16="http://schemas.microsoft.com/office/drawing/2014/main" id="{671B4688-003D-4BB6-A725-DB53F4C584C9}"/>
              </a:ext>
            </a:extLst>
          </p:cNvPr>
          <p:cNvSpPr>
            <a:spLocks noGrp="1"/>
          </p:cNvSpPr>
          <p:nvPr/>
        </p:nvSpPr>
        <p:spPr>
          <a:xfrm>
            <a:off x="8286750" y="1333500"/>
            <a:ext cx="2857500" cy="1524000"/>
          </a:xfrm>
          <a:prstGeom prst="rect">
            <a:avLst/>
          </a:prstGeom>
          <a:solidFill>
            <a:srgbClr val="DDEBF7"/>
          </a:solidFill>
          <a:ln w="14288">
            <a:solidFill>
              <a:srgbClr val="06235E"/>
            </a:solidFill>
          </a:ln>
        </p:spPr>
        <p:txBody>
          <a:bodyPr/>
          <a:lstStyle/>
          <a:p>
            <a:endParaRPr lang="en-US"/>
          </a:p>
        </p:txBody>
      </p:sp>
      <p:sp>
        <p:nvSpPr>
          <p:cNvPr id="40" name="Rectangle 39">
            <a:extLst>
              <a:ext uri="{FF2B5EF4-FFF2-40B4-BE49-F238E27FC236}">
                <a16:creationId xmlns:a16="http://schemas.microsoft.com/office/drawing/2014/main" id="{666B8496-3D02-43B8-8AE3-DEA125E8922D}"/>
              </a:ext>
            </a:extLst>
          </p:cNvPr>
          <p:cNvSpPr>
            <a:spLocks noGrp="1"/>
          </p:cNvSpPr>
          <p:nvPr/>
        </p:nvSpPr>
        <p:spPr>
          <a:xfrm>
            <a:off x="8382000" y="140970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BankPaymentGateway</a:t>
            </a:r>
          </a:p>
        </p:txBody>
      </p:sp>
      <p:sp>
        <p:nvSpPr>
          <p:cNvPr id="41" name="Straight Connector 40">
            <a:extLst>
              <a:ext uri="{FF2B5EF4-FFF2-40B4-BE49-F238E27FC236}">
                <a16:creationId xmlns:a16="http://schemas.microsoft.com/office/drawing/2014/main" id="{D518DAD0-88E3-4C1A-9A9A-51791AC3CA2A}"/>
              </a:ext>
            </a:extLst>
          </p:cNvPr>
          <p:cNvSpPr>
            <a:spLocks noGrp="1"/>
          </p:cNvSpPr>
          <p:nvPr/>
        </p:nvSpPr>
        <p:spPr>
          <a:xfrm>
            <a:off x="8286750" y="1762125"/>
            <a:ext cx="2857500" cy="0"/>
          </a:xfrm>
          <a:prstGeom prst="line">
            <a:avLst/>
          </a:prstGeom>
          <a:noFill/>
          <a:ln w="16193">
            <a:solidFill>
              <a:srgbClr val="06235E"/>
            </a:solidFill>
            <a:prstDash val="solid"/>
          </a:ln>
        </p:spPr>
        <p:txBody>
          <a:bodyPr/>
          <a:lstStyle/>
          <a:p>
            <a:endParaRPr lang="en-US"/>
          </a:p>
        </p:txBody>
      </p:sp>
      <p:sp>
        <p:nvSpPr>
          <p:cNvPr id="42" name="Rectangle 41">
            <a:extLst>
              <a:ext uri="{FF2B5EF4-FFF2-40B4-BE49-F238E27FC236}">
                <a16:creationId xmlns:a16="http://schemas.microsoft.com/office/drawing/2014/main" id="{C62AE758-1ED0-48F0-B945-EEE311CC12F8}"/>
              </a:ext>
            </a:extLst>
          </p:cNvPr>
          <p:cNvSpPr>
            <a:spLocks noGrp="1"/>
          </p:cNvSpPr>
          <p:nvPr/>
        </p:nvSpPr>
        <p:spPr>
          <a:xfrm>
            <a:off x="8401050" y="185737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bank: BankService</a:t>
            </a:r>
          </a:p>
        </p:txBody>
      </p:sp>
      <p:sp>
        <p:nvSpPr>
          <p:cNvPr id="43" name="Straight Connector 42">
            <a:extLst>
              <a:ext uri="{FF2B5EF4-FFF2-40B4-BE49-F238E27FC236}">
                <a16:creationId xmlns:a16="http://schemas.microsoft.com/office/drawing/2014/main" id="{70D29ADC-4A3D-4696-AAA2-4938A1261607}"/>
              </a:ext>
            </a:extLst>
          </p:cNvPr>
          <p:cNvSpPr>
            <a:spLocks noGrp="1"/>
          </p:cNvSpPr>
          <p:nvPr/>
        </p:nvSpPr>
        <p:spPr>
          <a:xfrm>
            <a:off x="8286750" y="2286000"/>
            <a:ext cx="2857500" cy="0"/>
          </a:xfrm>
          <a:prstGeom prst="line">
            <a:avLst/>
          </a:prstGeom>
          <a:noFill/>
          <a:ln w="16193">
            <a:solidFill>
              <a:srgbClr val="06235E"/>
            </a:solidFill>
            <a:prstDash val="solid"/>
          </a:ln>
        </p:spPr>
        <p:txBody>
          <a:bodyPr/>
          <a:lstStyle/>
          <a:p>
            <a:endParaRPr lang="en-US"/>
          </a:p>
        </p:txBody>
      </p:sp>
      <p:sp>
        <p:nvSpPr>
          <p:cNvPr id="44" name="Rectangle 43">
            <a:extLst>
              <a:ext uri="{FF2B5EF4-FFF2-40B4-BE49-F238E27FC236}">
                <a16:creationId xmlns:a16="http://schemas.microsoft.com/office/drawing/2014/main" id="{618EA782-4866-4C19-A6B1-56D3A0406A72}"/>
              </a:ext>
            </a:extLst>
          </p:cNvPr>
          <p:cNvSpPr>
            <a:spLocks noGrp="1"/>
          </p:cNvSpPr>
          <p:nvPr/>
        </p:nvSpPr>
        <p:spPr>
          <a:xfrm>
            <a:off x="8401050" y="237172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authorise(amount: int)</a:t>
            </a:r>
          </a:p>
        </p:txBody>
      </p:sp>
      <p:sp>
        <p:nvSpPr>
          <p:cNvPr id="45" name="Rectangle 44">
            <a:extLst>
              <a:ext uri="{FF2B5EF4-FFF2-40B4-BE49-F238E27FC236}">
                <a16:creationId xmlns:a16="http://schemas.microsoft.com/office/drawing/2014/main" id="{D7152B30-A753-4214-9336-325580929E38}"/>
              </a:ext>
            </a:extLst>
          </p:cNvPr>
          <p:cNvSpPr>
            <a:spLocks noGrp="1"/>
          </p:cNvSpPr>
          <p:nvPr/>
        </p:nvSpPr>
        <p:spPr>
          <a:xfrm>
            <a:off x="8286750" y="3905250"/>
            <a:ext cx="2857500" cy="1524000"/>
          </a:xfrm>
          <a:prstGeom prst="rect">
            <a:avLst/>
          </a:prstGeom>
          <a:solidFill>
            <a:srgbClr val="F8CBAD"/>
          </a:solidFill>
          <a:ln w="14288">
            <a:solidFill>
              <a:srgbClr val="06235E"/>
            </a:solidFill>
          </a:ln>
        </p:spPr>
        <p:txBody>
          <a:bodyPr/>
          <a:lstStyle/>
          <a:p>
            <a:endParaRPr lang="en-US"/>
          </a:p>
        </p:txBody>
      </p:sp>
      <p:sp>
        <p:nvSpPr>
          <p:cNvPr id="46" name="Rectangle 45">
            <a:extLst>
              <a:ext uri="{FF2B5EF4-FFF2-40B4-BE49-F238E27FC236}">
                <a16:creationId xmlns:a16="http://schemas.microsoft.com/office/drawing/2014/main" id="{A7F94AEF-BC33-497F-862E-1FB3301A6208}"/>
              </a:ext>
            </a:extLst>
          </p:cNvPr>
          <p:cNvSpPr>
            <a:spLocks noGrp="1"/>
          </p:cNvSpPr>
          <p:nvPr/>
        </p:nvSpPr>
        <p:spPr>
          <a:xfrm>
            <a:off x="8382000" y="3981450"/>
            <a:ext cx="2667000" cy="304800"/>
          </a:xfrm>
          <a:prstGeom prst="rect">
            <a:avLst/>
          </a:prstGeom>
          <a:noFill/>
          <a:ln w="0">
            <a:noFill/>
          </a:ln>
        </p:spPr>
        <p:txBody>
          <a:bodyPr lIns="0" tIns="0" rIns="0" bIns="0"/>
          <a:lstStyle>
            <a:defPPr>
              <a:defRPr sz="1875" b="1">
                <a:solidFill>
                  <a:srgbClr val="06235E"/>
                </a:solidFill>
                <a:latin typeface="Times New Roman"/>
                <a:ea typeface="Times New Roman"/>
                <a:cs typeface="Times New Roman"/>
              </a:defRPr>
            </a:defPPr>
          </a:lstStyle>
          <a:p>
            <a:r>
              <a:rPr sz="1875" b="1">
                <a:solidFill>
                  <a:srgbClr val="06235E"/>
                </a:solidFill>
                <a:latin typeface="Times New Roman"/>
                <a:ea typeface="Times New Roman"/>
                <a:cs typeface="Times New Roman"/>
              </a:rPr>
              <a:t>«external» BankService</a:t>
            </a:r>
          </a:p>
        </p:txBody>
      </p:sp>
      <p:sp>
        <p:nvSpPr>
          <p:cNvPr id="47" name="Straight Connector 46">
            <a:extLst>
              <a:ext uri="{FF2B5EF4-FFF2-40B4-BE49-F238E27FC236}">
                <a16:creationId xmlns:a16="http://schemas.microsoft.com/office/drawing/2014/main" id="{976C675A-0CFD-40D8-B0E4-140089D51232}"/>
              </a:ext>
            </a:extLst>
          </p:cNvPr>
          <p:cNvSpPr>
            <a:spLocks noGrp="1"/>
          </p:cNvSpPr>
          <p:nvPr/>
        </p:nvSpPr>
        <p:spPr>
          <a:xfrm>
            <a:off x="8286750" y="4333875"/>
            <a:ext cx="2857500" cy="0"/>
          </a:xfrm>
          <a:prstGeom prst="line">
            <a:avLst/>
          </a:prstGeom>
          <a:noFill/>
          <a:ln w="16193">
            <a:solidFill>
              <a:srgbClr val="06235E"/>
            </a:solidFill>
            <a:prstDash val="solid"/>
          </a:ln>
        </p:spPr>
        <p:txBody>
          <a:bodyPr/>
          <a:lstStyle/>
          <a:p>
            <a:endParaRPr lang="en-US"/>
          </a:p>
        </p:txBody>
      </p:sp>
      <p:sp>
        <p:nvSpPr>
          <p:cNvPr id="48" name="Rectangle 47">
            <a:extLst>
              <a:ext uri="{FF2B5EF4-FFF2-40B4-BE49-F238E27FC236}">
                <a16:creationId xmlns:a16="http://schemas.microsoft.com/office/drawing/2014/main" id="{415B9703-F7B4-4023-9B3B-06FDE3170C53}"/>
              </a:ext>
            </a:extLst>
          </p:cNvPr>
          <p:cNvSpPr>
            <a:spLocks noGrp="1"/>
          </p:cNvSpPr>
          <p:nvPr/>
        </p:nvSpPr>
        <p:spPr>
          <a:xfrm>
            <a:off x="8401050" y="4429125"/>
            <a:ext cx="2628900" cy="381000"/>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endParaRPr/>
          </a:p>
        </p:txBody>
      </p:sp>
      <p:sp>
        <p:nvSpPr>
          <p:cNvPr id="49" name="Straight Connector 48">
            <a:extLst>
              <a:ext uri="{FF2B5EF4-FFF2-40B4-BE49-F238E27FC236}">
                <a16:creationId xmlns:a16="http://schemas.microsoft.com/office/drawing/2014/main" id="{D0A2A197-3464-4396-BF73-6A7143BFBFD4}"/>
              </a:ext>
            </a:extLst>
          </p:cNvPr>
          <p:cNvSpPr>
            <a:spLocks noGrp="1"/>
          </p:cNvSpPr>
          <p:nvPr/>
        </p:nvSpPr>
        <p:spPr>
          <a:xfrm>
            <a:off x="8286750" y="4857750"/>
            <a:ext cx="2857500" cy="0"/>
          </a:xfrm>
          <a:prstGeom prst="line">
            <a:avLst/>
          </a:prstGeom>
          <a:noFill/>
          <a:ln w="16193">
            <a:solidFill>
              <a:srgbClr val="06235E"/>
            </a:solidFill>
            <a:prstDash val="solid"/>
          </a:ln>
        </p:spPr>
        <p:txBody>
          <a:bodyPr/>
          <a:lstStyle/>
          <a:p>
            <a:endParaRPr lang="en-US"/>
          </a:p>
        </p:txBody>
      </p:sp>
      <p:sp>
        <p:nvSpPr>
          <p:cNvPr id="50" name="Rectangle 49">
            <a:extLst>
              <a:ext uri="{FF2B5EF4-FFF2-40B4-BE49-F238E27FC236}">
                <a16:creationId xmlns:a16="http://schemas.microsoft.com/office/drawing/2014/main" id="{213DAC49-DECE-4EBA-A02D-E44614ACC29A}"/>
              </a:ext>
            </a:extLst>
          </p:cNvPr>
          <p:cNvSpPr>
            <a:spLocks noGrp="1"/>
          </p:cNvSpPr>
          <p:nvPr/>
        </p:nvSpPr>
        <p:spPr>
          <a:xfrm>
            <a:off x="8401050" y="4943475"/>
            <a:ext cx="2628900" cy="428625"/>
          </a:xfrm>
          <a:prstGeom prst="rect">
            <a:avLst/>
          </a:prstGeom>
          <a:noFill/>
          <a:ln w="0">
            <a:noFill/>
          </a:ln>
        </p:spPr>
        <p:txBody>
          <a:bodyPr lIns="0" tIns="0" rIns="0" bIns="0"/>
          <a:lstStyle>
            <a:defPPr>
              <a:defRPr sz="1725" b="0">
                <a:solidFill>
                  <a:srgbClr val="1D1D1D"/>
                </a:solidFill>
                <a:latin typeface="Times New Roman"/>
                <a:ea typeface="Times New Roman"/>
                <a:cs typeface="Times New Roman"/>
              </a:defRPr>
            </a:defPPr>
          </a:lstStyle>
          <a:p>
            <a:r>
              <a:rPr sz="1725" b="0">
                <a:solidFill>
                  <a:srgbClr val="1D1D1D"/>
                </a:solidFill>
                <a:latin typeface="Times New Roman"/>
                <a:ea typeface="Times New Roman"/>
                <a:cs typeface="Times New Roman"/>
              </a:rPr>
              <a:t>+ authorise(amount: int)</a:t>
            </a:r>
          </a:p>
        </p:txBody>
      </p:sp>
      <p:sp>
        <p:nvSpPr>
          <p:cNvPr id="51" name="Straight Connector 50">
            <a:extLst>
              <a:ext uri="{FF2B5EF4-FFF2-40B4-BE49-F238E27FC236}">
                <a16:creationId xmlns:a16="http://schemas.microsoft.com/office/drawing/2014/main" id="{DC0BC160-A423-4004-A0E9-5D9E2E3173D6}"/>
              </a:ext>
            </a:extLst>
          </p:cNvPr>
          <p:cNvSpPr>
            <a:spLocks noGrp="1"/>
          </p:cNvSpPr>
          <p:nvPr/>
        </p:nvSpPr>
        <p:spPr>
          <a:xfrm>
            <a:off x="2095500" y="3067050"/>
            <a:ext cx="0" cy="838200"/>
          </a:xfrm>
          <a:prstGeom prst="line">
            <a:avLst/>
          </a:prstGeom>
          <a:noFill/>
          <a:ln w="16193">
            <a:solidFill>
              <a:srgbClr val="06235E"/>
            </a:solidFill>
            <a:prstDash val="dash"/>
          </a:ln>
        </p:spPr>
        <p:txBody>
          <a:bodyPr/>
          <a:lstStyle/>
          <a:p>
            <a:endParaRPr lang="en-US"/>
          </a:p>
        </p:txBody>
      </p:sp>
      <p:sp>
        <p:nvSpPr>
          <p:cNvPr id="52" name="Triangle 51">
            <a:extLst>
              <a:ext uri="{FF2B5EF4-FFF2-40B4-BE49-F238E27FC236}">
                <a16:creationId xmlns:a16="http://schemas.microsoft.com/office/drawing/2014/main" id="{D5DD4DA9-7B69-408A-8DCB-8AA867C131BA}"/>
              </a:ext>
            </a:extLst>
          </p:cNvPr>
          <p:cNvSpPr>
            <a:spLocks noGrp="1"/>
          </p:cNvSpPr>
          <p:nvPr/>
        </p:nvSpPr>
        <p:spPr>
          <a:xfrm>
            <a:off x="1981200" y="2857500"/>
            <a:ext cx="228600" cy="228600"/>
          </a:xfrm>
          <a:prstGeom prst="triangle">
            <a:avLst/>
          </a:prstGeom>
          <a:solidFill>
            <a:srgbClr val="FFFFFF"/>
          </a:solidFill>
          <a:ln w="15240">
            <a:solidFill>
              <a:srgbClr val="06235E"/>
            </a:solidFill>
          </a:ln>
        </p:spPr>
        <p:txBody>
          <a:bodyPr/>
          <a:lstStyle/>
          <a:p>
            <a:endParaRPr lang="en-US"/>
          </a:p>
        </p:txBody>
      </p:sp>
      <p:sp>
        <p:nvSpPr>
          <p:cNvPr id="53" name="Straight Connector 52">
            <a:extLst>
              <a:ext uri="{FF2B5EF4-FFF2-40B4-BE49-F238E27FC236}">
                <a16:creationId xmlns:a16="http://schemas.microsoft.com/office/drawing/2014/main" id="{5E5EA43B-CFE3-4D68-964F-1A602DBA400D}"/>
              </a:ext>
            </a:extLst>
          </p:cNvPr>
          <p:cNvSpPr>
            <a:spLocks noGrp="1"/>
          </p:cNvSpPr>
          <p:nvPr/>
        </p:nvSpPr>
        <p:spPr>
          <a:xfrm>
            <a:off x="3905250" y="4552950"/>
            <a:ext cx="476250" cy="0"/>
          </a:xfrm>
          <a:prstGeom prst="line">
            <a:avLst/>
          </a:prstGeom>
          <a:noFill/>
          <a:ln w="16193">
            <a:solidFill>
              <a:srgbClr val="06235E"/>
            </a:solidFill>
            <a:prstDash val="dash"/>
          </a:ln>
        </p:spPr>
        <p:txBody>
          <a:bodyPr/>
          <a:lstStyle/>
          <a:p>
            <a:endParaRPr lang="en-US"/>
          </a:p>
        </p:txBody>
      </p:sp>
      <p:sp>
        <p:nvSpPr>
          <p:cNvPr id="54" name="Straight Connector 53">
            <a:extLst>
              <a:ext uri="{FF2B5EF4-FFF2-40B4-BE49-F238E27FC236}">
                <a16:creationId xmlns:a16="http://schemas.microsoft.com/office/drawing/2014/main" id="{BEF89AE0-4343-4142-AF90-AA7D361C7983}"/>
              </a:ext>
            </a:extLst>
          </p:cNvPr>
          <p:cNvSpPr>
            <a:spLocks noGrp="1"/>
          </p:cNvSpPr>
          <p:nvPr/>
        </p:nvSpPr>
        <p:spPr>
          <a:xfrm>
            <a:off x="3905250" y="2667000"/>
            <a:ext cx="0" cy="1885950"/>
          </a:xfrm>
          <a:prstGeom prst="line">
            <a:avLst/>
          </a:prstGeom>
          <a:noFill/>
          <a:ln w="16193">
            <a:solidFill>
              <a:srgbClr val="06235E"/>
            </a:solidFill>
            <a:prstDash val="dash"/>
          </a:ln>
        </p:spPr>
        <p:txBody>
          <a:bodyPr/>
          <a:lstStyle/>
          <a:p>
            <a:endParaRPr lang="en-US"/>
          </a:p>
        </p:txBody>
      </p:sp>
      <p:sp>
        <p:nvSpPr>
          <p:cNvPr id="55" name="Straight Connector 54">
            <a:extLst>
              <a:ext uri="{FF2B5EF4-FFF2-40B4-BE49-F238E27FC236}">
                <a16:creationId xmlns:a16="http://schemas.microsoft.com/office/drawing/2014/main" id="{6DDA21F9-14FF-4A71-88BA-C9E17E9BEEFB}"/>
              </a:ext>
            </a:extLst>
          </p:cNvPr>
          <p:cNvSpPr>
            <a:spLocks noGrp="1"/>
          </p:cNvSpPr>
          <p:nvPr/>
        </p:nvSpPr>
        <p:spPr>
          <a:xfrm>
            <a:off x="3752850" y="2667000"/>
            <a:ext cx="152400" cy="0"/>
          </a:xfrm>
          <a:prstGeom prst="line">
            <a:avLst/>
          </a:prstGeom>
          <a:noFill/>
          <a:ln w="16193">
            <a:solidFill>
              <a:srgbClr val="06235E"/>
            </a:solidFill>
            <a:prstDash val="dash"/>
          </a:ln>
        </p:spPr>
        <p:txBody>
          <a:bodyPr/>
          <a:lstStyle/>
          <a:p>
            <a:endParaRPr lang="en-US"/>
          </a:p>
        </p:txBody>
      </p:sp>
      <p:sp>
        <p:nvSpPr>
          <p:cNvPr id="56" name="Triangle 55">
            <a:extLst>
              <a:ext uri="{FF2B5EF4-FFF2-40B4-BE49-F238E27FC236}">
                <a16:creationId xmlns:a16="http://schemas.microsoft.com/office/drawing/2014/main" id="{3C03BE77-6597-4B8A-87F3-3176EC740B19}"/>
              </a:ext>
            </a:extLst>
          </p:cNvPr>
          <p:cNvSpPr>
            <a:spLocks noGrp="1"/>
          </p:cNvSpPr>
          <p:nvPr/>
        </p:nvSpPr>
        <p:spPr>
          <a:xfrm rot="16200000">
            <a:off x="3524250" y="2552700"/>
            <a:ext cx="228600" cy="228600"/>
          </a:xfrm>
          <a:prstGeom prst="triangle">
            <a:avLst/>
          </a:prstGeom>
          <a:solidFill>
            <a:srgbClr val="FFFFFF"/>
          </a:solidFill>
          <a:ln w="15240">
            <a:solidFill>
              <a:srgbClr val="06235E"/>
            </a:solidFill>
          </a:ln>
        </p:spPr>
        <p:txBody>
          <a:bodyPr/>
          <a:lstStyle/>
          <a:p>
            <a:endParaRPr lang="en-US"/>
          </a:p>
        </p:txBody>
      </p:sp>
      <p:sp>
        <p:nvSpPr>
          <p:cNvPr id="57" name="Straight Connector 56">
            <a:extLst>
              <a:ext uri="{FF2B5EF4-FFF2-40B4-BE49-F238E27FC236}">
                <a16:creationId xmlns:a16="http://schemas.microsoft.com/office/drawing/2014/main" id="{AE799C8E-9FB0-4BC2-8CC2-6651EA93FC90}"/>
              </a:ext>
            </a:extLst>
          </p:cNvPr>
          <p:cNvSpPr>
            <a:spLocks noGrp="1"/>
          </p:cNvSpPr>
          <p:nvPr/>
        </p:nvSpPr>
        <p:spPr>
          <a:xfrm>
            <a:off x="7467600" y="2095500"/>
            <a:ext cx="819150" cy="0"/>
          </a:xfrm>
          <a:prstGeom prst="line">
            <a:avLst/>
          </a:prstGeom>
          <a:noFill/>
          <a:ln w="16193">
            <a:solidFill>
              <a:srgbClr val="06235E"/>
            </a:solidFill>
            <a:prstDash val="dash"/>
          </a:ln>
        </p:spPr>
        <p:txBody>
          <a:bodyPr/>
          <a:lstStyle/>
          <a:p>
            <a:endParaRPr lang="en-US"/>
          </a:p>
        </p:txBody>
      </p:sp>
      <p:sp>
        <p:nvSpPr>
          <p:cNvPr id="58" name="Triangle 57">
            <a:extLst>
              <a:ext uri="{FF2B5EF4-FFF2-40B4-BE49-F238E27FC236}">
                <a16:creationId xmlns:a16="http://schemas.microsoft.com/office/drawing/2014/main" id="{55EF487C-1FA1-4C15-8363-82B9A5AF5FF1}"/>
              </a:ext>
            </a:extLst>
          </p:cNvPr>
          <p:cNvSpPr>
            <a:spLocks noGrp="1"/>
          </p:cNvSpPr>
          <p:nvPr/>
        </p:nvSpPr>
        <p:spPr>
          <a:xfrm rot="16200000">
            <a:off x="7239000" y="1981200"/>
            <a:ext cx="228600" cy="228600"/>
          </a:xfrm>
          <a:prstGeom prst="triangle">
            <a:avLst/>
          </a:prstGeom>
          <a:solidFill>
            <a:srgbClr val="FFFFFF"/>
          </a:solidFill>
          <a:ln w="15240">
            <a:solidFill>
              <a:srgbClr val="06235E"/>
            </a:solidFill>
          </a:ln>
        </p:spPr>
        <p:txBody>
          <a:bodyPr/>
          <a:lstStyle/>
          <a:p>
            <a:endParaRPr lang="en-US"/>
          </a:p>
        </p:txBody>
      </p:sp>
      <p:sp>
        <p:nvSpPr>
          <p:cNvPr id="59" name="Straight Connector 58">
            <a:extLst>
              <a:ext uri="{FF2B5EF4-FFF2-40B4-BE49-F238E27FC236}">
                <a16:creationId xmlns:a16="http://schemas.microsoft.com/office/drawing/2014/main" id="{6BD6310A-A601-414A-B3F8-4E82015C6E58}"/>
              </a:ext>
            </a:extLst>
          </p:cNvPr>
          <p:cNvSpPr>
            <a:spLocks noGrp="1"/>
          </p:cNvSpPr>
          <p:nvPr/>
        </p:nvSpPr>
        <p:spPr>
          <a:xfrm>
            <a:off x="5810250" y="2857500"/>
            <a:ext cx="0" cy="1047750"/>
          </a:xfrm>
          <a:prstGeom prst="line">
            <a:avLst/>
          </a:prstGeom>
          <a:noFill/>
          <a:ln w="16193">
            <a:solidFill>
              <a:srgbClr val="06235E"/>
            </a:solidFill>
            <a:prstDash val="solid"/>
          </a:ln>
        </p:spPr>
        <p:txBody>
          <a:bodyPr/>
          <a:lstStyle/>
          <a:p>
            <a:endParaRPr lang="en-US"/>
          </a:p>
        </p:txBody>
      </p:sp>
      <p:sp>
        <p:nvSpPr>
          <p:cNvPr id="60" name="Rectangle 59">
            <a:extLst>
              <a:ext uri="{FF2B5EF4-FFF2-40B4-BE49-F238E27FC236}">
                <a16:creationId xmlns:a16="http://schemas.microsoft.com/office/drawing/2014/main" id="{0909199C-0815-47DF-A781-DFB34546C949}"/>
              </a:ext>
            </a:extLst>
          </p:cNvPr>
          <p:cNvSpPr>
            <a:spLocks noGrp="1"/>
          </p:cNvSpPr>
          <p:nvPr/>
        </p:nvSpPr>
        <p:spPr>
          <a:xfrm>
            <a:off x="5972175" y="3248025"/>
            <a:ext cx="904875" cy="285750"/>
          </a:xfrm>
          <a:prstGeom prst="rect">
            <a:avLst/>
          </a:prstGeom>
          <a:noFill/>
          <a:ln w="0">
            <a:noFill/>
          </a:ln>
        </p:spPr>
        <p:txBody>
          <a:bodyPr lIns="0" tIns="0" rIns="0" bIns="0"/>
          <a:lstStyle>
            <a:defPPr>
              <a:defRPr sz="1650" b="0">
                <a:solidFill>
                  <a:srgbClr val="06235E"/>
                </a:solidFill>
                <a:latin typeface="Times New Roman"/>
                <a:ea typeface="Times New Roman"/>
                <a:cs typeface="Times New Roman"/>
              </a:defRPr>
            </a:defPPr>
          </a:lstStyle>
          <a:p>
            <a:r>
              <a:rPr sz="1650" b="0">
                <a:solidFill>
                  <a:srgbClr val="06235E"/>
                </a:solidFill>
                <a:latin typeface="Times New Roman"/>
                <a:ea typeface="Times New Roman"/>
                <a:cs typeface="Times New Roman"/>
              </a:rPr>
              <a:t>gateway</a:t>
            </a:r>
          </a:p>
        </p:txBody>
      </p:sp>
      <p:sp>
        <p:nvSpPr>
          <p:cNvPr id="61" name="Straight Connector 60">
            <a:extLst>
              <a:ext uri="{FF2B5EF4-FFF2-40B4-BE49-F238E27FC236}">
                <a16:creationId xmlns:a16="http://schemas.microsoft.com/office/drawing/2014/main" id="{915EFDAC-CFE6-4F32-BE88-93C1362B22D7}"/>
              </a:ext>
            </a:extLst>
          </p:cNvPr>
          <p:cNvSpPr>
            <a:spLocks noGrp="1"/>
          </p:cNvSpPr>
          <p:nvPr/>
        </p:nvSpPr>
        <p:spPr>
          <a:xfrm>
            <a:off x="9715500" y="2857500"/>
            <a:ext cx="0" cy="1047750"/>
          </a:xfrm>
          <a:prstGeom prst="line">
            <a:avLst/>
          </a:prstGeom>
          <a:noFill/>
          <a:ln w="16193">
            <a:solidFill>
              <a:srgbClr val="06235E"/>
            </a:solidFill>
            <a:prstDash val="solid"/>
          </a:ln>
        </p:spPr>
        <p:txBody>
          <a:bodyPr/>
          <a:lstStyle/>
          <a:p>
            <a:endParaRPr lang="en-US"/>
          </a:p>
        </p:txBody>
      </p:sp>
      <p:sp>
        <p:nvSpPr>
          <p:cNvPr id="62" name="Rectangle 61">
            <a:extLst>
              <a:ext uri="{FF2B5EF4-FFF2-40B4-BE49-F238E27FC236}">
                <a16:creationId xmlns:a16="http://schemas.microsoft.com/office/drawing/2014/main" id="{989260F0-DE73-4743-A910-CFA9AC1F1203}"/>
              </a:ext>
            </a:extLst>
          </p:cNvPr>
          <p:cNvSpPr>
            <a:spLocks noGrp="1"/>
          </p:cNvSpPr>
          <p:nvPr/>
        </p:nvSpPr>
        <p:spPr>
          <a:xfrm>
            <a:off x="9867900" y="3248025"/>
            <a:ext cx="666750" cy="285750"/>
          </a:xfrm>
          <a:prstGeom prst="rect">
            <a:avLst/>
          </a:prstGeom>
          <a:noFill/>
          <a:ln w="0">
            <a:noFill/>
          </a:ln>
        </p:spPr>
        <p:txBody>
          <a:bodyPr lIns="0" tIns="0" rIns="0" bIns="0"/>
          <a:lstStyle>
            <a:defPPr>
              <a:defRPr sz="1650" b="0">
                <a:solidFill>
                  <a:srgbClr val="06235E"/>
                </a:solidFill>
                <a:latin typeface="Times New Roman"/>
                <a:ea typeface="Times New Roman"/>
                <a:cs typeface="Times New Roman"/>
              </a:defRPr>
            </a:defPPr>
          </a:lstStyle>
          <a:p>
            <a:r>
              <a:rPr sz="1650" b="0">
                <a:solidFill>
                  <a:srgbClr val="06235E"/>
                </a:solidFill>
                <a:latin typeface="Times New Roman"/>
                <a:ea typeface="Times New Roman"/>
                <a:cs typeface="Times New Roman"/>
              </a:rPr>
              <a:t>bank</a:t>
            </a:r>
          </a:p>
        </p:txBody>
      </p:sp>
      <p:sp>
        <p:nvSpPr>
          <p:cNvPr id="63" name="Rectangle 62">
            <a:extLst>
              <a:ext uri="{FF2B5EF4-FFF2-40B4-BE49-F238E27FC236}">
                <a16:creationId xmlns:a16="http://schemas.microsoft.com/office/drawing/2014/main" id="{E8F3C832-5853-4A81-AFE1-531634D1A1CD}"/>
              </a:ext>
            </a:extLst>
          </p:cNvPr>
          <p:cNvSpPr>
            <a:spLocks noGrp="1"/>
          </p:cNvSpPr>
          <p:nvPr/>
        </p:nvSpPr>
        <p:spPr>
          <a:xfrm>
            <a:off x="666750" y="5810250"/>
            <a:ext cx="10858500" cy="304800"/>
          </a:xfrm>
          <a:prstGeom prst="rect">
            <a:avLst/>
          </a:prstGeom>
          <a:noFill/>
          <a:ln w="0">
            <a:noFill/>
          </a:ln>
        </p:spPr>
        <p:txBody>
          <a:bodyPr lIns="0" tIns="0" rIns="0" bIns="0"/>
          <a:lstStyle>
            <a:defPPr>
              <a:defRPr sz="1800" b="1">
                <a:solidFill>
                  <a:srgbClr val="06235E"/>
                </a:solidFill>
                <a:latin typeface="Times New Roman"/>
                <a:ea typeface="Times New Roman"/>
                <a:cs typeface="Times New Roman"/>
              </a:defRPr>
            </a:defPPr>
          </a:lstStyle>
          <a:p>
            <a:r>
              <a:rPr sz="1800" b="1">
                <a:solidFill>
                  <a:srgbClr val="06235E"/>
                </a:solidFill>
                <a:latin typeface="Times New Roman"/>
                <a:ea typeface="Times New Roman"/>
                <a:cs typeface="Times New Roman"/>
              </a:rPr>
              <a:t>Dashed line + hollow triangle: implements an interface. Solid line: association.</a:t>
            </a:r>
          </a:p>
        </p:txBody>
      </p:sp>
      <p:sp>
        <p:nvSpPr>
          <p:cNvPr id="64" name="Rectangle 63">
            <a:extLst>
              <a:ext uri="{FF2B5EF4-FFF2-40B4-BE49-F238E27FC236}">
                <a16:creationId xmlns:a16="http://schemas.microsoft.com/office/drawing/2014/main" id="{7CAC9627-C796-4556-84D1-0D972C2F9832}"/>
              </a:ext>
            </a:extLst>
          </p:cNvPr>
          <p:cNvSpPr>
            <a:spLocks noGrp="1"/>
          </p:cNvSpPr>
          <p:nvPr/>
        </p:nvSpPr>
        <p:spPr>
          <a:xfrm>
            <a:off x="666750" y="6191250"/>
            <a:ext cx="10858500" cy="304800"/>
          </a:xfrm>
          <a:prstGeom prst="rect">
            <a:avLst/>
          </a:prstGeom>
          <a:noFill/>
          <a:ln w="0">
            <a:noFill/>
          </a:ln>
        </p:spPr>
        <p:txBody>
          <a:bodyPr lIns="0" tIns="0" rIns="0" bIns="0"/>
          <a:lstStyle>
            <a:defPPr>
              <a:defRPr sz="1800" b="0">
                <a:solidFill>
                  <a:srgbClr val="06235E"/>
                </a:solidFill>
                <a:latin typeface="Times New Roman"/>
                <a:ea typeface="Times New Roman"/>
                <a:cs typeface="Times New Roman"/>
              </a:defRPr>
            </a:defPPr>
          </a:lstStyle>
          <a:p>
            <a:r>
              <a:rPr sz="1800" b="0">
                <a:solidFill>
                  <a:srgbClr val="06235E"/>
                </a:solidFill>
                <a:latin typeface="Times New Roman"/>
                <a:ea typeface="Times New Roman"/>
                <a:cs typeface="Times New Roman"/>
              </a:rPr>
              <a:t>Expanded design: CardPayment delegates real authorisation to PaymentGateway.</a:t>
            </a:r>
          </a:p>
        </p:txBody>
      </p:sp>
    </p:spTree>
    <p:extLst>
      <p:ext uri="{BB962C8B-B14F-4D97-AF65-F5344CB8AC3E}">
        <p14:creationId xmlns:p14="http://schemas.microsoft.com/office/powerpoint/2010/main" val="669121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Participants and Responsibilities: Payment</a:t>
            </a:r>
          </a:p>
        </p:txBody>
      </p:sp>
      <p:sp>
        <p:nvSpPr>
          <p:cNvPr id="3" name="Rectangle 2">
            <a:extLst>
              <a:ext uri="{FF2B5EF4-FFF2-40B4-BE49-F238E27FC236}">
                <a16:creationId xmlns:a16="http://schemas.microsoft.com/office/drawing/2014/main" id="{A2FD1436-36B6-4184-AD4B-2C3581C65FA0}"/>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a:solidFill>
                  <a:srgbClr val="0000FF"/>
                </a:solidFill>
                <a:latin typeface="Times New Roman"/>
                <a:ea typeface="Times New Roman"/>
                <a:cs typeface="Times New Roman"/>
              </a:rPr>
              <a:t>GRASP AND ANTI-PATTERNS</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20</a:t>
            </a:r>
          </a:p>
        </p:txBody>
      </p:sp>
      <p:sp>
        <p:nvSpPr>
          <p:cNvPr id="5" name="Rectangle 4">
            <a:extLst>
              <a:ext uri="{FF2B5EF4-FFF2-40B4-BE49-F238E27FC236}">
                <a16:creationId xmlns:a16="http://schemas.microsoft.com/office/drawing/2014/main" id="{D54C40FE-D510-4C3E-BE1E-7C93A003B064}"/>
              </a:ext>
            </a:extLst>
          </p:cNvPr>
          <p:cNvSpPr>
            <a:spLocks noGrp="1"/>
          </p:cNvSpPr>
          <p:nvPr/>
        </p:nvSpPr>
        <p:spPr>
          <a:xfrm>
            <a:off x="619125" y="1238250"/>
            <a:ext cx="5210175" cy="3276600"/>
          </a:xfrm>
          <a:prstGeom prst="rect">
            <a:avLst/>
          </a:prstGeom>
          <a:solidFill>
            <a:srgbClr val="DDF2D5"/>
          </a:solidFill>
          <a:ln w="0">
            <a:noFill/>
          </a:ln>
        </p:spPr>
        <p:txBody>
          <a:bodyPr/>
          <a:lstStyle/>
          <a:p>
            <a:endParaRPr/>
          </a:p>
        </p:txBody>
      </p:sp>
      <p:sp>
        <p:nvSpPr>
          <p:cNvPr id="6" name="Rectangle 5">
            <a:extLst>
              <a:ext uri="{FF2B5EF4-FFF2-40B4-BE49-F238E27FC236}">
                <a16:creationId xmlns:a16="http://schemas.microsoft.com/office/drawing/2014/main" id="{028DE439-4D0B-4C24-A0F8-E444DBBCA50A}"/>
              </a:ext>
            </a:extLst>
          </p:cNvPr>
          <p:cNvSpPr>
            <a:spLocks noGrp="1"/>
          </p:cNvSpPr>
          <p:nvPr/>
        </p:nvSpPr>
        <p:spPr>
          <a:xfrm>
            <a:off x="771525" y="1390650"/>
            <a:ext cx="4857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Choosing payment behaviour</a:t>
            </a:r>
          </a:p>
        </p:txBody>
      </p:sp>
      <p:sp>
        <p:nvSpPr>
          <p:cNvPr id="7" name="Rectangle 6">
            <a:extLst>
              <a:ext uri="{FF2B5EF4-FFF2-40B4-BE49-F238E27FC236}">
                <a16:creationId xmlns:a16="http://schemas.microsoft.com/office/drawing/2014/main" id="{8B0D18D2-DC92-4639-A933-A36D5E0C6E0A}"/>
              </a:ext>
            </a:extLst>
          </p:cNvPr>
          <p:cNvSpPr>
            <a:spLocks noGrp="1"/>
          </p:cNvSpPr>
          <p:nvPr/>
        </p:nvSpPr>
        <p:spPr>
          <a:xfrm>
            <a:off x="771525" y="1876425"/>
            <a:ext cx="4848225" cy="2324100"/>
          </a:xfrm>
          <a:prstGeom prst="rect">
            <a:avLst/>
          </a:prstGeom>
          <a:noFill/>
          <a:ln w="0">
            <a:noFill/>
          </a:ln>
        </p:spPr>
        <p:txBody>
          <a:bodyPr anchor="ctr">
            <a:normAutofit/>
          </a:bodyPr>
          <a:lstStyle>
            <a:defPPr>
              <a:defRPr sz="195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PaymentMethod defines pay(amount).</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CashPayment handles cash payment.</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CardPayment requests card authorisation through a gateway.</a:t>
            </a:r>
          </a:p>
        </p:txBody>
      </p:sp>
      <p:sp>
        <p:nvSpPr>
          <p:cNvPr id="8" name="Rectangle 7">
            <a:extLst>
              <a:ext uri="{FF2B5EF4-FFF2-40B4-BE49-F238E27FC236}">
                <a16:creationId xmlns:a16="http://schemas.microsoft.com/office/drawing/2014/main" id="{89C4EBA5-0FE2-42AF-9E68-F683BB3A284F}"/>
              </a:ext>
            </a:extLst>
          </p:cNvPr>
          <p:cNvSpPr>
            <a:spLocks noGrp="1"/>
          </p:cNvSpPr>
          <p:nvPr/>
        </p:nvSpPr>
        <p:spPr>
          <a:xfrm>
            <a:off x="6096000" y="1238250"/>
            <a:ext cx="5448300" cy="3276600"/>
          </a:xfrm>
          <a:prstGeom prst="rect">
            <a:avLst/>
          </a:prstGeom>
          <a:solidFill>
            <a:srgbClr val="F6C6AD"/>
          </a:solidFill>
          <a:ln w="0">
            <a:noFill/>
          </a:ln>
        </p:spPr>
        <p:txBody>
          <a:bodyPr/>
          <a:lstStyle/>
          <a:p>
            <a:endParaRPr/>
          </a:p>
        </p:txBody>
      </p:sp>
      <p:sp>
        <p:nvSpPr>
          <p:cNvPr id="9" name="Rectangle 8">
            <a:extLst>
              <a:ext uri="{FF2B5EF4-FFF2-40B4-BE49-F238E27FC236}">
                <a16:creationId xmlns:a16="http://schemas.microsoft.com/office/drawing/2014/main" id="{3F95603B-9050-4F83-9BA9-4B5B8D4CEC04}"/>
              </a:ext>
            </a:extLst>
          </p:cNvPr>
          <p:cNvSpPr>
            <a:spLocks noGrp="1"/>
          </p:cNvSpPr>
          <p:nvPr/>
        </p:nvSpPr>
        <p:spPr>
          <a:xfrm>
            <a:off x="6248400" y="1390650"/>
            <a:ext cx="5048250" cy="314325"/>
          </a:xfrm>
          <a:prstGeom prst="rect">
            <a:avLst/>
          </a:prstGeom>
          <a:noFill/>
          <a:ln w="0">
            <a:noFill/>
          </a:ln>
        </p:spPr>
        <p:txBody>
          <a:bodyPr anchor="ctr">
            <a:noAutofit/>
          </a:bodyPr>
          <a:lstStyle>
            <a:defPPr>
              <a:defRPr sz="1875" b="1">
                <a:solidFill>
                  <a:srgbClr val="C00000"/>
                </a:solidFill>
                <a:latin typeface="Times New Roman"/>
                <a:ea typeface="Times New Roman"/>
                <a:cs typeface="Times New Roman"/>
              </a:defRPr>
            </a:defPPr>
          </a:lstStyle>
          <a:p>
            <a:pPr algn="l">
              <a:buNone/>
              <a:defRPr sz="1875" b="1">
                <a:solidFill>
                  <a:srgbClr val="C00000"/>
                </a:solidFill>
                <a:latin typeface="Times New Roman"/>
                <a:ea typeface="Times New Roman"/>
                <a:cs typeface="Times New Roman"/>
              </a:defRPr>
            </a:pPr>
            <a:r>
              <a:rPr sz="1875" b="1">
                <a:solidFill>
                  <a:srgbClr val="C00000"/>
                </a:solidFill>
                <a:latin typeface="Times New Roman"/>
                <a:ea typeface="Times New Roman"/>
                <a:cs typeface="Times New Roman"/>
              </a:rPr>
              <a:t>Connecting to a bank</a:t>
            </a:r>
          </a:p>
        </p:txBody>
      </p:sp>
      <p:sp>
        <p:nvSpPr>
          <p:cNvPr id="10" name="Rectangle 9">
            <a:extLst>
              <a:ext uri="{FF2B5EF4-FFF2-40B4-BE49-F238E27FC236}">
                <a16:creationId xmlns:a16="http://schemas.microsoft.com/office/drawing/2014/main" id="{7B597156-DA4E-447A-BEAF-66C5BAA8B8BE}"/>
              </a:ext>
            </a:extLst>
          </p:cNvPr>
          <p:cNvSpPr>
            <a:spLocks noGrp="1"/>
          </p:cNvSpPr>
          <p:nvPr/>
        </p:nvSpPr>
        <p:spPr>
          <a:xfrm>
            <a:off x="6248400" y="1876425"/>
            <a:ext cx="5048250" cy="2324100"/>
          </a:xfrm>
          <a:prstGeom prst="rect">
            <a:avLst/>
          </a:prstGeom>
          <a:noFill/>
          <a:ln w="0">
            <a:noFill/>
          </a:ln>
        </p:spPr>
        <p:txBody>
          <a:bodyPr anchor="ctr">
            <a:normAutofit/>
          </a:bodyPr>
          <a:lstStyle>
            <a:defPPr>
              <a:defRPr sz="195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PaymentGateway defines authorise().</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BankPaymentGateway translates bank requests.</a:t>
            </a:r>
          </a:p>
          <a:p>
            <a:pPr algn="l">
              <a:buNone/>
              <a:defRPr sz="2100" b="0">
                <a:solidFill>
                  <a:srgbClr val="1D1D1D"/>
                </a:solidFill>
                <a:latin typeface="Times New Roman"/>
                <a:ea typeface="Times New Roman"/>
                <a:cs typeface="Times New Roman"/>
              </a:defRPr>
            </a:pPr>
            <a:r>
              <a:rPr sz="1950" b="0">
                <a:solidFill>
                  <a:srgbClr val="1D1D1D"/>
                </a:solidFill>
                <a:latin typeface="Times New Roman"/>
                <a:ea typeface="Times New Roman"/>
                <a:cs typeface="Times New Roman"/>
              </a:rPr>
              <a:t>BankService performs authorisation.</a:t>
            </a:r>
          </a:p>
        </p:txBody>
      </p:sp>
      <p:sp>
        <p:nvSpPr>
          <p:cNvPr id="11" name="Rectangle 10">
            <a:extLst>
              <a:ext uri="{FF2B5EF4-FFF2-40B4-BE49-F238E27FC236}">
                <a16:creationId xmlns:a16="http://schemas.microsoft.com/office/drawing/2014/main" id="{A0214C3B-4F1B-477C-AE53-61DCECF8BCCB}"/>
              </a:ext>
            </a:extLst>
          </p:cNvPr>
          <p:cNvSpPr>
            <a:spLocks noGrp="1"/>
          </p:cNvSpPr>
          <p:nvPr/>
        </p:nvSpPr>
        <p:spPr>
          <a:xfrm>
            <a:off x="628650" y="4743450"/>
            <a:ext cx="10915650" cy="1371600"/>
          </a:xfrm>
          <a:prstGeom prst="rect">
            <a:avLst/>
          </a:prstGeom>
          <a:solidFill>
            <a:srgbClr val="DDEBF3"/>
          </a:solidFill>
          <a:ln w="0">
            <a:noFill/>
          </a:ln>
        </p:spPr>
        <p:txBody>
          <a:bodyPr/>
          <a:lstStyle/>
          <a:p>
            <a:endParaRPr sz="2200"/>
          </a:p>
        </p:txBody>
      </p:sp>
      <p:sp>
        <p:nvSpPr>
          <p:cNvPr id="12" name="Rectangle 11">
            <a:extLst>
              <a:ext uri="{FF2B5EF4-FFF2-40B4-BE49-F238E27FC236}">
                <a16:creationId xmlns:a16="http://schemas.microsoft.com/office/drawing/2014/main" id="{EBE0BAB2-7DC8-4005-871E-A550ECBF7661}"/>
              </a:ext>
            </a:extLst>
          </p:cNvPr>
          <p:cNvSpPr>
            <a:spLocks noGrp="1"/>
          </p:cNvSpPr>
          <p:nvPr/>
        </p:nvSpPr>
        <p:spPr>
          <a:xfrm>
            <a:off x="790575" y="4867275"/>
            <a:ext cx="10191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Common example</a:t>
            </a:r>
          </a:p>
        </p:txBody>
      </p:sp>
      <p:sp>
        <p:nvSpPr>
          <p:cNvPr id="13" name="Rectangle 12">
            <a:extLst>
              <a:ext uri="{FF2B5EF4-FFF2-40B4-BE49-F238E27FC236}">
                <a16:creationId xmlns:a16="http://schemas.microsoft.com/office/drawing/2014/main" id="{93A8F26E-AA45-40B1-9EEA-7B67CBAFB0E1}"/>
              </a:ext>
            </a:extLst>
          </p:cNvPr>
          <p:cNvSpPr>
            <a:spLocks noGrp="1"/>
          </p:cNvSpPr>
          <p:nvPr/>
        </p:nvSpPr>
        <p:spPr>
          <a:xfrm>
            <a:off x="790575" y="5257800"/>
            <a:ext cx="10363200" cy="733425"/>
          </a:xfrm>
          <a:prstGeom prst="rect">
            <a:avLst/>
          </a:prstGeom>
          <a:noFill/>
          <a:ln w="0">
            <a:noFill/>
          </a:ln>
        </p:spPr>
        <p:txBody>
          <a:bodyPr anchor="ctr">
            <a:noAutofit/>
          </a:bodyPr>
          <a:lstStyle>
            <a:defPPr>
              <a:defRPr sz="2025"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025" b="0">
                <a:solidFill>
                  <a:srgbClr val="1D1D1D"/>
                </a:solidFill>
                <a:latin typeface="Times New Roman"/>
                <a:ea typeface="Times New Roman"/>
                <a:cs typeface="Times New Roman"/>
              </a:rPr>
              <a:t>For a Rs. 200 card payment, CardPayment passes the amount through the gateway to the bank.</a:t>
            </a:r>
          </a:p>
        </p:txBody>
      </p:sp>
    </p:spTree>
    <p:extLst>
      <p:ext uri="{BB962C8B-B14F-4D97-AF65-F5344CB8AC3E}">
        <p14:creationId xmlns:p14="http://schemas.microsoft.com/office/powerpoint/2010/main" val="669121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Common Example: Checkout Collaboration</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21</a:t>
            </a:r>
          </a:p>
        </p:txBody>
      </p:sp>
      <p:sp>
        <p:nvSpPr>
          <p:cNvPr id="15" name="Rectangle 14">
            <a:extLst>
              <a:ext uri="{FF2B5EF4-FFF2-40B4-BE49-F238E27FC236}">
                <a16:creationId xmlns:a16="http://schemas.microsoft.com/office/drawing/2014/main" id="{006B6930-0746-48AA-9C5A-F68550CB35E0}"/>
              </a:ext>
            </a:extLst>
          </p:cNvPr>
          <p:cNvSpPr>
            <a:spLocks noGrp="1"/>
          </p:cNvSpPr>
          <p:nvPr/>
        </p:nvSpPr>
        <p:spPr>
          <a:xfrm>
            <a:off x="714375" y="1076325"/>
            <a:ext cx="10477500" cy="400050"/>
          </a:xfrm>
          <a:prstGeom prst="rect">
            <a:avLst/>
          </a:prstGeom>
          <a:noFill/>
          <a:ln w="0">
            <a:noFill/>
          </a:ln>
        </p:spPr>
        <p:txBody>
          <a:bodyPr lIns="0" tIns="0" rIns="0" bIns="0"/>
          <a:lstStyle>
            <a:defPPr>
              <a:defRPr sz="2175" b="1">
                <a:solidFill>
                  <a:srgbClr val="0000FF"/>
                </a:solidFill>
                <a:latin typeface="Times New Roman"/>
                <a:ea typeface="Times New Roman"/>
                <a:cs typeface="Times New Roman"/>
              </a:defRPr>
            </a:defPPr>
          </a:lstStyle>
          <a:p>
            <a:r>
              <a:rPr sz="2175" b="1">
                <a:solidFill>
                  <a:srgbClr val="0000FF"/>
                </a:solidFill>
                <a:latin typeface="Times New Roman"/>
                <a:ea typeface="Times New Roman"/>
                <a:cs typeface="Times New Roman"/>
              </a:rPr>
              <a:t>One order, two coffees, payment by card</a:t>
            </a:r>
          </a:p>
        </p:txBody>
      </p:sp>
      <p:sp>
        <p:nvSpPr>
          <p:cNvPr id="16" name="Rectangle 15">
            <a:extLst>
              <a:ext uri="{FF2B5EF4-FFF2-40B4-BE49-F238E27FC236}">
                <a16:creationId xmlns:a16="http://schemas.microsoft.com/office/drawing/2014/main" id="{41116614-DDE3-4FB9-B311-B90503958187}"/>
              </a:ext>
            </a:extLst>
          </p:cNvPr>
          <p:cNvSpPr>
            <a:spLocks noGrp="1"/>
          </p:cNvSpPr>
          <p:nvPr/>
        </p:nvSpPr>
        <p:spPr>
          <a:xfrm>
            <a:off x="714375" y="171450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1. Selection</a:t>
            </a:r>
          </a:p>
        </p:txBody>
      </p:sp>
      <p:sp>
        <p:nvSpPr>
          <p:cNvPr id="17" name="Rectangle 16">
            <a:extLst>
              <a:ext uri="{FF2B5EF4-FFF2-40B4-BE49-F238E27FC236}">
                <a16:creationId xmlns:a16="http://schemas.microsoft.com/office/drawing/2014/main" id="{A8C78212-C0C6-4221-AFA8-2C0F816595E6}"/>
              </a:ext>
            </a:extLst>
          </p:cNvPr>
          <p:cNvSpPr>
            <a:spLocks noGrp="1"/>
          </p:cNvSpPr>
          <p:nvPr/>
        </p:nvSpPr>
        <p:spPr>
          <a:xfrm>
            <a:off x="2952750" y="171450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CustomerUI forwards addItem(100, 2) to OrderController.</a:t>
            </a:r>
          </a:p>
        </p:txBody>
      </p:sp>
      <p:sp>
        <p:nvSpPr>
          <p:cNvPr id="18" name="Rectangle 17">
            <a:extLst>
              <a:ext uri="{FF2B5EF4-FFF2-40B4-BE49-F238E27FC236}">
                <a16:creationId xmlns:a16="http://schemas.microsoft.com/office/drawing/2014/main" id="{953A5A7A-1F9A-4E68-AD2B-0456BAD3D5CE}"/>
              </a:ext>
            </a:extLst>
          </p:cNvPr>
          <p:cNvSpPr>
            <a:spLocks noGrp="1"/>
          </p:cNvSpPr>
          <p:nvPr/>
        </p:nvSpPr>
        <p:spPr>
          <a:xfrm>
            <a:off x="714375" y="238125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2. Creation</a:t>
            </a:r>
          </a:p>
        </p:txBody>
      </p:sp>
      <p:sp>
        <p:nvSpPr>
          <p:cNvPr id="19" name="Rectangle 18">
            <a:extLst>
              <a:ext uri="{FF2B5EF4-FFF2-40B4-BE49-F238E27FC236}">
                <a16:creationId xmlns:a16="http://schemas.microsoft.com/office/drawing/2014/main" id="{9FCFCC02-125C-4C78-BB3F-5D7227362D2D}"/>
              </a:ext>
            </a:extLst>
          </p:cNvPr>
          <p:cNvSpPr>
            <a:spLocks noGrp="1"/>
          </p:cNvSpPr>
          <p:nvPr/>
        </p:nvSpPr>
        <p:spPr>
          <a:xfrm>
            <a:off x="2952750" y="238125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OrderController asks Order to create and store an OrderItem.</a:t>
            </a:r>
          </a:p>
        </p:txBody>
      </p:sp>
      <p:sp>
        <p:nvSpPr>
          <p:cNvPr id="20" name="Rectangle 19">
            <a:extLst>
              <a:ext uri="{FF2B5EF4-FFF2-40B4-BE49-F238E27FC236}">
                <a16:creationId xmlns:a16="http://schemas.microsoft.com/office/drawing/2014/main" id="{53E39B8B-60CA-49D8-8756-5D3613C8C942}"/>
              </a:ext>
            </a:extLst>
          </p:cNvPr>
          <p:cNvSpPr>
            <a:spLocks noGrp="1"/>
          </p:cNvSpPr>
          <p:nvPr/>
        </p:nvSpPr>
        <p:spPr>
          <a:xfrm>
            <a:off x="714375" y="304800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3. Calculation</a:t>
            </a:r>
          </a:p>
        </p:txBody>
      </p:sp>
      <p:sp>
        <p:nvSpPr>
          <p:cNvPr id="21" name="Rectangle 20">
            <a:extLst>
              <a:ext uri="{FF2B5EF4-FFF2-40B4-BE49-F238E27FC236}">
                <a16:creationId xmlns:a16="http://schemas.microsoft.com/office/drawing/2014/main" id="{CF5C7BBB-596A-4C80-9C93-EDCC6431E96B}"/>
              </a:ext>
            </a:extLst>
          </p:cNvPr>
          <p:cNvSpPr>
            <a:spLocks noGrp="1"/>
          </p:cNvSpPr>
          <p:nvPr/>
        </p:nvSpPr>
        <p:spPr>
          <a:xfrm>
            <a:off x="2952750" y="304800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Order.total() asks the item for its subtotal: 100 × 2 = Rs. 200.</a:t>
            </a:r>
          </a:p>
        </p:txBody>
      </p:sp>
      <p:sp>
        <p:nvSpPr>
          <p:cNvPr id="22" name="Rectangle 21">
            <a:extLst>
              <a:ext uri="{FF2B5EF4-FFF2-40B4-BE49-F238E27FC236}">
                <a16:creationId xmlns:a16="http://schemas.microsoft.com/office/drawing/2014/main" id="{9C55A0D5-7D29-4867-8738-D7AEF14E2771}"/>
              </a:ext>
            </a:extLst>
          </p:cNvPr>
          <p:cNvSpPr>
            <a:spLocks noGrp="1"/>
          </p:cNvSpPr>
          <p:nvPr/>
        </p:nvSpPr>
        <p:spPr>
          <a:xfrm>
            <a:off x="714375" y="371475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4. Payment</a:t>
            </a:r>
          </a:p>
        </p:txBody>
      </p:sp>
      <p:sp>
        <p:nvSpPr>
          <p:cNvPr id="23" name="Rectangle 22">
            <a:extLst>
              <a:ext uri="{FF2B5EF4-FFF2-40B4-BE49-F238E27FC236}">
                <a16:creationId xmlns:a16="http://schemas.microsoft.com/office/drawing/2014/main" id="{3A00A199-6E62-4C3B-A54F-7D2B51C3290C}"/>
              </a:ext>
            </a:extLst>
          </p:cNvPr>
          <p:cNvSpPr>
            <a:spLocks noGrp="1"/>
          </p:cNvSpPr>
          <p:nvPr/>
        </p:nvSpPr>
        <p:spPr>
          <a:xfrm>
            <a:off x="2952750" y="371475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The controller calls CardPayment.pay(200) via PaymentMethod.</a:t>
            </a:r>
          </a:p>
        </p:txBody>
      </p:sp>
      <p:sp>
        <p:nvSpPr>
          <p:cNvPr id="24" name="Rectangle 23">
            <a:extLst>
              <a:ext uri="{FF2B5EF4-FFF2-40B4-BE49-F238E27FC236}">
                <a16:creationId xmlns:a16="http://schemas.microsoft.com/office/drawing/2014/main" id="{CCADAE1B-7475-4BD2-BEFC-85A6C73936EC}"/>
              </a:ext>
            </a:extLst>
          </p:cNvPr>
          <p:cNvSpPr>
            <a:spLocks noGrp="1"/>
          </p:cNvSpPr>
          <p:nvPr/>
        </p:nvSpPr>
        <p:spPr>
          <a:xfrm>
            <a:off x="714375" y="438150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5. Authorisation</a:t>
            </a:r>
          </a:p>
        </p:txBody>
      </p:sp>
      <p:sp>
        <p:nvSpPr>
          <p:cNvPr id="25" name="Rectangle 24">
            <a:extLst>
              <a:ext uri="{FF2B5EF4-FFF2-40B4-BE49-F238E27FC236}">
                <a16:creationId xmlns:a16="http://schemas.microsoft.com/office/drawing/2014/main" id="{604620FC-2C4A-4297-9032-89041373EB31}"/>
              </a:ext>
            </a:extLst>
          </p:cNvPr>
          <p:cNvSpPr>
            <a:spLocks noGrp="1"/>
          </p:cNvSpPr>
          <p:nvPr/>
        </p:nvSpPr>
        <p:spPr>
          <a:xfrm>
            <a:off x="2952750" y="438150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CardPayment uses PaymentGateway to ask the bank for approval.</a:t>
            </a:r>
          </a:p>
        </p:txBody>
      </p:sp>
      <p:sp>
        <p:nvSpPr>
          <p:cNvPr id="26" name="Rectangle 25">
            <a:extLst>
              <a:ext uri="{FF2B5EF4-FFF2-40B4-BE49-F238E27FC236}">
                <a16:creationId xmlns:a16="http://schemas.microsoft.com/office/drawing/2014/main" id="{D5D368AB-F35A-4C2F-B1A0-12B99BAB6710}"/>
              </a:ext>
            </a:extLst>
          </p:cNvPr>
          <p:cNvSpPr>
            <a:spLocks noGrp="1"/>
          </p:cNvSpPr>
          <p:nvPr/>
        </p:nvSpPr>
        <p:spPr>
          <a:xfrm>
            <a:off x="714375" y="5048250"/>
            <a:ext cx="2095500" cy="333375"/>
          </a:xfrm>
          <a:prstGeom prst="rect">
            <a:avLst/>
          </a:prstGeom>
          <a:noFill/>
          <a:ln w="0">
            <a:noFill/>
          </a:ln>
        </p:spPr>
        <p:txBody>
          <a:bodyPr lIns="0" tIns="0" rIns="0" bIns="0"/>
          <a:lstStyle>
            <a:defPPr>
              <a:defRPr sz="1950" b="1">
                <a:solidFill>
                  <a:srgbClr val="06235E"/>
                </a:solidFill>
                <a:latin typeface="Times New Roman"/>
                <a:ea typeface="Times New Roman"/>
                <a:cs typeface="Times New Roman"/>
              </a:defRPr>
            </a:defPPr>
          </a:lstStyle>
          <a:p>
            <a:r>
              <a:rPr sz="1950" b="1">
                <a:solidFill>
                  <a:srgbClr val="06235E"/>
                </a:solidFill>
                <a:latin typeface="Times New Roman"/>
                <a:ea typeface="Times New Roman"/>
                <a:cs typeface="Times New Roman"/>
              </a:rPr>
              <a:t>6. Completion</a:t>
            </a:r>
          </a:p>
        </p:txBody>
      </p:sp>
      <p:sp>
        <p:nvSpPr>
          <p:cNvPr id="27" name="Rectangle 26">
            <a:extLst>
              <a:ext uri="{FF2B5EF4-FFF2-40B4-BE49-F238E27FC236}">
                <a16:creationId xmlns:a16="http://schemas.microsoft.com/office/drawing/2014/main" id="{EAE5F960-7288-4222-A1C4-B7666EB63077}"/>
              </a:ext>
            </a:extLst>
          </p:cNvPr>
          <p:cNvSpPr>
            <a:spLocks noGrp="1"/>
          </p:cNvSpPr>
          <p:nvPr/>
        </p:nvSpPr>
        <p:spPr>
          <a:xfrm>
            <a:off x="2952750" y="5048250"/>
            <a:ext cx="8382000" cy="514350"/>
          </a:xfrm>
          <a:prstGeom prst="rect">
            <a:avLst/>
          </a:prstGeom>
          <a:noFill/>
          <a:ln w="0">
            <a:noFill/>
          </a:ln>
        </p:spPr>
        <p:txBody>
          <a:bodyPr lIns="0" tIns="0" rIns="0" bIns="0"/>
          <a:lstStyle>
            <a:defPPr>
              <a:defRPr sz="1950" b="0">
                <a:solidFill>
                  <a:srgbClr val="1D1D1D"/>
                </a:solidFill>
                <a:latin typeface="Times New Roman"/>
                <a:ea typeface="Times New Roman"/>
                <a:cs typeface="Times New Roman"/>
              </a:defRPr>
            </a:defPPr>
          </a:lstStyle>
          <a:p>
            <a:r>
              <a:rPr sz="1950" b="0">
                <a:solidFill>
                  <a:srgbClr val="1D1D1D"/>
                </a:solidFill>
                <a:latin typeface="Times New Roman"/>
                <a:ea typeface="Times New Roman"/>
                <a:cs typeface="Times New Roman"/>
              </a:rPr>
              <a:t>After success, OrderRepository saves the order and the UI shows the result.</a:t>
            </a:r>
          </a:p>
        </p:txBody>
      </p:sp>
      <p:sp>
        <p:nvSpPr>
          <p:cNvPr id="28" name="Rectangle 27">
            <a:extLst>
              <a:ext uri="{FF2B5EF4-FFF2-40B4-BE49-F238E27FC236}">
                <a16:creationId xmlns:a16="http://schemas.microsoft.com/office/drawing/2014/main" id="{35BAAB08-228D-4597-B151-BCCAB89D698F}"/>
              </a:ext>
            </a:extLst>
          </p:cNvPr>
          <p:cNvSpPr>
            <a:spLocks noGrp="1"/>
          </p:cNvSpPr>
          <p:nvPr/>
        </p:nvSpPr>
        <p:spPr>
          <a:xfrm>
            <a:off x="714375" y="6038850"/>
            <a:ext cx="10763250" cy="457200"/>
          </a:xfrm>
          <a:prstGeom prst="rect">
            <a:avLst/>
          </a:prstGeom>
          <a:noFill/>
          <a:ln w="0">
            <a:noFill/>
          </a:ln>
        </p:spPr>
        <p:txBody>
          <a:bodyPr lIns="0" tIns="0" rIns="0" bIns="0"/>
          <a:lstStyle>
            <a:defPPr>
              <a:defRPr sz="2025" b="1">
                <a:solidFill>
                  <a:srgbClr val="06235E"/>
                </a:solidFill>
                <a:latin typeface="Times New Roman"/>
                <a:ea typeface="Times New Roman"/>
                <a:cs typeface="Times New Roman"/>
              </a:defRPr>
            </a:defPPr>
          </a:lstStyle>
          <a:p>
            <a:r>
              <a:rPr sz="2025" b="1">
                <a:solidFill>
                  <a:srgbClr val="06235E"/>
                </a:solidFill>
                <a:latin typeface="Times New Roman"/>
                <a:ea typeface="Times New Roman"/>
                <a:cs typeface="Times New Roman"/>
              </a:rPr>
              <a:t>Each participant performs its own responsibility. The controller coordinates the use case.</a:t>
            </a:r>
          </a:p>
        </p:txBody>
      </p:sp>
    </p:spTree>
    <p:extLst>
      <p:ext uri="{BB962C8B-B14F-4D97-AF65-F5344CB8AC3E}">
        <p14:creationId xmlns:p14="http://schemas.microsoft.com/office/powerpoint/2010/main" val="669121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What Are Anti-patterns?</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22</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557212" y="123825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An anti-pattern is a recurring approach that causes harmful consequences in its context. A useful description also explains how to improve it.</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How to recognise one</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Look for recurring symptoms, their causes, and the problems they create.</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Code smell</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A code smell is a warning sign. A very long method deserves investigation, but length alone proves little.</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Recognition becomes useful when it guides an improvement.</a:t>
            </a:r>
          </a:p>
        </p:txBody>
      </p:sp>
    </p:spTree>
    <p:extLst>
      <p:ext uri="{BB962C8B-B14F-4D97-AF65-F5344CB8AC3E}">
        <p14:creationId xmlns:p14="http://schemas.microsoft.com/office/powerpoint/2010/main" val="290003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523875"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The Blob / God Class</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115675"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23</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495300" y="1195387"/>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One class takes on too many responsibilities. Almost every change then affects that class.</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495300"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657225"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657225" y="3219450"/>
            <a:ext cx="4572000" cy="1552575"/>
          </a:xfrm>
          <a:prstGeom prst="rect">
            <a:avLst/>
          </a:prstGeom>
          <a:noFill/>
          <a:ln w="0">
            <a:noFill/>
          </a:ln>
        </p:spPr>
        <p:txBody>
          <a:bodyPr anchor="ctr">
            <a:no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ShopSystem draws screens, calculates totals, processes payments, saves orders, and prints receipts.</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772150"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5934075"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Improvement</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5934075"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Move each responsibility to a suitable class. High Cohesion helps identify the boundaries.</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581025"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 focused class is easier to understand and change.</a:t>
            </a:r>
          </a:p>
        </p:txBody>
      </p:sp>
    </p:spTree>
    <p:extLst>
      <p:ext uri="{BB962C8B-B14F-4D97-AF65-F5344CB8AC3E}">
        <p14:creationId xmlns:p14="http://schemas.microsoft.com/office/powerpoint/2010/main" val="29000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Spaghetti Code</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24</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104775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Tangled control flow makes the program difficult to follow.</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A large checkout() method mixes pricing, payment, screen updates, and SQL inside nested conditions.</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Improvement</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Extract focused operations. Delegate work to appropriate objects while preserving existing behaviour.</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Clear collaboration makes the flow easier to follow.</a:t>
            </a:r>
          </a:p>
        </p:txBody>
      </p:sp>
    </p:spTree>
    <p:extLst>
      <p:ext uri="{BB962C8B-B14F-4D97-AF65-F5344CB8AC3E}">
        <p14:creationId xmlns:p14="http://schemas.microsoft.com/office/powerpoint/2010/main" val="290003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Copy-and-Paste Programming</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25</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66750" y="1119188"/>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Copies of the same changing business rule can produce inconsistent results.</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The counter screen and mobile screen each calculate totals. A price-rule change may update only one copy.</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Improvement</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Put the rule in Order.total(). Both screens use it. Information Expert helps choose the owner.</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One owner keeps the business rule consistent.</a:t>
            </a:r>
          </a:p>
        </p:txBody>
      </p:sp>
    </p:spTree>
    <p:extLst>
      <p:ext uri="{BB962C8B-B14F-4D97-AF65-F5344CB8AC3E}">
        <p14:creationId xmlns:p14="http://schemas.microsoft.com/office/powerpoint/2010/main" val="290003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Golden Hammer</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26</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38175" y="1247775"/>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A </a:t>
            </a:r>
            <a:r>
              <a:rPr sz="2400" b="1" dirty="0" err="1">
                <a:solidFill>
                  <a:srgbClr val="0000FF"/>
                </a:solidFill>
                <a:latin typeface="Times New Roman"/>
                <a:ea typeface="Times New Roman"/>
                <a:cs typeface="Times New Roman"/>
              </a:rPr>
              <a:t>favourite</a:t>
            </a:r>
            <a:r>
              <a:rPr sz="2400" b="1" dirty="0">
                <a:solidFill>
                  <a:srgbClr val="0000FF"/>
                </a:solidFill>
                <a:latin typeface="Times New Roman"/>
                <a:ea typeface="Times New Roman"/>
                <a:cs typeface="Times New Roman"/>
              </a:rPr>
              <a:t> tool or pattern becomes the solution to every problem, regardless of suitability.</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A developer makes Order a Singleton. Customers risk sharing the same mutable order.</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Improvement</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Give each customer transaction its own Order. Choose patterns according to the actual need.</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A useful pattern can become harmful through unsuitable use.</a:t>
            </a:r>
          </a:p>
        </p:txBody>
      </p:sp>
    </p:spTree>
    <p:extLst>
      <p:ext uri="{BB962C8B-B14F-4D97-AF65-F5344CB8AC3E}">
        <p14:creationId xmlns:p14="http://schemas.microsoft.com/office/powerpoint/2010/main" val="290003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398A27-3A1C-4612-BEAF-AA2C094B0D13}"/>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sz="2400"/>
          </a:p>
        </p:txBody>
      </p:sp>
      <p:sp>
        <p:nvSpPr>
          <p:cNvPr id="2" name="Rectangle 1">
            <a:extLst>
              <a:ext uri="{FF2B5EF4-FFF2-40B4-BE49-F238E27FC236}">
                <a16:creationId xmlns:a16="http://schemas.microsoft.com/office/drawing/2014/main" id="{902C5441-4680-4449-AE46-28AF5EE63F4D}"/>
              </a:ext>
            </a:extLst>
          </p:cNvPr>
          <p:cNvSpPr>
            <a:spLocks noGrp="1"/>
          </p:cNvSpPr>
          <p:nvPr/>
        </p:nvSpPr>
        <p:spPr>
          <a:xfrm>
            <a:off x="790575" y="66675"/>
            <a:ext cx="10601325" cy="495300"/>
          </a:xfrm>
          <a:prstGeom prst="rect">
            <a:avLst/>
          </a:prstGeom>
          <a:noFill/>
          <a:ln w="0">
            <a:noFill/>
          </a:ln>
        </p:spPr>
        <p:txBody>
          <a:bodyPr anchor="ctr">
            <a:normAutofit fontScale="98148"/>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Lava Flow</a:t>
            </a:r>
          </a:p>
        </p:txBody>
      </p:sp>
      <p:sp>
        <p:nvSpPr>
          <p:cNvPr id="4" name="Rectangle 3">
            <a:extLst>
              <a:ext uri="{FF2B5EF4-FFF2-40B4-BE49-F238E27FC236}">
                <a16:creationId xmlns:a16="http://schemas.microsoft.com/office/drawing/2014/main" id="{B193A4C7-A307-4539-A15C-A33726F8ECDC}"/>
              </a:ext>
            </a:extLst>
          </p:cNvPr>
          <p:cNvSpPr>
            <a:spLocks noGrp="1"/>
          </p:cNvSpPr>
          <p:nvPr/>
        </p:nvSpPr>
        <p:spPr>
          <a:xfrm>
            <a:off x="11258550" y="6486525"/>
            <a:ext cx="438150" cy="238125"/>
          </a:xfrm>
          <a:prstGeom prst="rect">
            <a:avLst/>
          </a:prstGeom>
          <a:noFill/>
          <a:ln w="0">
            <a:noFill/>
          </a:ln>
        </p:spPr>
        <p:txBody>
          <a:bodyPr anchor="ctr">
            <a:noAutofit/>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2400" b="0">
                <a:solidFill>
                  <a:srgbClr val="06235E"/>
                </a:solidFill>
                <a:latin typeface="Times New Roman"/>
                <a:ea typeface="Times New Roman"/>
                <a:cs typeface="Times New Roman"/>
              </a:rPr>
              <a:t>27</a:t>
            </a:r>
          </a:p>
        </p:txBody>
      </p:sp>
      <p:sp>
        <p:nvSpPr>
          <p:cNvPr id="6" name="Rectangle 5">
            <a:extLst>
              <a:ext uri="{FF2B5EF4-FFF2-40B4-BE49-F238E27FC236}">
                <a16:creationId xmlns:a16="http://schemas.microsoft.com/office/drawing/2014/main" id="{B44B6CE0-19AD-414B-BC35-ED1582537142}"/>
              </a:ext>
            </a:extLst>
          </p:cNvPr>
          <p:cNvSpPr>
            <a:spLocks noGrp="1"/>
          </p:cNvSpPr>
          <p:nvPr/>
        </p:nvSpPr>
        <p:spPr>
          <a:xfrm>
            <a:off x="666750" y="1047750"/>
            <a:ext cx="10906125" cy="866775"/>
          </a:xfrm>
          <a:prstGeom prst="rect">
            <a:avLst/>
          </a:prstGeom>
          <a:noFill/>
          <a:ln w="0">
            <a:noFill/>
          </a:ln>
        </p:spPr>
        <p:txBody>
          <a:bodyPr anchor="ctr">
            <a:normAutofit/>
          </a:bodyPr>
          <a:lstStyle>
            <a:defPPr>
              <a:defRPr sz="2175" b="1">
                <a:solidFill>
                  <a:srgbClr val="0000FF"/>
                </a:solidFill>
                <a:latin typeface="Times New Roman"/>
                <a:ea typeface="Times New Roman"/>
                <a:cs typeface="Times New Roman"/>
              </a:defRPr>
            </a:defPPr>
          </a:lstStyle>
          <a:p>
            <a:pPr algn="l">
              <a:buNone/>
              <a:defRPr sz="2175" b="1">
                <a:solidFill>
                  <a:srgbClr val="0000FF"/>
                </a:solidFill>
                <a:latin typeface="Times New Roman"/>
                <a:ea typeface="Times New Roman"/>
                <a:cs typeface="Times New Roman"/>
              </a:defRPr>
            </a:pPr>
            <a:r>
              <a:rPr sz="2400" b="1" dirty="0">
                <a:solidFill>
                  <a:srgbClr val="0000FF"/>
                </a:solidFill>
                <a:latin typeface="Times New Roman"/>
                <a:ea typeface="Times New Roman"/>
                <a:cs typeface="Times New Roman"/>
              </a:rPr>
              <a:t>Old code remains because nobody understands it well enough to remove it.</a:t>
            </a:r>
          </a:p>
        </p:txBody>
      </p:sp>
      <p:sp>
        <p:nvSpPr>
          <p:cNvPr id="7" name="Rectangle 6">
            <a:extLst>
              <a:ext uri="{FF2B5EF4-FFF2-40B4-BE49-F238E27FC236}">
                <a16:creationId xmlns:a16="http://schemas.microsoft.com/office/drawing/2014/main" id="{D0F5A2A1-B503-4FA8-9067-04AB76A4FDCA}"/>
              </a:ext>
            </a:extLst>
          </p:cNvPr>
          <p:cNvSpPr>
            <a:spLocks noGrp="1"/>
          </p:cNvSpPr>
          <p:nvPr/>
        </p:nvSpPr>
        <p:spPr>
          <a:xfrm>
            <a:off x="638175" y="2619375"/>
            <a:ext cx="5019675" cy="2609850"/>
          </a:xfrm>
          <a:prstGeom prst="rect">
            <a:avLst/>
          </a:prstGeom>
          <a:solidFill>
            <a:srgbClr val="DDEBF3"/>
          </a:solidFill>
          <a:ln w="0">
            <a:noFill/>
          </a:ln>
        </p:spPr>
        <p:txBody>
          <a:bodyPr/>
          <a:lstStyle/>
          <a:p>
            <a:endParaRPr sz="2400"/>
          </a:p>
        </p:txBody>
      </p:sp>
      <p:sp>
        <p:nvSpPr>
          <p:cNvPr id="8" name="Rectangle 7">
            <a:extLst>
              <a:ext uri="{FF2B5EF4-FFF2-40B4-BE49-F238E27FC236}">
                <a16:creationId xmlns:a16="http://schemas.microsoft.com/office/drawing/2014/main" id="{7AC90536-C06F-4888-882F-697A6BFEB1EA}"/>
              </a:ext>
            </a:extLst>
          </p:cNvPr>
          <p:cNvSpPr>
            <a:spLocks noGrp="1"/>
          </p:cNvSpPr>
          <p:nvPr/>
        </p:nvSpPr>
        <p:spPr>
          <a:xfrm>
            <a:off x="800100" y="2762250"/>
            <a:ext cx="447675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Coffee shop problem</a:t>
            </a:r>
          </a:p>
        </p:txBody>
      </p:sp>
      <p:sp>
        <p:nvSpPr>
          <p:cNvPr id="9" name="Rectangle 8">
            <a:extLst>
              <a:ext uri="{FF2B5EF4-FFF2-40B4-BE49-F238E27FC236}">
                <a16:creationId xmlns:a16="http://schemas.microsoft.com/office/drawing/2014/main" id="{A68F0877-B652-43BA-AEC8-BA28DF382D61}"/>
              </a:ext>
            </a:extLst>
          </p:cNvPr>
          <p:cNvSpPr>
            <a:spLocks noGrp="1"/>
          </p:cNvSpPr>
          <p:nvPr/>
        </p:nvSpPr>
        <p:spPr>
          <a:xfrm>
            <a:off x="800100" y="3219450"/>
            <a:ext cx="457200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Checkout still contains an unused payment adapter and old tax calculations.</a:t>
            </a:r>
          </a:p>
        </p:txBody>
      </p:sp>
      <p:sp>
        <p:nvSpPr>
          <p:cNvPr id="10" name="Rectangle 9">
            <a:extLst>
              <a:ext uri="{FF2B5EF4-FFF2-40B4-BE49-F238E27FC236}">
                <a16:creationId xmlns:a16="http://schemas.microsoft.com/office/drawing/2014/main" id="{CC763B81-F10C-40C0-B361-06DB297C8EC0}"/>
              </a:ext>
            </a:extLst>
          </p:cNvPr>
          <p:cNvSpPr>
            <a:spLocks noGrp="1"/>
          </p:cNvSpPr>
          <p:nvPr/>
        </p:nvSpPr>
        <p:spPr>
          <a:xfrm>
            <a:off x="5915025" y="2619375"/>
            <a:ext cx="5619750" cy="2609850"/>
          </a:xfrm>
          <a:prstGeom prst="rect">
            <a:avLst/>
          </a:prstGeom>
          <a:solidFill>
            <a:srgbClr val="DDF2D5"/>
          </a:solidFill>
          <a:ln w="0">
            <a:noFill/>
          </a:ln>
        </p:spPr>
        <p:txBody>
          <a:bodyPr/>
          <a:lstStyle/>
          <a:p>
            <a:endParaRPr sz="2400"/>
          </a:p>
        </p:txBody>
      </p:sp>
      <p:sp>
        <p:nvSpPr>
          <p:cNvPr id="11" name="Rectangle 10">
            <a:extLst>
              <a:ext uri="{FF2B5EF4-FFF2-40B4-BE49-F238E27FC236}">
                <a16:creationId xmlns:a16="http://schemas.microsoft.com/office/drawing/2014/main" id="{F1C7803A-A374-41B3-A6E1-E5515A3B6353}"/>
              </a:ext>
            </a:extLst>
          </p:cNvPr>
          <p:cNvSpPr>
            <a:spLocks noGrp="1"/>
          </p:cNvSpPr>
          <p:nvPr/>
        </p:nvSpPr>
        <p:spPr>
          <a:xfrm>
            <a:off x="6076950" y="2762250"/>
            <a:ext cx="5143500" cy="295275"/>
          </a:xfrm>
          <a:prstGeom prst="rect">
            <a:avLst/>
          </a:prstGeom>
          <a:noFill/>
          <a:ln w="0">
            <a:noFill/>
          </a:ln>
        </p:spPr>
        <p:txBody>
          <a:bodyPr anchor="ctr">
            <a:noAutofit/>
          </a:bodyPr>
          <a:lstStyle>
            <a:defPPr>
              <a:defRPr sz="1725" b="1">
                <a:solidFill>
                  <a:srgbClr val="0000FF"/>
                </a:solidFill>
                <a:latin typeface="Times New Roman"/>
                <a:ea typeface="Times New Roman"/>
                <a:cs typeface="Times New Roman"/>
              </a:defRPr>
            </a:defPPr>
          </a:lstStyle>
          <a:p>
            <a:pPr algn="l">
              <a:buNone/>
              <a:defRPr sz="1725" b="1">
                <a:solidFill>
                  <a:srgbClr val="0000FF"/>
                </a:solidFill>
                <a:latin typeface="Times New Roman"/>
                <a:ea typeface="Times New Roman"/>
                <a:cs typeface="Times New Roman"/>
              </a:defRPr>
            </a:pPr>
            <a:r>
              <a:rPr sz="2400" b="1">
                <a:solidFill>
                  <a:srgbClr val="0000FF"/>
                </a:solidFill>
                <a:latin typeface="Times New Roman"/>
                <a:ea typeface="Times New Roman"/>
                <a:cs typeface="Times New Roman"/>
              </a:rPr>
              <a:t>Improvement</a:t>
            </a:r>
          </a:p>
        </p:txBody>
      </p:sp>
      <p:sp>
        <p:nvSpPr>
          <p:cNvPr id="12" name="Rectangle 11">
            <a:extLst>
              <a:ext uri="{FF2B5EF4-FFF2-40B4-BE49-F238E27FC236}">
                <a16:creationId xmlns:a16="http://schemas.microsoft.com/office/drawing/2014/main" id="{339A43DB-0318-4442-846C-EC0A9DAFD53B}"/>
              </a:ext>
            </a:extLst>
          </p:cNvPr>
          <p:cNvSpPr>
            <a:spLocks noGrp="1"/>
          </p:cNvSpPr>
          <p:nvPr/>
        </p:nvSpPr>
        <p:spPr>
          <a:xfrm>
            <a:off x="6076950" y="3219450"/>
            <a:ext cx="5162550" cy="1552575"/>
          </a:xfrm>
          <a:prstGeom prst="rect">
            <a:avLst/>
          </a:prstGeom>
          <a:noFill/>
          <a:ln w="0">
            <a:noFill/>
          </a:ln>
        </p:spPr>
        <p:txBody>
          <a:bodyPr anchor="ctr">
            <a:normAutofit/>
          </a:bodyPr>
          <a:lstStyle>
            <a:defPPr>
              <a:defRPr sz="2175" b="0">
                <a:solidFill>
                  <a:srgbClr val="1D1D1D"/>
                </a:solidFill>
                <a:latin typeface="Times New Roman"/>
                <a:ea typeface="Times New Roman"/>
                <a:cs typeface="Times New Roman"/>
              </a:defRPr>
            </a:defPPr>
          </a:lstStyle>
          <a:p>
            <a:pPr algn="l">
              <a:buNone/>
              <a:defRPr sz="2175" b="0">
                <a:solidFill>
                  <a:srgbClr val="1D1D1D"/>
                </a:solidFill>
                <a:latin typeface="Times New Roman"/>
                <a:ea typeface="Times New Roman"/>
                <a:cs typeface="Times New Roman"/>
              </a:defRPr>
            </a:pPr>
            <a:r>
              <a:rPr sz="2400" b="0">
                <a:solidFill>
                  <a:srgbClr val="1D1D1D"/>
                </a:solidFill>
                <a:latin typeface="Times New Roman"/>
                <a:ea typeface="Times New Roman"/>
                <a:cs typeface="Times New Roman"/>
              </a:rPr>
              <a:t>Investigate their use, verify behaviour, and remove obsolete code in small steps.</a:t>
            </a:r>
          </a:p>
        </p:txBody>
      </p:sp>
      <p:sp>
        <p:nvSpPr>
          <p:cNvPr id="13" name="Rectangle 12">
            <a:extLst>
              <a:ext uri="{FF2B5EF4-FFF2-40B4-BE49-F238E27FC236}">
                <a16:creationId xmlns:a16="http://schemas.microsoft.com/office/drawing/2014/main" id="{9A8752D5-B72E-4A9D-970D-A17705BBFD32}"/>
              </a:ext>
            </a:extLst>
          </p:cNvPr>
          <p:cNvSpPr>
            <a:spLocks noGrp="1"/>
          </p:cNvSpPr>
          <p:nvPr/>
        </p:nvSpPr>
        <p:spPr>
          <a:xfrm>
            <a:off x="723900" y="5629275"/>
            <a:ext cx="10572750" cy="552450"/>
          </a:xfrm>
          <a:prstGeom prst="rect">
            <a:avLst/>
          </a:prstGeom>
          <a:noFill/>
          <a:ln w="0">
            <a:noFill/>
          </a:ln>
        </p:spPr>
        <p:txBody>
          <a:bodyPr anchor="ctr">
            <a:normAutofit/>
          </a:bodyPr>
          <a:lstStyle>
            <a:defPPr>
              <a:defRPr sz="2250" b="1">
                <a:solidFill>
                  <a:srgbClr val="06235E"/>
                </a:solidFill>
                <a:latin typeface="Times New Roman"/>
                <a:ea typeface="Times New Roman"/>
                <a:cs typeface="Times New Roman"/>
              </a:defRPr>
            </a:defPPr>
          </a:lstStyle>
          <a:p>
            <a:pPr algn="l">
              <a:buNone/>
              <a:defRPr sz="2250" b="1">
                <a:solidFill>
                  <a:srgbClr val="06235E"/>
                </a:solidFill>
                <a:latin typeface="Times New Roman"/>
                <a:ea typeface="Times New Roman"/>
                <a:cs typeface="Times New Roman"/>
              </a:defRPr>
            </a:pPr>
            <a:r>
              <a:rPr sz="2400" b="1">
                <a:solidFill>
                  <a:srgbClr val="06235E"/>
                </a:solidFill>
                <a:latin typeface="Times New Roman"/>
                <a:ea typeface="Times New Roman"/>
                <a:cs typeface="Times New Roman"/>
              </a:rPr>
              <a:t>Understanding the code makes safe removal possible.</a:t>
            </a:r>
          </a:p>
        </p:txBody>
      </p:sp>
    </p:spTree>
    <p:extLst>
      <p:ext uri="{BB962C8B-B14F-4D97-AF65-F5344CB8AC3E}">
        <p14:creationId xmlns:p14="http://schemas.microsoft.com/office/powerpoint/2010/main" val="290003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42ADAB-129C-4D89-A5B0-3847015392CC}"/>
              </a:ext>
            </a:extLst>
          </p:cNvPr>
          <p:cNvSpPr>
            <a:spLocks noGrp="1"/>
          </p:cNvSpPr>
          <p:nvPr/>
        </p:nvSpPr>
        <p:spPr>
          <a:xfrm>
            <a:off x="666750" y="0"/>
            <a:ext cx="10858500" cy="647700"/>
          </a:xfrm>
          <a:prstGeom prst="rect">
            <a:avLst/>
          </a:prstGeom>
          <a:solidFill>
            <a:srgbClr val="FFFFFF"/>
          </a:solidFill>
          <a:ln w="12383">
            <a:solidFill>
              <a:srgbClr val="002060"/>
            </a:solidFill>
          </a:ln>
        </p:spPr>
        <p:txBody>
          <a:bodyPr/>
          <a:lstStyle/>
          <a:p>
            <a:endParaRPr/>
          </a:p>
        </p:txBody>
      </p:sp>
      <p:sp>
        <p:nvSpPr>
          <p:cNvPr id="2" name="Rectangle 1">
            <a:extLst>
              <a:ext uri="{FF2B5EF4-FFF2-40B4-BE49-F238E27FC236}">
                <a16:creationId xmlns:a16="http://schemas.microsoft.com/office/drawing/2014/main" id="{AA077A81-B254-4AF9-B7CF-9B6CB206FBCC}"/>
              </a:ext>
            </a:extLst>
          </p:cNvPr>
          <p:cNvSpPr>
            <a:spLocks noGrp="1"/>
          </p:cNvSpPr>
          <p:nvPr/>
        </p:nvSpPr>
        <p:spPr>
          <a:xfrm>
            <a:off x="790575" y="66675"/>
            <a:ext cx="10601325" cy="495300"/>
          </a:xfrm>
          <a:prstGeom prst="rect">
            <a:avLst/>
          </a:prstGeom>
          <a:noFill/>
          <a:ln w="0">
            <a:noFill/>
          </a:ln>
        </p:spPr>
        <p:txBody>
          <a:bodyPr anchor="ctr">
            <a:normAutofit fontScale="98148" lnSpcReduction="10000"/>
          </a:bodyPr>
          <a:lstStyle>
            <a:defPPr>
              <a:defRPr sz="3000" b="0">
                <a:solidFill>
                  <a:srgbClr val="06235E"/>
                </a:solidFill>
                <a:latin typeface="Times New Roman"/>
                <a:ea typeface="Times New Roman"/>
                <a:cs typeface="Times New Roman"/>
              </a:defRPr>
            </a:defPPr>
          </a:lstStyle>
          <a:p>
            <a:pPr algn="ctr">
              <a:buNone/>
              <a:defRPr sz="3000" b="0">
                <a:solidFill>
                  <a:srgbClr val="06235E"/>
                </a:solidFill>
                <a:latin typeface="Times New Roman"/>
                <a:ea typeface="Times New Roman"/>
                <a:cs typeface="Times New Roman"/>
              </a:defRPr>
            </a:pPr>
            <a:r>
              <a:rPr sz="3000" b="0">
                <a:solidFill>
                  <a:srgbClr val="06235E"/>
                </a:solidFill>
                <a:latin typeface="Times New Roman"/>
                <a:ea typeface="Times New Roman"/>
                <a:cs typeface="Times New Roman"/>
              </a:rPr>
              <a:t>GRASP and Anti-patterns: Connections</a:t>
            </a:r>
          </a:p>
        </p:txBody>
      </p:sp>
      <p:sp>
        <p:nvSpPr>
          <p:cNvPr id="3" name="Rectangle 2">
            <a:extLst>
              <a:ext uri="{FF2B5EF4-FFF2-40B4-BE49-F238E27FC236}">
                <a16:creationId xmlns:a16="http://schemas.microsoft.com/office/drawing/2014/main" id="{A2FD1436-36B6-4184-AD4B-2C3581C65FA0}"/>
              </a:ext>
            </a:extLst>
          </p:cNvPr>
          <p:cNvSpPr>
            <a:spLocks noGrp="1"/>
          </p:cNvSpPr>
          <p:nvPr/>
        </p:nvSpPr>
        <p:spPr>
          <a:xfrm>
            <a:off x="552450" y="723900"/>
            <a:ext cx="4762500" cy="238125"/>
          </a:xfrm>
          <a:prstGeom prst="rect">
            <a:avLst/>
          </a:prstGeom>
          <a:noFill/>
          <a:ln w="0">
            <a:noFill/>
          </a:ln>
        </p:spPr>
        <p:txBody>
          <a:bodyPr anchor="ctr">
            <a:noAutofit/>
          </a:bodyPr>
          <a:lstStyle>
            <a:defPPr>
              <a:defRPr sz="1650" b="1">
                <a:solidFill>
                  <a:srgbClr val="0000FF"/>
                </a:solidFill>
                <a:latin typeface="Times New Roman"/>
                <a:ea typeface="Times New Roman"/>
                <a:cs typeface="Times New Roman"/>
              </a:defRPr>
            </a:defPPr>
          </a:lstStyle>
          <a:p>
            <a:pPr algn="l">
              <a:buNone/>
              <a:defRPr sz="1650" b="1">
                <a:solidFill>
                  <a:srgbClr val="0000FF"/>
                </a:solidFill>
                <a:latin typeface="Times New Roman"/>
                <a:ea typeface="Times New Roman"/>
                <a:cs typeface="Times New Roman"/>
              </a:defRPr>
            </a:pPr>
            <a:r>
              <a:rPr sz="1650" b="1">
                <a:solidFill>
                  <a:srgbClr val="0000FF"/>
                </a:solidFill>
                <a:latin typeface="Times New Roman"/>
                <a:ea typeface="Times New Roman"/>
                <a:cs typeface="Times New Roman"/>
              </a:rPr>
              <a:t>GRASP AND ANTI-PATTERNS</a:t>
            </a:r>
          </a:p>
        </p:txBody>
      </p:sp>
      <p:sp>
        <p:nvSpPr>
          <p:cNvPr id="4" name="Rectangle 3">
            <a:extLst>
              <a:ext uri="{FF2B5EF4-FFF2-40B4-BE49-F238E27FC236}">
                <a16:creationId xmlns:a16="http://schemas.microsoft.com/office/drawing/2014/main" id="{5F519C32-64E5-46B1-98A5-4C558C7D9D46}"/>
              </a:ext>
            </a:extLst>
          </p:cNvPr>
          <p:cNvSpPr>
            <a:spLocks noGrp="1"/>
          </p:cNvSpPr>
          <p:nvPr/>
        </p:nvSpPr>
        <p:spPr>
          <a:xfrm>
            <a:off x="11258550" y="6486525"/>
            <a:ext cx="438150" cy="238125"/>
          </a:xfrm>
          <a:prstGeom prst="rect">
            <a:avLst/>
          </a:prstGeom>
          <a:noFill/>
          <a:ln w="0">
            <a:noFill/>
          </a:ln>
        </p:spPr>
        <p:txBody>
          <a:bodyPr anchor="ctr">
            <a:normAutofit fontScale="87562" lnSpcReduction="10000"/>
          </a:bodyPr>
          <a:lstStyle>
            <a:defPPr>
              <a:defRPr sz="1125" b="0">
                <a:solidFill>
                  <a:srgbClr val="06235E"/>
                </a:solidFill>
                <a:latin typeface="Times New Roman"/>
                <a:ea typeface="Times New Roman"/>
                <a:cs typeface="Times New Roman"/>
              </a:defRPr>
            </a:defPPr>
          </a:lstStyle>
          <a:p>
            <a:pPr algn="r">
              <a:buNone/>
              <a:defRPr sz="1125" b="0">
                <a:solidFill>
                  <a:srgbClr val="06235E"/>
                </a:solidFill>
                <a:latin typeface="Times New Roman"/>
                <a:ea typeface="Times New Roman"/>
                <a:cs typeface="Times New Roman"/>
              </a:defRPr>
            </a:pPr>
            <a:r>
              <a:rPr sz="1125" b="0">
                <a:solidFill>
                  <a:srgbClr val="06235E"/>
                </a:solidFill>
                <a:latin typeface="Times New Roman"/>
                <a:ea typeface="Times New Roman"/>
                <a:cs typeface="Times New Roman"/>
              </a:rPr>
              <a:t>29</a:t>
            </a:r>
          </a:p>
        </p:txBody>
      </p:sp>
      <p:sp>
        <p:nvSpPr>
          <p:cNvPr id="5" name="Rectangle 4">
            <a:extLst>
              <a:ext uri="{FF2B5EF4-FFF2-40B4-BE49-F238E27FC236}">
                <a16:creationId xmlns:a16="http://schemas.microsoft.com/office/drawing/2014/main" id="{D54C40FE-D510-4C3E-BE1E-7C93A003B064}"/>
              </a:ext>
            </a:extLst>
          </p:cNvPr>
          <p:cNvSpPr>
            <a:spLocks noGrp="1"/>
          </p:cNvSpPr>
          <p:nvPr/>
        </p:nvSpPr>
        <p:spPr>
          <a:xfrm>
            <a:off x="619125" y="1238250"/>
            <a:ext cx="5210175" cy="3276600"/>
          </a:xfrm>
          <a:prstGeom prst="rect">
            <a:avLst/>
          </a:prstGeom>
          <a:solidFill>
            <a:srgbClr val="DDF2D5"/>
          </a:solidFill>
          <a:ln w="0">
            <a:noFill/>
          </a:ln>
        </p:spPr>
        <p:txBody>
          <a:bodyPr/>
          <a:lstStyle/>
          <a:p>
            <a:endParaRPr/>
          </a:p>
        </p:txBody>
      </p:sp>
      <p:sp>
        <p:nvSpPr>
          <p:cNvPr id="6" name="Rectangle 5">
            <a:extLst>
              <a:ext uri="{FF2B5EF4-FFF2-40B4-BE49-F238E27FC236}">
                <a16:creationId xmlns:a16="http://schemas.microsoft.com/office/drawing/2014/main" id="{028DE439-4D0B-4C24-A0F8-E444DBBCA50A}"/>
              </a:ext>
            </a:extLst>
          </p:cNvPr>
          <p:cNvSpPr>
            <a:spLocks noGrp="1"/>
          </p:cNvSpPr>
          <p:nvPr/>
        </p:nvSpPr>
        <p:spPr>
          <a:xfrm>
            <a:off x="771525" y="1390650"/>
            <a:ext cx="4857750" cy="295275"/>
          </a:xfrm>
          <a:prstGeom prst="rect">
            <a:avLst/>
          </a:prstGeom>
          <a:noFill/>
          <a:ln w="0">
            <a:noFill/>
          </a:ln>
        </p:spPr>
        <p:txBody>
          <a:bodyPr anchor="ctr">
            <a:noAutofit/>
          </a:bodyPr>
          <a:lstStyle>
            <a:defPPr>
              <a:defRPr sz="1875" b="1">
                <a:solidFill>
                  <a:srgbClr val="0000FF"/>
                </a:solidFill>
                <a:latin typeface="Times New Roman"/>
                <a:ea typeface="Times New Roman"/>
                <a:cs typeface="Times New Roman"/>
              </a:defRPr>
            </a:defPPr>
          </a:lstStyle>
          <a:p>
            <a:pPr algn="l">
              <a:buNone/>
              <a:defRPr sz="1875" b="1">
                <a:solidFill>
                  <a:srgbClr val="0000FF"/>
                </a:solidFill>
                <a:latin typeface="Times New Roman"/>
                <a:ea typeface="Times New Roman"/>
                <a:cs typeface="Times New Roman"/>
              </a:defRPr>
            </a:pPr>
            <a:r>
              <a:rPr sz="1875" b="1">
                <a:solidFill>
                  <a:srgbClr val="0000FF"/>
                </a:solidFill>
                <a:latin typeface="Times New Roman"/>
                <a:ea typeface="Times New Roman"/>
                <a:cs typeface="Times New Roman"/>
              </a:rPr>
              <a:t>GRASP design guidance</a:t>
            </a:r>
          </a:p>
        </p:txBody>
      </p:sp>
      <p:sp>
        <p:nvSpPr>
          <p:cNvPr id="7" name="Rectangle 6">
            <a:extLst>
              <a:ext uri="{FF2B5EF4-FFF2-40B4-BE49-F238E27FC236}">
                <a16:creationId xmlns:a16="http://schemas.microsoft.com/office/drawing/2014/main" id="{8B0D18D2-DC92-4639-A933-A36D5E0C6E0A}"/>
              </a:ext>
            </a:extLst>
          </p:cNvPr>
          <p:cNvSpPr>
            <a:spLocks noGrp="1"/>
          </p:cNvSpPr>
          <p:nvPr/>
        </p:nvSpPr>
        <p:spPr>
          <a:xfrm>
            <a:off x="771525" y="1876425"/>
            <a:ext cx="4848225" cy="2324100"/>
          </a:xfrm>
          <a:prstGeom prst="rect">
            <a:avLst/>
          </a:prstGeom>
          <a:noFill/>
          <a:ln w="0">
            <a:noFill/>
          </a:ln>
        </p:spPr>
        <p:txBody>
          <a:bodyPr anchor="ctr">
            <a:normAutofit/>
          </a:bodyPr>
          <a:lstStyle>
            <a:defPPr>
              <a:defRPr sz="210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Expert gives information a useful owner.</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Creator locates construction.</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Controller coordinates use cases.</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Cohesion and coupling evaluate choices.</a:t>
            </a:r>
          </a:p>
        </p:txBody>
      </p:sp>
      <p:sp>
        <p:nvSpPr>
          <p:cNvPr id="8" name="Rectangle 7">
            <a:extLst>
              <a:ext uri="{FF2B5EF4-FFF2-40B4-BE49-F238E27FC236}">
                <a16:creationId xmlns:a16="http://schemas.microsoft.com/office/drawing/2014/main" id="{89C4EBA5-0FE2-42AF-9E68-F683BB3A284F}"/>
              </a:ext>
            </a:extLst>
          </p:cNvPr>
          <p:cNvSpPr>
            <a:spLocks noGrp="1"/>
          </p:cNvSpPr>
          <p:nvPr/>
        </p:nvSpPr>
        <p:spPr>
          <a:xfrm>
            <a:off x="6096000" y="1238250"/>
            <a:ext cx="5448300" cy="3276600"/>
          </a:xfrm>
          <a:prstGeom prst="rect">
            <a:avLst/>
          </a:prstGeom>
          <a:solidFill>
            <a:srgbClr val="F6C6AD"/>
          </a:solidFill>
          <a:ln w="0">
            <a:noFill/>
          </a:ln>
        </p:spPr>
        <p:txBody>
          <a:bodyPr/>
          <a:lstStyle/>
          <a:p>
            <a:endParaRPr/>
          </a:p>
        </p:txBody>
      </p:sp>
      <p:sp>
        <p:nvSpPr>
          <p:cNvPr id="9" name="Rectangle 8">
            <a:extLst>
              <a:ext uri="{FF2B5EF4-FFF2-40B4-BE49-F238E27FC236}">
                <a16:creationId xmlns:a16="http://schemas.microsoft.com/office/drawing/2014/main" id="{3F95603B-9050-4F83-9BA9-4B5B8D4CEC04}"/>
              </a:ext>
            </a:extLst>
          </p:cNvPr>
          <p:cNvSpPr>
            <a:spLocks noGrp="1"/>
          </p:cNvSpPr>
          <p:nvPr/>
        </p:nvSpPr>
        <p:spPr>
          <a:xfrm>
            <a:off x="6248400" y="1390650"/>
            <a:ext cx="5048250" cy="314325"/>
          </a:xfrm>
          <a:prstGeom prst="rect">
            <a:avLst/>
          </a:prstGeom>
          <a:noFill/>
          <a:ln w="0">
            <a:noFill/>
          </a:ln>
        </p:spPr>
        <p:txBody>
          <a:bodyPr anchor="ctr">
            <a:noAutofit/>
          </a:bodyPr>
          <a:lstStyle>
            <a:defPPr>
              <a:defRPr sz="1875" b="1">
                <a:solidFill>
                  <a:srgbClr val="C00000"/>
                </a:solidFill>
                <a:latin typeface="Times New Roman"/>
                <a:ea typeface="Times New Roman"/>
                <a:cs typeface="Times New Roman"/>
              </a:defRPr>
            </a:defPPr>
          </a:lstStyle>
          <a:p>
            <a:pPr algn="l">
              <a:buNone/>
              <a:defRPr sz="1875" b="1">
                <a:solidFill>
                  <a:srgbClr val="C00000"/>
                </a:solidFill>
                <a:latin typeface="Times New Roman"/>
                <a:ea typeface="Times New Roman"/>
                <a:cs typeface="Times New Roman"/>
              </a:defRPr>
            </a:pPr>
            <a:r>
              <a:rPr sz="1875" b="1">
                <a:solidFill>
                  <a:srgbClr val="C00000"/>
                </a:solidFill>
                <a:latin typeface="Times New Roman"/>
                <a:ea typeface="Times New Roman"/>
                <a:cs typeface="Times New Roman"/>
              </a:rPr>
              <a:t>Anti-pattern warning signs</a:t>
            </a:r>
          </a:p>
        </p:txBody>
      </p:sp>
      <p:sp>
        <p:nvSpPr>
          <p:cNvPr id="10" name="Rectangle 9">
            <a:extLst>
              <a:ext uri="{FF2B5EF4-FFF2-40B4-BE49-F238E27FC236}">
                <a16:creationId xmlns:a16="http://schemas.microsoft.com/office/drawing/2014/main" id="{7B597156-DA4E-447A-BEAF-66C5BAA8B8BE}"/>
              </a:ext>
            </a:extLst>
          </p:cNvPr>
          <p:cNvSpPr>
            <a:spLocks noGrp="1"/>
          </p:cNvSpPr>
          <p:nvPr/>
        </p:nvSpPr>
        <p:spPr>
          <a:xfrm>
            <a:off x="6248400" y="1876425"/>
            <a:ext cx="5048250" cy="2324100"/>
          </a:xfrm>
          <a:prstGeom prst="rect">
            <a:avLst/>
          </a:prstGeom>
          <a:noFill/>
          <a:ln w="0">
            <a:noFill/>
          </a:ln>
        </p:spPr>
        <p:txBody>
          <a:bodyPr anchor="ctr">
            <a:normAutofit/>
          </a:bodyPr>
          <a:lstStyle>
            <a:defPPr>
              <a:defRPr sz="2100" b="0">
                <a:solidFill>
                  <a:srgbClr val="1D1D1D"/>
                </a:solidFill>
                <a:latin typeface="Times New Roman"/>
                <a:ea typeface="Times New Roman"/>
                <a:cs typeface="Times New Roman"/>
              </a:defRPr>
            </a:defPPr>
          </a:lstStyle>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A Blob mixes too many roles.</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Spaghetti obscures the flow.</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Copied rules drift apart.</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Golden Hammer ignores context.</a:t>
            </a:r>
          </a:p>
          <a:p>
            <a:pPr algn="l">
              <a:buNone/>
              <a:defRPr sz="2100" b="0">
                <a:solidFill>
                  <a:srgbClr val="1D1D1D"/>
                </a:solidFill>
                <a:latin typeface="Times New Roman"/>
                <a:ea typeface="Times New Roman"/>
                <a:cs typeface="Times New Roman"/>
              </a:defRPr>
            </a:pPr>
            <a:r>
              <a:rPr sz="2100" b="0">
                <a:solidFill>
                  <a:srgbClr val="1D1D1D"/>
                </a:solidFill>
                <a:latin typeface="Times New Roman"/>
                <a:ea typeface="Times New Roman"/>
                <a:cs typeface="Times New Roman"/>
              </a:rPr>
              <a:t>Lava Flow preserves uncertainty.</a:t>
            </a:r>
          </a:p>
        </p:txBody>
      </p:sp>
    </p:spTree>
    <p:extLst>
      <p:ext uri="{BB962C8B-B14F-4D97-AF65-F5344CB8AC3E}">
        <p14:creationId xmlns:p14="http://schemas.microsoft.com/office/powerpoint/2010/main" val="6691210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4295</Words>
  <Application>Microsoft Macintosh PowerPoint</Application>
  <DocSecurity>0</DocSecurity>
  <PresentationFormat>Widescreen</PresentationFormat>
  <Paragraphs>445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Aswathy Mohan</cp:lastModifiedBy>
  <cp:revision>33</cp:revision>
  <dcterms:created xsi:type="dcterms:W3CDTF">2026-10-14T04:17:51Z</dcterms:created>
  <dcterms:modified xsi:type="dcterms:W3CDTF">2026-10-14T05:56:47Z</dcterms:modified>
</cp:coreProperties>
</file>