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8" r:id="rId6"/>
    <p:sldId id="260" r:id="rId7"/>
    <p:sldId id="261" r:id="rId8"/>
    <p:sldId id="262" r:id="rId9"/>
    <p:sldId id="263" r:id="rId10"/>
    <p:sldId id="264" r:id="rId11"/>
    <p:sldId id="265"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060"/>
    <p:restoredTop sz="94707"/>
  </p:normalViewPr>
  <p:slideViewPr>
    <p:cSldViewPr snapToGrid="0">
      <p:cViewPr varScale="1">
        <p:scale>
          <a:sx n="62" d="100"/>
          <a:sy n="62" d="100"/>
        </p:scale>
        <p:origin x="224" y="6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wathy Mohan" userId="8ec7b060-ec9d-4a76-a81c-f80212d9386c" providerId="ADAL" clId="{A2D8F3F3-AB79-5800-97AF-2AFE679C11CA}"/>
    <pc:docChg chg="undo custSel modSld">
      <pc:chgData name="Aswathy Mohan" userId="8ec7b060-ec9d-4a76-a81c-f80212d9386c" providerId="ADAL" clId="{A2D8F3F3-AB79-5800-97AF-2AFE679C11CA}" dt="2026-10-14T09:16:20.106" v="171" actId="1038"/>
      <pc:docMkLst>
        <pc:docMk/>
      </pc:docMkLst>
      <pc:sldChg chg="modSp mod">
        <pc:chgData name="Aswathy Mohan" userId="8ec7b060-ec9d-4a76-a81c-f80212d9386c" providerId="ADAL" clId="{A2D8F3F3-AB79-5800-97AF-2AFE679C11CA}" dt="2026-10-14T09:16:20.106" v="171" actId="1038"/>
        <pc:sldMkLst>
          <pc:docMk/>
          <pc:sldMk cId="762283175" sldId="258"/>
        </pc:sldMkLst>
        <pc:spChg chg="mod">
          <ac:chgData name="Aswathy Mohan" userId="8ec7b060-ec9d-4a76-a81c-f80212d9386c" providerId="ADAL" clId="{A2D8F3F3-AB79-5800-97AF-2AFE679C11CA}" dt="2026-10-14T09:16:20.106" v="171" actId="1038"/>
          <ac:spMkLst>
            <pc:docMk/>
            <pc:sldMk cId="762283175" sldId="258"/>
            <ac:spMk id="5" creationId="{E8D1BD26-C1AC-4E3F-B469-071C1886787C}"/>
          </ac:spMkLst>
        </pc:spChg>
      </pc:sldChg>
      <pc:sldChg chg="modSp mod">
        <pc:chgData name="Aswathy Mohan" userId="8ec7b060-ec9d-4a76-a81c-f80212d9386c" providerId="ADAL" clId="{A2D8F3F3-AB79-5800-97AF-2AFE679C11CA}" dt="2026-10-14T09:13:47.372" v="167" actId="1038"/>
        <pc:sldMkLst>
          <pc:docMk/>
          <pc:sldMk cId="554194316" sldId="261"/>
        </pc:sldMkLst>
        <pc:spChg chg="mod">
          <ac:chgData name="Aswathy Mohan" userId="8ec7b060-ec9d-4a76-a81c-f80212d9386c" providerId="ADAL" clId="{A2D8F3F3-AB79-5800-97AF-2AFE679C11CA}" dt="2026-10-14T09:13:47.372" v="167" actId="1038"/>
          <ac:spMkLst>
            <pc:docMk/>
            <pc:sldMk cId="554194316" sldId="261"/>
            <ac:spMk id="5" creationId="{EF01AF97-CB72-4A8A-B8CF-8B8E9EEB966C}"/>
          </ac:spMkLst>
        </pc:spChg>
      </pc:sldChg>
      <pc:sldChg chg="addSp modSp mod">
        <pc:chgData name="Aswathy Mohan" userId="8ec7b060-ec9d-4a76-a81c-f80212d9386c" providerId="ADAL" clId="{A2D8F3F3-AB79-5800-97AF-2AFE679C11CA}" dt="2026-10-14T09:12:01.280" v="164" actId="20577"/>
        <pc:sldMkLst>
          <pc:docMk/>
          <pc:sldMk cId="675974635" sldId="262"/>
        </pc:sldMkLst>
        <pc:spChg chg="mod">
          <ac:chgData name="Aswathy Mohan" userId="8ec7b060-ec9d-4a76-a81c-f80212d9386c" providerId="ADAL" clId="{A2D8F3F3-AB79-5800-97AF-2AFE679C11CA}" dt="2026-10-14T09:10:20.430" v="148" actId="1076"/>
          <ac:spMkLst>
            <pc:docMk/>
            <pc:sldMk cId="675974635" sldId="262"/>
            <ac:spMk id="3" creationId="{D2CAEA10-4D53-43E1-91B6-7650886A4ED7}"/>
          </ac:spMkLst>
        </pc:spChg>
        <pc:spChg chg="mod">
          <ac:chgData name="Aswathy Mohan" userId="8ec7b060-ec9d-4a76-a81c-f80212d9386c" providerId="ADAL" clId="{A2D8F3F3-AB79-5800-97AF-2AFE679C11CA}" dt="2026-10-14T09:06:34.205" v="87" actId="1035"/>
          <ac:spMkLst>
            <pc:docMk/>
            <pc:sldMk cId="675974635" sldId="262"/>
            <ac:spMk id="5" creationId="{CB003A3D-278C-46DD-8B87-E00D20FA61CF}"/>
          </ac:spMkLst>
        </pc:spChg>
        <pc:spChg chg="mod">
          <ac:chgData name="Aswathy Mohan" userId="8ec7b060-ec9d-4a76-a81c-f80212d9386c" providerId="ADAL" clId="{A2D8F3F3-AB79-5800-97AF-2AFE679C11CA}" dt="2026-10-14T09:06:29.976" v="84" actId="14100"/>
          <ac:spMkLst>
            <pc:docMk/>
            <pc:sldMk cId="675974635" sldId="262"/>
            <ac:spMk id="6" creationId="{7EAB3884-6631-4F48-9FB7-CF665E178C09}"/>
          </ac:spMkLst>
        </pc:spChg>
        <pc:spChg chg="mod">
          <ac:chgData name="Aswathy Mohan" userId="8ec7b060-ec9d-4a76-a81c-f80212d9386c" providerId="ADAL" clId="{A2D8F3F3-AB79-5800-97AF-2AFE679C11CA}" dt="2026-10-14T09:06:08.909" v="71" actId="1076"/>
          <ac:spMkLst>
            <pc:docMk/>
            <pc:sldMk cId="675974635" sldId="262"/>
            <ac:spMk id="7" creationId="{AAED0ECE-F77D-4F48-B4C3-650A01C55313}"/>
          </ac:spMkLst>
        </pc:spChg>
        <pc:spChg chg="mod">
          <ac:chgData name="Aswathy Mohan" userId="8ec7b060-ec9d-4a76-a81c-f80212d9386c" providerId="ADAL" clId="{A2D8F3F3-AB79-5800-97AF-2AFE679C11CA}" dt="2026-10-14T09:05:35.125" v="16" actId="1036"/>
          <ac:spMkLst>
            <pc:docMk/>
            <pc:sldMk cId="675974635" sldId="262"/>
            <ac:spMk id="8" creationId="{C9B18341-8DCE-49B8-9BAD-1FE19BE4DEB5}"/>
          </ac:spMkLst>
        </pc:spChg>
        <pc:spChg chg="add mod">
          <ac:chgData name="Aswathy Mohan" userId="8ec7b060-ec9d-4a76-a81c-f80212d9386c" providerId="ADAL" clId="{A2D8F3F3-AB79-5800-97AF-2AFE679C11CA}" dt="2026-10-14T09:10:17.529" v="147" actId="1076"/>
          <ac:spMkLst>
            <pc:docMk/>
            <pc:sldMk cId="675974635" sldId="262"/>
            <ac:spMk id="11" creationId="{6D1D2425-703E-DAD2-86AA-2BD85909FBAB}"/>
          </ac:spMkLst>
        </pc:spChg>
        <pc:spChg chg="add mod">
          <ac:chgData name="Aswathy Mohan" userId="8ec7b060-ec9d-4a76-a81c-f80212d9386c" providerId="ADAL" clId="{A2D8F3F3-AB79-5800-97AF-2AFE679C11CA}" dt="2026-10-14T09:12:01.280" v="164" actId="20577"/>
          <ac:spMkLst>
            <pc:docMk/>
            <pc:sldMk cId="675974635" sldId="262"/>
            <ac:spMk id="13" creationId="{6F8AC9DF-B983-7386-F1C4-D45F53BA4580}"/>
          </ac:spMkLst>
        </pc:spChg>
        <pc:spChg chg="add mod">
          <ac:chgData name="Aswathy Mohan" userId="8ec7b060-ec9d-4a76-a81c-f80212d9386c" providerId="ADAL" clId="{A2D8F3F3-AB79-5800-97AF-2AFE679C11CA}" dt="2026-10-14T09:10:25.826" v="149" actId="1076"/>
          <ac:spMkLst>
            <pc:docMk/>
            <pc:sldMk cId="675974635" sldId="262"/>
            <ac:spMk id="19" creationId="{79FD9C8F-B12D-379F-7793-0CEA8AA1715B}"/>
          </ac:spMkLst>
        </pc:spChg>
        <pc:cxnChg chg="add mod">
          <ac:chgData name="Aswathy Mohan" userId="8ec7b060-ec9d-4a76-a81c-f80212d9386c" providerId="ADAL" clId="{A2D8F3F3-AB79-5800-97AF-2AFE679C11CA}" dt="2026-10-14T09:07:50.816" v="132" actId="1038"/>
          <ac:cxnSpMkLst>
            <pc:docMk/>
            <pc:sldMk cId="675974635" sldId="262"/>
            <ac:cxnSpMk id="15" creationId="{248962E6-02F4-5597-AE22-FFACD71BCB63}"/>
          </ac:cxnSpMkLst>
        </pc:cxnChg>
      </pc:sldChg>
      <pc:sldChg chg="modSp mod modNotesTx">
        <pc:chgData name="Aswathy Mohan" userId="8ec7b060-ec9d-4a76-a81c-f80212d9386c" providerId="ADAL" clId="{A2D8F3F3-AB79-5800-97AF-2AFE679C11CA}" dt="2026-10-14T09:14:31.259" v="168" actId="20577"/>
        <pc:sldMkLst>
          <pc:docMk/>
          <pc:sldMk cId="660865431" sldId="267"/>
        </pc:sldMkLst>
        <pc:spChg chg="mod">
          <ac:chgData name="Aswathy Mohan" userId="8ec7b060-ec9d-4a76-a81c-f80212d9386c" providerId="ADAL" clId="{A2D8F3F3-AB79-5800-97AF-2AFE679C11CA}" dt="2026-10-14T05:58:30.296" v="1" actId="1038"/>
          <ac:spMkLst>
            <pc:docMk/>
            <pc:sldMk cId="660865431" sldId="267"/>
            <ac:spMk id="11" creationId="{96EA6417-EADB-418D-A136-6AC2840D122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GoF</a:t>
            </a:r>
            <a:r>
              <a:rPr dirty="0"/>
              <a:t> Singleton intent. Java scope and implementation caveats: https://</a:t>
            </a:r>
            <a:r>
              <a:rPr dirty="0" err="1"/>
              <a:t>www.oracle.com</a:t>
            </a:r>
            <a:r>
              <a:rPr dirty="0"/>
              <a:t>/technical-resources/articles/java/</a:t>
            </a:r>
            <a:r>
              <a:rPr dirty="0" err="1"/>
              <a:t>singleton.html</a:t>
            </a:r>
            <a:r>
              <a:rPr dirty="0"/>
              <a:t> . </a:t>
            </a:r>
            <a:r>
              <a:rPr dirty="0" err="1"/>
              <a:t>AppConfig</a:t>
            </a:r>
            <a:r>
              <a:rPr dirty="0"/>
              <a:t> is an illustrative teaching example. Eager and lazy implementations are alternatives.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GoF</a:t>
            </a:r>
            <a:r>
              <a:rPr dirty="0"/>
              <a:t> Singleton intent. Java scope and implementation caveats: https://</a:t>
            </a:r>
            <a:r>
              <a:rPr dirty="0" err="1"/>
              <a:t>www.oracle.com</a:t>
            </a:r>
            <a:r>
              <a:rPr dirty="0"/>
              <a:t>/technical-resources/articles/java/</a:t>
            </a:r>
            <a:r>
              <a:rPr dirty="0" err="1"/>
              <a:t>singleton.html</a:t>
            </a:r>
            <a:r>
              <a:rPr dirty="0"/>
              <a:t> . </a:t>
            </a:r>
            <a:r>
              <a:rPr dirty="0" err="1"/>
              <a:t>AppConfig</a:t>
            </a:r>
            <a:r>
              <a:rPr dirty="0"/>
              <a:t> is an illustrative teaching example. Eager and lazy implementations are alternatives.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GoF</a:t>
            </a:r>
            <a:r>
              <a:rPr dirty="0"/>
              <a:t> Singleton intent. Java scope and implementation caveats: https://</a:t>
            </a:r>
            <a:r>
              <a:rPr dirty="0" err="1"/>
              <a:t>www.oracle.com</a:t>
            </a:r>
            <a:r>
              <a:rPr dirty="0"/>
              <a:t>/technical-resources/articles/java/</a:t>
            </a:r>
            <a:r>
              <a:rPr dirty="0" err="1"/>
              <a:t>singleton.html</a:t>
            </a:r>
            <a:r>
              <a:rPr dirty="0"/>
              <a:t> . </a:t>
            </a:r>
            <a:r>
              <a:rPr dirty="0" err="1"/>
              <a:t>AppConfig</a:t>
            </a:r>
            <a:r>
              <a:rPr dirty="0"/>
              <a:t> is an illustrative teaching example. Eager and lazy implementations are alternatives.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GoF</a:t>
            </a:r>
            <a:r>
              <a:rPr dirty="0"/>
              <a:t> Singleton intent. Java scope and implementation caveats: https://</a:t>
            </a:r>
            <a:r>
              <a:rPr dirty="0" err="1"/>
              <a:t>www.oracle.com</a:t>
            </a:r>
            <a:r>
              <a:rPr dirty="0"/>
              <a:t>/technical-resources/articles/java/</a:t>
            </a:r>
            <a:r>
              <a:rPr dirty="0" err="1"/>
              <a:t>singleton.html</a:t>
            </a:r>
            <a:r>
              <a:rPr dirty="0"/>
              <a:t> . </a:t>
            </a:r>
            <a:r>
              <a:rPr dirty="0" err="1"/>
              <a:t>AppConfig</a:t>
            </a:r>
            <a:r>
              <a:rPr dirty="0"/>
              <a:t> is an illustrative teaching example. Eager and lazy implementations are alternatives.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72FBB-26B2-8A42-6972-BC669AB68A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F27362-EC29-DAA4-DCEF-9EFFB3A725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6624D7-95E6-0F96-9FB9-87C6B635D016}"/>
              </a:ext>
            </a:extLst>
          </p:cNvPr>
          <p:cNvSpPr>
            <a:spLocks noGrp="1"/>
          </p:cNvSpPr>
          <p:nvPr>
            <p:ph type="body" idx="1"/>
          </p:nvPr>
        </p:nvSpPr>
        <p:spPr/>
        <p:txBody>
          <a:bodyPr/>
          <a:lstStyle/>
          <a:p>
            <a:r>
              <a:rPr dirty="0" err="1"/>
              <a:t>GoF</a:t>
            </a:r>
            <a:r>
              <a:rPr dirty="0"/>
              <a:t> Singleton intent. Java scope and implementation caveats: https://</a:t>
            </a:r>
            <a:r>
              <a:rPr dirty="0" err="1"/>
              <a:t>www.oracle.com</a:t>
            </a:r>
            <a:r>
              <a:rPr dirty="0"/>
              <a:t>/technical-resources/articles/java/</a:t>
            </a:r>
            <a:r>
              <a:rPr dirty="0" err="1"/>
              <a:t>singleton.html</a:t>
            </a:r>
            <a:r>
              <a:rPr dirty="0"/>
              <a:t> . </a:t>
            </a:r>
            <a:r>
              <a:rPr dirty="0" err="1"/>
              <a:t>AppConfig</a:t>
            </a:r>
            <a:r>
              <a:rPr dirty="0"/>
              <a:t> is an illustrative teaching example. Eager and lazy implementations are alternatives.</a:t>
            </a:r>
          </a:p>
        </p:txBody>
      </p:sp>
      <p:sp>
        <p:nvSpPr>
          <p:cNvPr id="4" name="Slide Number Placeholder 3">
            <a:extLst>
              <a:ext uri="{FF2B5EF4-FFF2-40B4-BE49-F238E27FC236}">
                <a16:creationId xmlns:a16="http://schemas.microsoft.com/office/drawing/2014/main" id="{C27429A8-8A52-AAE6-B15D-C65C3F52E3F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5914372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GoF</a:t>
            </a:r>
            <a:r>
              <a:rPr dirty="0"/>
              <a:t> Singleton intent. Java scope and implementation caveats: https://</a:t>
            </a:r>
            <a:r>
              <a:rPr dirty="0" err="1"/>
              <a:t>www.oracle.com</a:t>
            </a:r>
            <a:r>
              <a:rPr dirty="0"/>
              <a:t>/technical-resources/articles/java/</a:t>
            </a:r>
            <a:r>
              <a:rPr dirty="0" err="1"/>
              <a:t>singleton.html</a:t>
            </a:r>
            <a:r>
              <a:rPr dirty="0"/>
              <a:t> . </a:t>
            </a:r>
            <a:r>
              <a:rPr dirty="0" err="1"/>
              <a:t>AppConfig</a:t>
            </a:r>
            <a:r>
              <a:rPr dirty="0"/>
              <a:t> is an illustrative teaching example. Eager and lazy implementations are alternatives.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GoF</a:t>
            </a:r>
            <a:r>
              <a:rPr dirty="0"/>
              <a:t> Singleton intent. Java scope and implementation caveats: https://</a:t>
            </a:r>
            <a:r>
              <a:rPr dirty="0" err="1"/>
              <a:t>www.oracle.com</a:t>
            </a:r>
            <a:r>
              <a:rPr dirty="0"/>
              <a:t>/technical-resources/articles/java/</a:t>
            </a:r>
            <a:r>
              <a:rPr dirty="0" err="1"/>
              <a:t>singleton.html</a:t>
            </a:r>
            <a:r>
              <a:rPr dirty="0"/>
              <a:t> . </a:t>
            </a:r>
            <a:r>
              <a:rPr dirty="0" err="1"/>
              <a:t>AppConfig</a:t>
            </a:r>
            <a:r>
              <a:rPr dirty="0"/>
              <a:t> is an illustrative teaching example. Eager and lazy implementations are alternatives.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GoF</a:t>
            </a:r>
            <a:r>
              <a:rPr dirty="0"/>
              <a:t> Singleton intent. Java scope and implementation caveats: https://</a:t>
            </a:r>
            <a:r>
              <a:rPr dirty="0" err="1"/>
              <a:t>www.oracle.com</a:t>
            </a:r>
            <a:r>
              <a:rPr dirty="0"/>
              <a:t>/technical-resources/articles/java/</a:t>
            </a:r>
            <a:r>
              <a:rPr dirty="0" err="1"/>
              <a:t>singleton.html</a:t>
            </a:r>
            <a:r>
              <a:rPr dirty="0"/>
              <a:t> . </a:t>
            </a:r>
            <a:r>
              <a:rPr dirty="0" err="1"/>
              <a:t>AppConfig</a:t>
            </a:r>
            <a:r>
              <a:rPr dirty="0"/>
              <a:t> is an illustrative teaching example. Eager and lazy implementations are alternatives.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GoF</a:t>
            </a:r>
            <a:r>
              <a:rPr dirty="0"/>
              <a:t> Singleton intent. Java scope and implementation caveats: https://</a:t>
            </a:r>
            <a:r>
              <a:rPr dirty="0" err="1"/>
              <a:t>www.oracle.com</a:t>
            </a:r>
            <a:r>
              <a:rPr dirty="0"/>
              <a:t>/technical-resources/articles/java/</a:t>
            </a:r>
            <a:r>
              <a:rPr dirty="0" err="1"/>
              <a:t>singleton.html</a:t>
            </a:r>
            <a:r>
              <a:rPr dirty="0"/>
              <a:t> . </a:t>
            </a:r>
            <a:r>
              <a:rPr dirty="0" err="1"/>
              <a:t>AppConfig</a:t>
            </a:r>
            <a:r>
              <a:rPr dirty="0"/>
              <a:t> is an illustrative teaching example. Eager and lazy implementations are alternatives.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GoF</a:t>
            </a:r>
            <a:r>
              <a:rPr dirty="0"/>
              <a:t> Singleton intent. Java scope and implementation caveats: https://</a:t>
            </a:r>
            <a:r>
              <a:rPr dirty="0" err="1"/>
              <a:t>www.oracle.com</a:t>
            </a:r>
            <a:r>
              <a:rPr dirty="0"/>
              <a:t>/technical-resources/articles/java/</a:t>
            </a:r>
            <a:r>
              <a:rPr dirty="0" err="1"/>
              <a:t>singleton.html</a:t>
            </a:r>
            <a:r>
              <a:rPr dirty="0"/>
              <a:t> . </a:t>
            </a:r>
            <a:r>
              <a:rPr dirty="0" err="1"/>
              <a:t>AppConfig</a:t>
            </a:r>
            <a:r>
              <a:rPr dirty="0"/>
              <a:t> is an illustrative teaching example. Eager and lazy implementations are alternatives.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GoF</a:t>
            </a:r>
            <a:r>
              <a:rPr dirty="0"/>
              <a:t> Singleton intent. Java scope and implementation caveats: https://</a:t>
            </a:r>
            <a:r>
              <a:rPr dirty="0" err="1"/>
              <a:t>www.oracle.com</a:t>
            </a:r>
            <a:r>
              <a:rPr dirty="0"/>
              <a:t>/technical-resources/articles/java/</a:t>
            </a:r>
            <a:r>
              <a:rPr dirty="0" err="1"/>
              <a:t>singleton.html</a:t>
            </a:r>
            <a:r>
              <a:rPr dirty="0"/>
              <a:t> . </a:t>
            </a:r>
            <a:r>
              <a:rPr dirty="0" err="1"/>
              <a:t>AppConfig</a:t>
            </a:r>
            <a:r>
              <a:rPr dirty="0"/>
              <a:t> is an illustrative teaching example. Eager and lazy implementations are alternatives.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A5D4F3E-5D1D-44F0-820B-A6933A5261BE}"/>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Subtitle">
            <a:extLst>
              <a:ext uri="{FF2B5EF4-FFF2-40B4-BE49-F238E27FC236}">
                <a16:creationId xmlns:a16="http://schemas.microsoft.com/office/drawing/2014/main" id="{54B98AEC-2B2C-4524-9005-DA344579975E}"/>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AC14156C-BE49-42ED-B72E-ECBED3FCECD9}"/>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33772DB-AFA0-44BE-BB57-44094E66DB2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Body">
            <a:extLst>
              <a:ext uri="{FF2B5EF4-FFF2-40B4-BE49-F238E27FC236}">
                <a16:creationId xmlns:a16="http://schemas.microsoft.com/office/drawing/2014/main" id="{60120D2D-CA35-4511-8B1C-870244F043F7}"/>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0D942AD5-C553-4529-8E4B-B211C77484B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D906761A-9A60-4715-AA9C-404738A3EF84}"/>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3" name="Right column">
            <a:extLst>
              <a:ext uri="{FF2B5EF4-FFF2-40B4-BE49-F238E27FC236}">
                <a16:creationId xmlns:a16="http://schemas.microsoft.com/office/drawing/2014/main" id="{0E9E1CE7-EE93-41EC-827B-F5FA1146EF1E}"/>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E57479A-EF32-4FB1-86C0-CD152991C58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BA452B3A-AA69-4348-A492-2A5304074E4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C6561D4-E1E3-4251-A72F-7B5AC556377B}"/>
              </a:ext>
            </a:extLst>
          </p:cNvPr>
          <p:cNvSpPr>
            <a:spLocks noGrp="1"/>
          </p:cNvSpPr>
          <p:nvPr/>
        </p:nvSpPr>
        <p:spPr>
          <a:xfrm>
            <a:off x="2333625" y="2686050"/>
            <a:ext cx="9858375" cy="781050"/>
          </a:xfrm>
          <a:prstGeom prst="rect">
            <a:avLst/>
          </a:prstGeom>
          <a:solidFill>
            <a:srgbClr val="002060"/>
          </a:solidFill>
          <a:ln w="0">
            <a:noFill/>
          </a:ln>
        </p:spPr>
        <p:txBody>
          <a:bodyPr/>
          <a:lstStyle/>
          <a:p>
            <a:endParaRPr lang="en-US"/>
          </a:p>
        </p:txBody>
      </p:sp>
      <p:sp>
        <p:nvSpPr>
          <p:cNvPr id="2" name="Rectangle 1">
            <a:extLst>
              <a:ext uri="{FF2B5EF4-FFF2-40B4-BE49-F238E27FC236}">
                <a16:creationId xmlns:a16="http://schemas.microsoft.com/office/drawing/2014/main" id="{04A65A22-F7A4-4BB3-9B59-85CA5ED08F0D}"/>
              </a:ext>
            </a:extLst>
          </p:cNvPr>
          <p:cNvSpPr>
            <a:spLocks noGrp="1"/>
          </p:cNvSpPr>
          <p:nvPr/>
        </p:nvSpPr>
        <p:spPr>
          <a:xfrm>
            <a:off x="2505075" y="2771775"/>
            <a:ext cx="3905250" cy="609600"/>
          </a:xfrm>
          <a:prstGeom prst="rect">
            <a:avLst/>
          </a:prstGeom>
          <a:noFill/>
          <a:ln w="0">
            <a:noFill/>
          </a:ln>
        </p:spPr>
        <p:txBody>
          <a:bodyPr anchor="ctr">
            <a:noAutofit/>
          </a:bodyPr>
          <a:lstStyle>
            <a:defPPr algn="l">
              <a:defRPr sz="3418">
                <a:solidFill>
                  <a:srgbClr val="C00000"/>
                </a:solidFill>
                <a:latin typeface="Times New Roman"/>
                <a:ea typeface="Times New Roman"/>
                <a:cs typeface="Times New Roman"/>
              </a:defRPr>
            </a:defPPr>
          </a:lstStyle>
          <a:p>
            <a:pPr algn="l">
              <a:buNone/>
              <a:defRPr sz="3418" b="0">
                <a:solidFill>
                  <a:srgbClr val="C00000"/>
                </a:solidFill>
                <a:latin typeface="Times New Roman"/>
                <a:ea typeface="Times New Roman"/>
                <a:cs typeface="Times New Roman"/>
              </a:defRPr>
            </a:pPr>
            <a:r>
              <a:rPr sz="3418" b="0">
                <a:solidFill>
                  <a:srgbClr val="C00000"/>
                </a:solidFill>
                <a:latin typeface="Times New Roman"/>
                <a:ea typeface="Times New Roman"/>
                <a:cs typeface="Times New Roman"/>
              </a:rPr>
              <a:t>Unit 2</a:t>
            </a:r>
          </a:p>
        </p:txBody>
      </p:sp>
      <p:sp>
        <p:nvSpPr>
          <p:cNvPr id="3" name="Rectangle 2">
            <a:extLst>
              <a:ext uri="{FF2B5EF4-FFF2-40B4-BE49-F238E27FC236}">
                <a16:creationId xmlns:a16="http://schemas.microsoft.com/office/drawing/2014/main" id="{A1D8641E-E07B-46FF-8E37-A27A265E1A09}"/>
              </a:ext>
            </a:extLst>
          </p:cNvPr>
          <p:cNvSpPr>
            <a:spLocks noGrp="1"/>
          </p:cNvSpPr>
          <p:nvPr/>
        </p:nvSpPr>
        <p:spPr>
          <a:xfrm>
            <a:off x="1514475" y="800100"/>
            <a:ext cx="9382125" cy="866775"/>
          </a:xfrm>
          <a:prstGeom prst="rect">
            <a:avLst/>
          </a:prstGeom>
          <a:noFill/>
          <a:ln w="0">
            <a:noFill/>
          </a:ln>
        </p:spPr>
        <p:txBody>
          <a:bodyPr anchor="ctr">
            <a:noAutofit/>
          </a:bodyPr>
          <a:lstStyle>
            <a:defPPr algn="ctr">
              <a:defRPr sz="4200">
                <a:solidFill>
                  <a:srgbClr val="002060"/>
                </a:solidFill>
                <a:latin typeface="Times New Roman"/>
                <a:ea typeface="Times New Roman"/>
                <a:cs typeface="Times New Roman"/>
              </a:defRPr>
            </a:defPPr>
          </a:lstStyle>
          <a:p>
            <a:pPr algn="ctr">
              <a:buNone/>
              <a:defRPr sz="4200" b="0">
                <a:solidFill>
                  <a:srgbClr val="002060"/>
                </a:solidFill>
                <a:latin typeface="Times New Roman"/>
                <a:ea typeface="Times New Roman"/>
                <a:cs typeface="Times New Roman"/>
              </a:defRPr>
            </a:pPr>
            <a:r>
              <a:rPr sz="4200" b="0">
                <a:solidFill>
                  <a:srgbClr val="002060"/>
                </a:solidFill>
                <a:latin typeface="Times New Roman"/>
                <a:ea typeface="Times New Roman"/>
                <a:cs typeface="Times New Roman"/>
              </a:rPr>
              <a:t>Singleton Design Pattern</a:t>
            </a:r>
          </a:p>
        </p:txBody>
      </p:sp>
      <p:sp>
        <p:nvSpPr>
          <p:cNvPr id="4" name="Rectangle 3">
            <a:extLst>
              <a:ext uri="{FF2B5EF4-FFF2-40B4-BE49-F238E27FC236}">
                <a16:creationId xmlns:a16="http://schemas.microsoft.com/office/drawing/2014/main" id="{1F74B4C5-BFF1-48A0-A0BF-48A2EAE117A2}"/>
              </a:ext>
            </a:extLst>
          </p:cNvPr>
          <p:cNvSpPr>
            <a:spLocks noGrp="1"/>
          </p:cNvSpPr>
          <p:nvPr/>
        </p:nvSpPr>
        <p:spPr>
          <a:xfrm>
            <a:off x="1381125" y="1790700"/>
            <a:ext cx="9429750" cy="504825"/>
          </a:xfrm>
          <a:prstGeom prst="rect">
            <a:avLst/>
          </a:prstGeom>
          <a:noFill/>
          <a:ln w="0">
            <a:noFill/>
          </a:ln>
        </p:spPr>
        <p:txBody>
          <a:bodyPr anchor="ctr">
            <a:noAutofit/>
          </a:bodyPr>
          <a:lstStyle>
            <a:defPPr algn="ctr">
              <a:defRPr sz="2175">
                <a:solidFill>
                  <a:srgbClr val="0000FF"/>
                </a:solidFill>
                <a:latin typeface="Times New Roman"/>
                <a:ea typeface="Times New Roman"/>
                <a:cs typeface="Times New Roman"/>
              </a:defRPr>
            </a:defPPr>
          </a:lstStyle>
          <a:p>
            <a:pPr algn="ctr">
              <a:buNone/>
              <a:defRPr sz="2175" b="0">
                <a:solidFill>
                  <a:srgbClr val="0000FF"/>
                </a:solidFill>
                <a:latin typeface="Times New Roman"/>
                <a:ea typeface="Times New Roman"/>
                <a:cs typeface="Times New Roman"/>
              </a:defRPr>
            </a:pPr>
            <a:r>
              <a:rPr sz="2175" b="0">
                <a:solidFill>
                  <a:srgbClr val="0000FF"/>
                </a:solidFill>
                <a:latin typeface="Times New Roman"/>
                <a:ea typeface="Times New Roman"/>
                <a:cs typeface="Times New Roman"/>
              </a:rPr>
              <a:t>One shared instance with controlled creation and access</a:t>
            </a:r>
          </a:p>
        </p:txBody>
      </p:sp>
      <p:sp>
        <p:nvSpPr>
          <p:cNvPr id="5" name="Rectangle 4">
            <a:extLst>
              <a:ext uri="{FF2B5EF4-FFF2-40B4-BE49-F238E27FC236}">
                <a16:creationId xmlns:a16="http://schemas.microsoft.com/office/drawing/2014/main" id="{44894E66-9BDF-43CF-9411-F0B25C16B16E}"/>
              </a:ext>
            </a:extLst>
          </p:cNvPr>
          <p:cNvSpPr>
            <a:spLocks noGrp="1"/>
          </p:cNvSpPr>
          <p:nvPr/>
        </p:nvSpPr>
        <p:spPr>
          <a:xfrm>
            <a:off x="2705100" y="4657725"/>
            <a:ext cx="6838950" cy="361950"/>
          </a:xfrm>
          <a:prstGeom prst="rect">
            <a:avLst/>
          </a:prstGeom>
          <a:noFill/>
          <a:ln w="0">
            <a:noFill/>
          </a:ln>
        </p:spPr>
        <p:txBody>
          <a:bodyPr anchor="ctr">
            <a:noAutofit/>
          </a:bodyPr>
          <a:lstStyle>
            <a:defPPr algn="ctr">
              <a:defRPr sz="1781">
                <a:solidFill>
                  <a:srgbClr val="002060"/>
                </a:solidFill>
                <a:latin typeface="Times New Roman"/>
                <a:ea typeface="Times New Roman"/>
                <a:cs typeface="Times New Roman"/>
              </a:defRPr>
            </a:defPPr>
          </a:lstStyle>
          <a:p>
            <a:pPr algn="ctr">
              <a:buNone/>
              <a:defRPr sz="1781" b="0">
                <a:solidFill>
                  <a:srgbClr val="002060"/>
                </a:solidFill>
                <a:latin typeface="Times New Roman"/>
                <a:ea typeface="Times New Roman"/>
                <a:cs typeface="Times New Roman"/>
              </a:defRPr>
            </a:pPr>
            <a:r>
              <a:rPr sz="2400" b="1" dirty="0" err="1">
                <a:solidFill>
                  <a:srgbClr val="002060"/>
                </a:solidFill>
                <a:latin typeface="Times New Roman"/>
                <a:ea typeface="Times New Roman"/>
                <a:cs typeface="Times New Roman"/>
              </a:rPr>
              <a:t>GoF</a:t>
            </a:r>
            <a:r>
              <a:rPr sz="2400" b="1" dirty="0">
                <a:solidFill>
                  <a:srgbClr val="002060"/>
                </a:solidFill>
                <a:latin typeface="Times New Roman"/>
                <a:ea typeface="Times New Roman"/>
                <a:cs typeface="Times New Roman"/>
              </a:rPr>
              <a:t> creational pattern</a:t>
            </a:r>
          </a:p>
        </p:txBody>
      </p:sp>
    </p:spTree>
    <p:extLst>
      <p:ext uri="{BB962C8B-B14F-4D97-AF65-F5344CB8AC3E}">
        <p14:creationId xmlns:p14="http://schemas.microsoft.com/office/powerpoint/2010/main" val="21449417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E13F0F0-FD04-4338-A244-D3EBD3D0843E}"/>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lang="en-US" sz="2000"/>
          </a:p>
        </p:txBody>
      </p:sp>
      <p:sp>
        <p:nvSpPr>
          <p:cNvPr id="2" name="Rectangle 1">
            <a:extLst>
              <a:ext uri="{FF2B5EF4-FFF2-40B4-BE49-F238E27FC236}">
                <a16:creationId xmlns:a16="http://schemas.microsoft.com/office/drawing/2014/main" id="{245630E9-DE2C-4601-9657-C4A3CFAB51CA}"/>
              </a:ext>
            </a:extLst>
          </p:cNvPr>
          <p:cNvSpPr>
            <a:spLocks noGrp="1"/>
          </p:cNvSpPr>
          <p:nvPr/>
        </p:nvSpPr>
        <p:spPr>
          <a:xfrm>
            <a:off x="790575" y="66675"/>
            <a:ext cx="10601325" cy="495300"/>
          </a:xfrm>
          <a:prstGeom prst="rect">
            <a:avLst/>
          </a:prstGeom>
          <a:noFill/>
          <a:ln w="0">
            <a:noFill/>
          </a:ln>
        </p:spPr>
        <p:txBody>
          <a:bodyPr anchor="ctr">
            <a:noAutofit/>
          </a:bodyPr>
          <a:lstStyle>
            <a:defPPr algn="ctr">
              <a:defRPr sz="2640">
                <a:solidFill>
                  <a:srgbClr val="002060"/>
                </a:solidFill>
                <a:latin typeface="Times New Roman"/>
                <a:ea typeface="Times New Roman"/>
                <a:cs typeface="Times New Roman"/>
              </a:defRPr>
            </a:defPPr>
          </a:lstStyle>
          <a:p>
            <a:pPr algn="ctr">
              <a:buNone/>
              <a:defRPr sz="2640" b="0">
                <a:solidFill>
                  <a:srgbClr val="002060"/>
                </a:solidFill>
                <a:latin typeface="Times New Roman"/>
                <a:ea typeface="Times New Roman"/>
                <a:cs typeface="Times New Roman"/>
              </a:defRPr>
            </a:pPr>
            <a:r>
              <a:rPr sz="2640" b="0">
                <a:solidFill>
                  <a:srgbClr val="002060"/>
                </a:solidFill>
                <a:latin typeface="Times New Roman"/>
                <a:ea typeface="Times New Roman"/>
                <a:cs typeface="Times New Roman"/>
              </a:rPr>
              <a:t>Singleton Design Pattern</a:t>
            </a:r>
          </a:p>
        </p:txBody>
      </p:sp>
      <p:sp>
        <p:nvSpPr>
          <p:cNvPr id="4" name="Rectangle 3">
            <a:extLst>
              <a:ext uri="{FF2B5EF4-FFF2-40B4-BE49-F238E27FC236}">
                <a16:creationId xmlns:a16="http://schemas.microsoft.com/office/drawing/2014/main" id="{4FF021CD-B922-40CA-8357-918DDF03A024}"/>
              </a:ext>
            </a:extLst>
          </p:cNvPr>
          <p:cNvSpPr>
            <a:spLocks noGrp="1"/>
          </p:cNvSpPr>
          <p:nvPr/>
        </p:nvSpPr>
        <p:spPr>
          <a:xfrm>
            <a:off x="11258550" y="6486525"/>
            <a:ext cx="438150" cy="238125"/>
          </a:xfrm>
          <a:prstGeom prst="rect">
            <a:avLst/>
          </a:prstGeom>
          <a:noFill/>
          <a:ln w="0">
            <a:noFill/>
          </a:ln>
        </p:spPr>
        <p:txBody>
          <a:bodyPr anchor="ctr">
            <a:noAutofit/>
          </a:bodyPr>
          <a:lstStyle>
            <a:defPPr algn="l">
              <a:defRPr sz="968">
                <a:solidFill>
                  <a:srgbClr val="002060"/>
                </a:solidFill>
                <a:latin typeface="Times New Roman"/>
                <a:ea typeface="Times New Roman"/>
                <a:cs typeface="Times New Roman"/>
              </a:defRPr>
            </a:defPPr>
          </a:lstStyle>
          <a:p>
            <a:pPr algn="l">
              <a:buNone/>
              <a:defRPr sz="968" b="0">
                <a:solidFill>
                  <a:srgbClr val="002060"/>
                </a:solidFill>
                <a:latin typeface="Times New Roman"/>
                <a:ea typeface="Times New Roman"/>
                <a:cs typeface="Times New Roman"/>
              </a:defRPr>
            </a:pPr>
            <a:r>
              <a:rPr sz="2000" b="0">
                <a:solidFill>
                  <a:srgbClr val="002060"/>
                </a:solidFill>
                <a:latin typeface="Times New Roman"/>
                <a:ea typeface="Times New Roman"/>
                <a:cs typeface="Times New Roman"/>
              </a:rPr>
              <a:t>02</a:t>
            </a:r>
          </a:p>
        </p:txBody>
      </p:sp>
      <p:sp>
        <p:nvSpPr>
          <p:cNvPr id="5" name="Rectangle 4">
            <a:extLst>
              <a:ext uri="{FF2B5EF4-FFF2-40B4-BE49-F238E27FC236}">
                <a16:creationId xmlns:a16="http://schemas.microsoft.com/office/drawing/2014/main" id="{BC5DC8C2-5C5F-46D7-B70F-19711A06E472}"/>
              </a:ext>
            </a:extLst>
          </p:cNvPr>
          <p:cNvSpPr>
            <a:spLocks noGrp="1"/>
          </p:cNvSpPr>
          <p:nvPr/>
        </p:nvSpPr>
        <p:spPr>
          <a:xfrm>
            <a:off x="628650" y="1104900"/>
            <a:ext cx="6667500" cy="295275"/>
          </a:xfrm>
          <a:prstGeom prst="rect">
            <a:avLst/>
          </a:prstGeom>
          <a:noFill/>
          <a:ln w="0">
            <a:noFill/>
          </a:ln>
        </p:spPr>
        <p:txBody>
          <a:bodyPr anchor="ctr">
            <a:noAutofit/>
          </a:bodyPr>
          <a:lstStyle>
            <a:defPPr algn="l">
              <a:defRPr sz="1346" b="1">
                <a:solidFill>
                  <a:srgbClr val="0000FF"/>
                </a:solidFill>
                <a:latin typeface="Times New Roman"/>
                <a:ea typeface="Times New Roman"/>
                <a:cs typeface="Times New Roman"/>
              </a:defRPr>
            </a:defPPr>
          </a:lstStyle>
          <a:p>
            <a:pPr algn="l">
              <a:buNone/>
              <a:defRPr sz="1346" b="1">
                <a:solidFill>
                  <a:srgbClr val="0000FF"/>
                </a:solidFill>
                <a:latin typeface="Times New Roman"/>
                <a:ea typeface="Times New Roman"/>
                <a:cs typeface="Times New Roman"/>
              </a:defRPr>
            </a:pPr>
            <a:r>
              <a:rPr sz="2000" b="1" dirty="0">
                <a:solidFill>
                  <a:srgbClr val="0000FF"/>
                </a:solidFill>
                <a:latin typeface="Times New Roman"/>
                <a:ea typeface="Times New Roman"/>
                <a:cs typeface="Times New Roman"/>
              </a:rPr>
              <a:t>Gang of Four intent</a:t>
            </a:r>
          </a:p>
        </p:txBody>
      </p:sp>
      <p:sp>
        <p:nvSpPr>
          <p:cNvPr id="6" name="Rectangle 5">
            <a:extLst>
              <a:ext uri="{FF2B5EF4-FFF2-40B4-BE49-F238E27FC236}">
                <a16:creationId xmlns:a16="http://schemas.microsoft.com/office/drawing/2014/main" id="{DA1059A4-6BF5-40FB-8E12-E68B74D1F48C}"/>
              </a:ext>
            </a:extLst>
          </p:cNvPr>
          <p:cNvSpPr>
            <a:spLocks noGrp="1"/>
          </p:cNvSpPr>
          <p:nvPr/>
        </p:nvSpPr>
        <p:spPr>
          <a:xfrm>
            <a:off x="628650" y="1485900"/>
            <a:ext cx="11336609" cy="952500"/>
          </a:xfrm>
          <a:prstGeom prst="rect">
            <a:avLst/>
          </a:prstGeom>
          <a:noFill/>
          <a:ln w="0">
            <a:noFill/>
          </a:ln>
        </p:spPr>
        <p:txBody>
          <a:bodyPr anchor="ctr">
            <a:noAutofit/>
          </a:bodyPr>
          <a:lstStyle>
            <a:defPPr algn="l">
              <a:defRPr sz="1875" b="1">
                <a:solidFill>
                  <a:srgbClr val="0000FF"/>
                </a:solidFill>
                <a:latin typeface="Times New Roman"/>
                <a:ea typeface="Times New Roman"/>
                <a:cs typeface="Times New Roman"/>
              </a:defRPr>
            </a:defPPr>
          </a:lstStyle>
          <a:p>
            <a:pPr>
              <a:defRPr sz="1875" b="1">
                <a:solidFill>
                  <a:srgbClr val="0000FF"/>
                </a:solidFill>
                <a:latin typeface="Times New Roman"/>
                <a:ea typeface="Times New Roman"/>
                <a:cs typeface="Times New Roman"/>
              </a:defRPr>
            </a:pPr>
            <a:r>
              <a:rPr lang="en-IN" sz="2400" b="1" dirty="0">
                <a:solidFill>
                  <a:srgbClr val="0000FF"/>
                </a:solidFill>
                <a:latin typeface="Times New Roman"/>
              </a:rPr>
              <a:t>Ensure a class only has one instance, and provide a global point of access to it.</a:t>
            </a:r>
            <a:endParaRPr sz="2400" b="1" dirty="0">
              <a:solidFill>
                <a:srgbClr val="0000FF"/>
              </a:solidFill>
              <a:latin typeface="Times New Roman"/>
              <a:ea typeface="Times New Roman"/>
              <a:cs typeface="Times New Roman"/>
            </a:endParaRPr>
          </a:p>
        </p:txBody>
      </p:sp>
      <p:sp>
        <p:nvSpPr>
          <p:cNvPr id="7" name="Rectangle 6">
            <a:extLst>
              <a:ext uri="{FF2B5EF4-FFF2-40B4-BE49-F238E27FC236}">
                <a16:creationId xmlns:a16="http://schemas.microsoft.com/office/drawing/2014/main" id="{3CDCC8BB-0C52-48A2-A029-DC09A118A434}"/>
              </a:ext>
            </a:extLst>
          </p:cNvPr>
          <p:cNvSpPr>
            <a:spLocks noGrp="1"/>
          </p:cNvSpPr>
          <p:nvPr/>
        </p:nvSpPr>
        <p:spPr>
          <a:xfrm>
            <a:off x="628650" y="2676525"/>
            <a:ext cx="5095875" cy="2505075"/>
          </a:xfrm>
          <a:prstGeom prst="rect">
            <a:avLst/>
          </a:prstGeom>
          <a:solidFill>
            <a:srgbClr val="DDEBF3"/>
          </a:solidFill>
          <a:ln w="0">
            <a:noFill/>
          </a:ln>
        </p:spPr>
        <p:txBody>
          <a:bodyPr/>
          <a:lstStyle/>
          <a:p>
            <a:endParaRPr lang="en-US" sz="2000"/>
          </a:p>
        </p:txBody>
      </p:sp>
      <p:sp>
        <p:nvSpPr>
          <p:cNvPr id="8" name="Rectangle 7">
            <a:extLst>
              <a:ext uri="{FF2B5EF4-FFF2-40B4-BE49-F238E27FC236}">
                <a16:creationId xmlns:a16="http://schemas.microsoft.com/office/drawing/2014/main" id="{3884AF64-FDE1-4748-B4B3-30AA730AEBF6}"/>
              </a:ext>
            </a:extLst>
          </p:cNvPr>
          <p:cNvSpPr>
            <a:spLocks noGrp="1"/>
          </p:cNvSpPr>
          <p:nvPr/>
        </p:nvSpPr>
        <p:spPr>
          <a:xfrm>
            <a:off x="781050" y="2809875"/>
            <a:ext cx="4572000" cy="295275"/>
          </a:xfrm>
          <a:prstGeom prst="rect">
            <a:avLst/>
          </a:prstGeom>
          <a:noFill/>
          <a:ln w="0">
            <a:noFill/>
          </a:ln>
        </p:spPr>
        <p:txBody>
          <a:bodyPr anchor="ctr">
            <a:noAutofit/>
          </a:bodyPr>
          <a:lstStyle>
            <a:defPPr algn="l">
              <a:defRPr sz="1346" b="1">
                <a:solidFill>
                  <a:srgbClr val="0000FF"/>
                </a:solidFill>
                <a:latin typeface="Times New Roman"/>
                <a:ea typeface="Times New Roman"/>
                <a:cs typeface="Times New Roman"/>
              </a:defRPr>
            </a:defPPr>
          </a:lstStyle>
          <a:p>
            <a:pPr algn="l">
              <a:buNone/>
              <a:defRPr sz="1346" b="1">
                <a:solidFill>
                  <a:srgbClr val="0000FF"/>
                </a:solidFill>
                <a:latin typeface="Times New Roman"/>
                <a:ea typeface="Times New Roman"/>
                <a:cs typeface="Times New Roman"/>
              </a:defRPr>
            </a:pPr>
            <a:r>
              <a:rPr sz="2000" b="1" dirty="0">
                <a:solidFill>
                  <a:srgbClr val="0000FF"/>
                </a:solidFill>
                <a:latin typeface="Times New Roman"/>
                <a:ea typeface="Times New Roman"/>
                <a:cs typeface="Times New Roman"/>
              </a:rPr>
              <a:t>Simple definition</a:t>
            </a:r>
          </a:p>
        </p:txBody>
      </p:sp>
      <p:sp>
        <p:nvSpPr>
          <p:cNvPr id="9" name="Rectangle 8">
            <a:extLst>
              <a:ext uri="{FF2B5EF4-FFF2-40B4-BE49-F238E27FC236}">
                <a16:creationId xmlns:a16="http://schemas.microsoft.com/office/drawing/2014/main" id="{102F71B1-09F0-42A1-9A96-1AD9E216EF99}"/>
              </a:ext>
            </a:extLst>
          </p:cNvPr>
          <p:cNvSpPr>
            <a:spLocks noGrp="1"/>
          </p:cNvSpPr>
          <p:nvPr/>
        </p:nvSpPr>
        <p:spPr>
          <a:xfrm>
            <a:off x="781050" y="3276600"/>
            <a:ext cx="4695825" cy="1447800"/>
          </a:xfrm>
          <a:prstGeom prst="rect">
            <a:avLst/>
          </a:prstGeom>
          <a:noFill/>
          <a:ln w="0">
            <a:noFill/>
          </a:ln>
        </p:spPr>
        <p:txBody>
          <a:bodyPr anchor="ctr">
            <a:noAutofit/>
          </a:bodyPr>
          <a:lstStyle>
            <a:defPPr algn="l">
              <a:defRPr sz="1875">
                <a:solidFill>
                  <a:srgbClr val="171717"/>
                </a:solidFill>
                <a:latin typeface="Times New Roman"/>
                <a:ea typeface="Times New Roman"/>
                <a:cs typeface="Times New Roman"/>
              </a:defRPr>
            </a:defPPr>
          </a:lstStyle>
          <a:p>
            <a:pPr algn="l">
              <a:buNone/>
              <a:defRPr sz="1875" b="0">
                <a:solidFill>
                  <a:srgbClr val="171717"/>
                </a:solidFill>
                <a:latin typeface="Times New Roman"/>
                <a:ea typeface="Times New Roman"/>
                <a:cs typeface="Times New Roman"/>
              </a:defRPr>
            </a:pPr>
            <a:r>
              <a:rPr sz="2000" b="0" dirty="0">
                <a:solidFill>
                  <a:srgbClr val="171717"/>
                </a:solidFill>
                <a:latin typeface="Times New Roman"/>
                <a:ea typeface="Times New Roman"/>
                <a:cs typeface="Times New Roman"/>
              </a:rPr>
              <a:t>The class controls construction. Every ordinary call to </a:t>
            </a:r>
            <a:r>
              <a:rPr sz="2000" b="0" dirty="0" err="1">
                <a:solidFill>
                  <a:srgbClr val="171717"/>
                </a:solidFill>
                <a:latin typeface="Times New Roman"/>
                <a:ea typeface="Times New Roman"/>
                <a:cs typeface="Times New Roman"/>
              </a:rPr>
              <a:t>getInstance</a:t>
            </a:r>
            <a:r>
              <a:rPr sz="2000" b="0" dirty="0">
                <a:solidFill>
                  <a:srgbClr val="171717"/>
                </a:solidFill>
                <a:latin typeface="Times New Roman"/>
                <a:ea typeface="Times New Roman"/>
                <a:cs typeface="Times New Roman"/>
              </a:rPr>
              <a:t>() returns the same shared object.</a:t>
            </a:r>
          </a:p>
        </p:txBody>
      </p:sp>
      <p:sp>
        <p:nvSpPr>
          <p:cNvPr id="10" name="Rectangle 9">
            <a:extLst>
              <a:ext uri="{FF2B5EF4-FFF2-40B4-BE49-F238E27FC236}">
                <a16:creationId xmlns:a16="http://schemas.microsoft.com/office/drawing/2014/main" id="{8ED93A5E-6E33-4E33-8B86-A8CD64BBB03C}"/>
              </a:ext>
            </a:extLst>
          </p:cNvPr>
          <p:cNvSpPr>
            <a:spLocks noGrp="1"/>
          </p:cNvSpPr>
          <p:nvPr/>
        </p:nvSpPr>
        <p:spPr>
          <a:xfrm>
            <a:off x="5981700" y="2676525"/>
            <a:ext cx="5562600" cy="2505075"/>
          </a:xfrm>
          <a:prstGeom prst="rect">
            <a:avLst/>
          </a:prstGeom>
          <a:solidFill>
            <a:srgbClr val="DDF2D5"/>
          </a:solidFill>
          <a:ln w="0">
            <a:noFill/>
          </a:ln>
        </p:spPr>
        <p:txBody>
          <a:bodyPr/>
          <a:lstStyle/>
          <a:p>
            <a:endParaRPr lang="en-US" sz="2000"/>
          </a:p>
        </p:txBody>
      </p:sp>
      <p:sp>
        <p:nvSpPr>
          <p:cNvPr id="11" name="Rectangle 10">
            <a:extLst>
              <a:ext uri="{FF2B5EF4-FFF2-40B4-BE49-F238E27FC236}">
                <a16:creationId xmlns:a16="http://schemas.microsoft.com/office/drawing/2014/main" id="{10987FF5-98FA-40CE-BE59-9351218F9D36}"/>
              </a:ext>
            </a:extLst>
          </p:cNvPr>
          <p:cNvSpPr>
            <a:spLocks noGrp="1"/>
          </p:cNvSpPr>
          <p:nvPr/>
        </p:nvSpPr>
        <p:spPr>
          <a:xfrm>
            <a:off x="6143625" y="2809875"/>
            <a:ext cx="5095875" cy="295275"/>
          </a:xfrm>
          <a:prstGeom prst="rect">
            <a:avLst/>
          </a:prstGeom>
          <a:noFill/>
          <a:ln w="0">
            <a:noFill/>
          </a:ln>
        </p:spPr>
        <p:txBody>
          <a:bodyPr anchor="ctr">
            <a:noAutofit/>
          </a:bodyPr>
          <a:lstStyle>
            <a:defPPr algn="l">
              <a:defRPr sz="1346" b="1">
                <a:solidFill>
                  <a:srgbClr val="0000FF"/>
                </a:solidFill>
                <a:latin typeface="Times New Roman"/>
                <a:ea typeface="Times New Roman"/>
                <a:cs typeface="Times New Roman"/>
              </a:defRPr>
            </a:defPPr>
          </a:lstStyle>
          <a:p>
            <a:pPr algn="l">
              <a:buNone/>
              <a:defRPr sz="1346" b="1">
                <a:solidFill>
                  <a:srgbClr val="0000FF"/>
                </a:solidFill>
                <a:latin typeface="Times New Roman"/>
                <a:ea typeface="Times New Roman"/>
                <a:cs typeface="Times New Roman"/>
              </a:defRPr>
            </a:pPr>
            <a:r>
              <a:rPr sz="2000" b="1" dirty="0">
                <a:solidFill>
                  <a:srgbClr val="0000FF"/>
                </a:solidFill>
                <a:latin typeface="Times New Roman"/>
                <a:ea typeface="Times New Roman"/>
                <a:cs typeface="Times New Roman"/>
              </a:rPr>
              <a:t>Everyday analogy</a:t>
            </a:r>
          </a:p>
        </p:txBody>
      </p:sp>
      <p:sp>
        <p:nvSpPr>
          <p:cNvPr id="12" name="Rectangle 11">
            <a:extLst>
              <a:ext uri="{FF2B5EF4-FFF2-40B4-BE49-F238E27FC236}">
                <a16:creationId xmlns:a16="http://schemas.microsoft.com/office/drawing/2014/main" id="{037BC694-0F37-46FC-B050-EB71DBE01D75}"/>
              </a:ext>
            </a:extLst>
          </p:cNvPr>
          <p:cNvSpPr>
            <a:spLocks noGrp="1"/>
          </p:cNvSpPr>
          <p:nvPr/>
        </p:nvSpPr>
        <p:spPr>
          <a:xfrm>
            <a:off x="6143625" y="3276600"/>
            <a:ext cx="5105400" cy="1457325"/>
          </a:xfrm>
          <a:prstGeom prst="rect">
            <a:avLst/>
          </a:prstGeom>
          <a:noFill/>
          <a:ln w="0">
            <a:noFill/>
          </a:ln>
        </p:spPr>
        <p:txBody>
          <a:bodyPr anchor="ctr">
            <a:noAutofit/>
          </a:bodyPr>
          <a:lstStyle>
            <a:defPPr algn="l">
              <a:defRPr sz="1875">
                <a:solidFill>
                  <a:srgbClr val="171717"/>
                </a:solidFill>
                <a:latin typeface="Times New Roman"/>
                <a:ea typeface="Times New Roman"/>
                <a:cs typeface="Times New Roman"/>
              </a:defRPr>
            </a:defPPr>
          </a:lstStyle>
          <a:p>
            <a:pPr algn="l">
              <a:buNone/>
              <a:defRPr sz="1875" b="0">
                <a:solidFill>
                  <a:srgbClr val="171717"/>
                </a:solidFill>
                <a:latin typeface="Times New Roman"/>
                <a:ea typeface="Times New Roman"/>
                <a:cs typeface="Times New Roman"/>
              </a:defRPr>
            </a:pPr>
            <a:r>
              <a:rPr sz="2000" b="0" dirty="0">
                <a:solidFill>
                  <a:srgbClr val="171717"/>
                </a:solidFill>
                <a:latin typeface="Times New Roman"/>
                <a:ea typeface="Times New Roman"/>
                <a:cs typeface="Times New Roman"/>
              </a:rPr>
              <a:t>An office uses one reception desk. Different visitors contact the same desk instead of creating a new desk for every visit.</a:t>
            </a:r>
          </a:p>
        </p:txBody>
      </p:sp>
      <p:sp>
        <p:nvSpPr>
          <p:cNvPr id="13" name="Rectangle 12">
            <a:extLst>
              <a:ext uri="{FF2B5EF4-FFF2-40B4-BE49-F238E27FC236}">
                <a16:creationId xmlns:a16="http://schemas.microsoft.com/office/drawing/2014/main" id="{5A68E434-60BD-4B41-B928-9B62866E2E3D}"/>
              </a:ext>
            </a:extLst>
          </p:cNvPr>
          <p:cNvSpPr>
            <a:spLocks noGrp="1"/>
          </p:cNvSpPr>
          <p:nvPr/>
        </p:nvSpPr>
        <p:spPr>
          <a:xfrm>
            <a:off x="733425" y="5572125"/>
            <a:ext cx="10477500" cy="581025"/>
          </a:xfrm>
          <a:prstGeom prst="rect">
            <a:avLst/>
          </a:prstGeom>
          <a:noFill/>
          <a:ln w="0">
            <a:noFill/>
          </a:ln>
        </p:spPr>
        <p:txBody>
          <a:bodyPr anchor="ctr">
            <a:noAutofit/>
          </a:bodyPr>
          <a:lstStyle>
            <a:defPPr algn="l">
              <a:defRPr sz="2025" b="1">
                <a:solidFill>
                  <a:srgbClr val="002060"/>
                </a:solidFill>
                <a:latin typeface="Times New Roman"/>
                <a:ea typeface="Times New Roman"/>
                <a:cs typeface="Times New Roman"/>
              </a:defRPr>
            </a:defPPr>
          </a:lstStyle>
          <a:p>
            <a:pPr algn="l">
              <a:buNone/>
              <a:defRPr sz="2025" b="1">
                <a:solidFill>
                  <a:srgbClr val="002060"/>
                </a:solidFill>
                <a:latin typeface="Times New Roman"/>
                <a:ea typeface="Times New Roman"/>
                <a:cs typeface="Times New Roman"/>
              </a:defRPr>
            </a:pPr>
            <a:r>
              <a:rPr sz="2000" b="1" dirty="0" err="1">
                <a:solidFill>
                  <a:srgbClr val="002060"/>
                </a:solidFill>
                <a:latin typeface="Times New Roman"/>
                <a:ea typeface="Times New Roman"/>
                <a:cs typeface="Times New Roman"/>
              </a:rPr>
              <a:t>getInstance</a:t>
            </a:r>
            <a:r>
              <a:rPr sz="2000" b="1" dirty="0">
                <a:solidFill>
                  <a:srgbClr val="002060"/>
                </a:solidFill>
                <a:latin typeface="Times New Roman"/>
                <a:ea typeface="Times New Roman"/>
                <a:cs typeface="Times New Roman"/>
              </a:rPr>
              <a:t>() returns the SAME object to each client.</a:t>
            </a:r>
          </a:p>
        </p:txBody>
      </p:sp>
    </p:spTree>
    <p:extLst>
      <p:ext uri="{BB962C8B-B14F-4D97-AF65-F5344CB8AC3E}">
        <p14:creationId xmlns:p14="http://schemas.microsoft.com/office/powerpoint/2010/main" val="24980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14931CA4-5B3D-4F3F-BBC5-65E009B30C90}"/>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lang="en-US" sz="2000"/>
          </a:p>
        </p:txBody>
      </p:sp>
      <p:sp>
        <p:nvSpPr>
          <p:cNvPr id="2" name="Rectangle 1">
            <a:extLst>
              <a:ext uri="{FF2B5EF4-FFF2-40B4-BE49-F238E27FC236}">
                <a16:creationId xmlns:a16="http://schemas.microsoft.com/office/drawing/2014/main" id="{6E8390BE-797E-4940-AA50-9EE2462DC766}"/>
              </a:ext>
            </a:extLst>
          </p:cNvPr>
          <p:cNvSpPr>
            <a:spLocks noGrp="1"/>
          </p:cNvSpPr>
          <p:nvPr/>
        </p:nvSpPr>
        <p:spPr>
          <a:xfrm>
            <a:off x="790575" y="66675"/>
            <a:ext cx="10601325" cy="495300"/>
          </a:xfrm>
          <a:prstGeom prst="rect">
            <a:avLst/>
          </a:prstGeom>
          <a:noFill/>
          <a:ln w="0">
            <a:noFill/>
          </a:ln>
        </p:spPr>
        <p:txBody>
          <a:bodyPr anchor="ctr">
            <a:noAutofit/>
          </a:bodyPr>
          <a:lstStyle>
            <a:defPPr algn="ctr">
              <a:defRPr sz="2640">
                <a:solidFill>
                  <a:srgbClr val="002060"/>
                </a:solidFill>
                <a:latin typeface="Times New Roman"/>
                <a:ea typeface="Times New Roman"/>
                <a:cs typeface="Times New Roman"/>
              </a:defRPr>
            </a:defPPr>
          </a:lstStyle>
          <a:p>
            <a:pPr algn="ctr">
              <a:buNone/>
              <a:defRPr sz="2640" b="0">
                <a:solidFill>
                  <a:srgbClr val="002060"/>
                </a:solidFill>
                <a:latin typeface="Times New Roman"/>
                <a:ea typeface="Times New Roman"/>
                <a:cs typeface="Times New Roman"/>
              </a:defRPr>
            </a:pPr>
            <a:r>
              <a:rPr sz="2640" b="0">
                <a:solidFill>
                  <a:srgbClr val="002060"/>
                </a:solidFill>
                <a:latin typeface="Times New Roman"/>
                <a:ea typeface="Times New Roman"/>
                <a:cs typeface="Times New Roman"/>
              </a:rPr>
              <a:t>Without and With Singleton</a:t>
            </a:r>
          </a:p>
        </p:txBody>
      </p:sp>
      <p:sp>
        <p:nvSpPr>
          <p:cNvPr id="3" name="Rectangle 2">
            <a:extLst>
              <a:ext uri="{FF2B5EF4-FFF2-40B4-BE49-F238E27FC236}">
                <a16:creationId xmlns:a16="http://schemas.microsoft.com/office/drawing/2014/main" id="{3948837A-7F0F-4EBD-8011-4F7855D1112B}"/>
              </a:ext>
            </a:extLst>
          </p:cNvPr>
          <p:cNvSpPr>
            <a:spLocks noGrp="1"/>
          </p:cNvSpPr>
          <p:nvPr/>
        </p:nvSpPr>
        <p:spPr>
          <a:xfrm>
            <a:off x="552450" y="723900"/>
            <a:ext cx="4762500" cy="238125"/>
          </a:xfrm>
          <a:prstGeom prst="rect">
            <a:avLst/>
          </a:prstGeom>
          <a:noFill/>
          <a:ln w="0">
            <a:noFill/>
          </a:ln>
        </p:spPr>
        <p:txBody>
          <a:bodyPr anchor="ctr">
            <a:noAutofit/>
          </a:bodyPr>
          <a:lstStyle>
            <a:defPPr algn="l">
              <a:defRPr sz="956" b="1">
                <a:solidFill>
                  <a:srgbClr val="0000FF"/>
                </a:solidFill>
                <a:latin typeface="Times New Roman"/>
                <a:ea typeface="Times New Roman"/>
                <a:cs typeface="Times New Roman"/>
              </a:defRPr>
            </a:defPPr>
          </a:lstStyle>
          <a:p>
            <a:pPr algn="l">
              <a:buNone/>
              <a:defRPr sz="956" b="1">
                <a:solidFill>
                  <a:srgbClr val="0000FF"/>
                </a:solidFill>
                <a:latin typeface="Times New Roman"/>
                <a:ea typeface="Times New Roman"/>
                <a:cs typeface="Times New Roman"/>
              </a:defRPr>
            </a:pPr>
            <a:r>
              <a:rPr sz="2000" b="1">
                <a:solidFill>
                  <a:srgbClr val="0000FF"/>
                </a:solidFill>
                <a:latin typeface="Times New Roman"/>
                <a:ea typeface="Times New Roman"/>
                <a:cs typeface="Times New Roman"/>
              </a:rPr>
              <a:t>SINGLETON PATTERN</a:t>
            </a:r>
          </a:p>
        </p:txBody>
      </p:sp>
      <p:sp>
        <p:nvSpPr>
          <p:cNvPr id="4" name="Rectangle 3">
            <a:extLst>
              <a:ext uri="{FF2B5EF4-FFF2-40B4-BE49-F238E27FC236}">
                <a16:creationId xmlns:a16="http://schemas.microsoft.com/office/drawing/2014/main" id="{B64B7254-6F07-4122-9EBC-300BFD126621}"/>
              </a:ext>
            </a:extLst>
          </p:cNvPr>
          <p:cNvSpPr>
            <a:spLocks noGrp="1"/>
          </p:cNvSpPr>
          <p:nvPr/>
        </p:nvSpPr>
        <p:spPr>
          <a:xfrm>
            <a:off x="11258550" y="6486525"/>
            <a:ext cx="438150" cy="238125"/>
          </a:xfrm>
          <a:prstGeom prst="rect">
            <a:avLst/>
          </a:prstGeom>
          <a:noFill/>
          <a:ln w="0">
            <a:noFill/>
          </a:ln>
        </p:spPr>
        <p:txBody>
          <a:bodyPr anchor="ctr">
            <a:noAutofit/>
          </a:bodyPr>
          <a:lstStyle>
            <a:defPPr algn="l">
              <a:defRPr sz="968">
                <a:solidFill>
                  <a:srgbClr val="002060"/>
                </a:solidFill>
                <a:latin typeface="Times New Roman"/>
                <a:ea typeface="Times New Roman"/>
                <a:cs typeface="Times New Roman"/>
              </a:defRPr>
            </a:defPPr>
          </a:lstStyle>
          <a:p>
            <a:pPr algn="l">
              <a:buNone/>
              <a:defRPr sz="968" b="0">
                <a:solidFill>
                  <a:srgbClr val="002060"/>
                </a:solidFill>
                <a:latin typeface="Times New Roman"/>
                <a:ea typeface="Times New Roman"/>
                <a:cs typeface="Times New Roman"/>
              </a:defRPr>
            </a:pPr>
            <a:r>
              <a:rPr sz="2000" b="0">
                <a:solidFill>
                  <a:srgbClr val="002060"/>
                </a:solidFill>
                <a:latin typeface="Times New Roman"/>
                <a:ea typeface="Times New Roman"/>
                <a:cs typeface="Times New Roman"/>
              </a:rPr>
              <a:t>03</a:t>
            </a:r>
          </a:p>
        </p:txBody>
      </p:sp>
      <p:sp>
        <p:nvSpPr>
          <p:cNvPr id="5" name="Rectangle 4">
            <a:extLst>
              <a:ext uri="{FF2B5EF4-FFF2-40B4-BE49-F238E27FC236}">
                <a16:creationId xmlns:a16="http://schemas.microsoft.com/office/drawing/2014/main" id="{E8D1BD26-C1AC-4E3F-B469-071C1886787C}"/>
              </a:ext>
            </a:extLst>
          </p:cNvPr>
          <p:cNvSpPr>
            <a:spLocks noGrp="1"/>
          </p:cNvSpPr>
          <p:nvPr/>
        </p:nvSpPr>
        <p:spPr>
          <a:xfrm>
            <a:off x="625619" y="1384589"/>
            <a:ext cx="5210175" cy="4171950"/>
          </a:xfrm>
          <a:prstGeom prst="rect">
            <a:avLst/>
          </a:prstGeom>
          <a:solidFill>
            <a:srgbClr val="F6C6AD"/>
          </a:solidFill>
          <a:ln w="0">
            <a:noFill/>
          </a:ln>
        </p:spPr>
        <p:txBody>
          <a:bodyPr/>
          <a:lstStyle/>
          <a:p>
            <a:endParaRPr lang="en-US" sz="2000"/>
          </a:p>
        </p:txBody>
      </p:sp>
      <p:sp>
        <p:nvSpPr>
          <p:cNvPr id="6" name="Rectangle 5">
            <a:extLst>
              <a:ext uri="{FF2B5EF4-FFF2-40B4-BE49-F238E27FC236}">
                <a16:creationId xmlns:a16="http://schemas.microsoft.com/office/drawing/2014/main" id="{9D928EEA-A56F-4618-AA5D-66F44370FB4F}"/>
              </a:ext>
            </a:extLst>
          </p:cNvPr>
          <p:cNvSpPr>
            <a:spLocks noGrp="1"/>
          </p:cNvSpPr>
          <p:nvPr/>
        </p:nvSpPr>
        <p:spPr>
          <a:xfrm>
            <a:off x="781050" y="1381125"/>
            <a:ext cx="4857750" cy="333375"/>
          </a:xfrm>
          <a:prstGeom prst="rect">
            <a:avLst/>
          </a:prstGeom>
          <a:noFill/>
          <a:ln w="0">
            <a:noFill/>
          </a:ln>
        </p:spPr>
        <p:txBody>
          <a:bodyPr anchor="ctr">
            <a:noAutofit/>
          </a:bodyPr>
          <a:lstStyle>
            <a:defPPr algn="l">
              <a:defRPr sz="1580" b="1">
                <a:solidFill>
                  <a:srgbClr val="C00000"/>
                </a:solidFill>
                <a:latin typeface="Times New Roman"/>
                <a:ea typeface="Times New Roman"/>
                <a:cs typeface="Times New Roman"/>
              </a:defRPr>
            </a:defPPr>
          </a:lstStyle>
          <a:p>
            <a:pPr algn="l">
              <a:buNone/>
              <a:defRPr sz="1580" b="1">
                <a:solidFill>
                  <a:srgbClr val="C00000"/>
                </a:solidFill>
                <a:latin typeface="Times New Roman"/>
                <a:ea typeface="Times New Roman"/>
                <a:cs typeface="Times New Roman"/>
              </a:defRPr>
            </a:pPr>
            <a:r>
              <a:rPr sz="2000" b="1">
                <a:solidFill>
                  <a:srgbClr val="C00000"/>
                </a:solidFill>
                <a:latin typeface="Times New Roman"/>
                <a:ea typeface="Times New Roman"/>
                <a:cs typeface="Times New Roman"/>
              </a:rPr>
              <a:t>Without Singleton</a:t>
            </a:r>
          </a:p>
        </p:txBody>
      </p:sp>
      <p:sp>
        <p:nvSpPr>
          <p:cNvPr id="7" name="Rectangle 6">
            <a:extLst>
              <a:ext uri="{FF2B5EF4-FFF2-40B4-BE49-F238E27FC236}">
                <a16:creationId xmlns:a16="http://schemas.microsoft.com/office/drawing/2014/main" id="{EA0BB96F-9A68-40D2-93B6-50D0F4E047A2}"/>
              </a:ext>
            </a:extLst>
          </p:cNvPr>
          <p:cNvSpPr>
            <a:spLocks noGrp="1"/>
          </p:cNvSpPr>
          <p:nvPr/>
        </p:nvSpPr>
        <p:spPr>
          <a:xfrm>
            <a:off x="781050" y="1962150"/>
            <a:ext cx="4781550" cy="1085850"/>
          </a:xfrm>
          <a:prstGeom prst="rect">
            <a:avLst/>
          </a:prstGeom>
          <a:noFill/>
          <a:ln w="0">
            <a:noFill/>
          </a:ln>
        </p:spPr>
        <p:txBody>
          <a:bodyPr anchor="ctr">
            <a:noAutofit/>
          </a:bodyPr>
          <a:lstStyle>
            <a:defPPr algn="l">
              <a:defRPr sz="1875">
                <a:solidFill>
                  <a:srgbClr val="171717"/>
                </a:solidFill>
                <a:latin typeface="Times New Roman"/>
                <a:ea typeface="Times New Roman"/>
                <a:cs typeface="Times New Roman"/>
              </a:defRPr>
            </a:defPPr>
          </a:lstStyle>
          <a:p>
            <a:pPr algn="l">
              <a:buNone/>
              <a:defRPr sz="1875" b="0">
                <a:solidFill>
                  <a:srgbClr val="171717"/>
                </a:solidFill>
                <a:latin typeface="Times New Roman"/>
                <a:ea typeface="Times New Roman"/>
                <a:cs typeface="Times New Roman"/>
              </a:defRPr>
            </a:pPr>
            <a:r>
              <a:rPr sz="2000" b="0">
                <a:solidFill>
                  <a:srgbClr val="171717"/>
                </a:solidFill>
                <a:latin typeface="Times New Roman"/>
                <a:ea typeface="Times New Roman"/>
                <a:cs typeface="Times New Roman"/>
              </a:rPr>
              <a:t>Separate AppConfig objects hold separate settings. Changing one object does not update the other.</a:t>
            </a:r>
          </a:p>
        </p:txBody>
      </p:sp>
      <p:sp>
        <p:nvSpPr>
          <p:cNvPr id="8" name="Rectangle 7">
            <a:extLst>
              <a:ext uri="{FF2B5EF4-FFF2-40B4-BE49-F238E27FC236}">
                <a16:creationId xmlns:a16="http://schemas.microsoft.com/office/drawing/2014/main" id="{502EC263-7773-4438-87AC-72B25DAE13BE}"/>
              </a:ext>
            </a:extLst>
          </p:cNvPr>
          <p:cNvSpPr>
            <a:spLocks noGrp="1"/>
          </p:cNvSpPr>
          <p:nvPr/>
        </p:nvSpPr>
        <p:spPr>
          <a:xfrm>
            <a:off x="781050" y="3190875"/>
            <a:ext cx="4762500" cy="1743732"/>
          </a:xfrm>
          <a:prstGeom prst="rect">
            <a:avLst/>
          </a:prstGeom>
          <a:solidFill>
            <a:srgbClr val="F8FAFC"/>
          </a:solidFill>
          <a:ln w="9525">
            <a:solidFill>
              <a:srgbClr val="002060"/>
            </a:solidFill>
          </a:ln>
        </p:spPr>
        <p:txBody>
          <a:bodyPr/>
          <a:lstStyle/>
          <a:p>
            <a:endParaRPr lang="en-US" sz="2000"/>
          </a:p>
        </p:txBody>
      </p:sp>
      <p:sp>
        <p:nvSpPr>
          <p:cNvPr id="9" name="Rectangle 8">
            <a:extLst>
              <a:ext uri="{FF2B5EF4-FFF2-40B4-BE49-F238E27FC236}">
                <a16:creationId xmlns:a16="http://schemas.microsoft.com/office/drawing/2014/main" id="{8D27D63A-0F4B-4C32-A01D-94745A047339}"/>
              </a:ext>
            </a:extLst>
          </p:cNvPr>
          <p:cNvSpPr>
            <a:spLocks noGrp="1"/>
          </p:cNvSpPr>
          <p:nvPr/>
        </p:nvSpPr>
        <p:spPr>
          <a:xfrm>
            <a:off x="952500" y="3619500"/>
            <a:ext cx="4419600" cy="1181100"/>
          </a:xfrm>
          <a:prstGeom prst="rect">
            <a:avLst/>
          </a:prstGeom>
          <a:noFill/>
          <a:ln w="0">
            <a:noFill/>
          </a:ln>
        </p:spPr>
        <p:txBody>
          <a:bodyPr anchor="ctr">
            <a:noAutofit/>
          </a:bodyPr>
          <a:lstStyle>
            <a:defPPr algn="l">
              <a:defRPr sz="1575">
                <a:solidFill>
                  <a:srgbClr val="171717"/>
                </a:solidFill>
                <a:latin typeface="Courier New"/>
                <a:ea typeface="Courier New"/>
                <a:cs typeface="Courier New"/>
              </a:defRPr>
            </a:defPPr>
          </a:lstStyle>
          <a:p>
            <a:pPr algn="l">
              <a:buNone/>
              <a:defRPr sz="1575" b="0">
                <a:solidFill>
                  <a:srgbClr val="171717"/>
                </a:solidFill>
                <a:latin typeface="Courier New"/>
                <a:ea typeface="Courier New"/>
                <a:cs typeface="Courier New"/>
              </a:defRPr>
            </a:pPr>
            <a:r>
              <a:rPr sz="2000" b="0" dirty="0" err="1">
                <a:solidFill>
                  <a:srgbClr val="171717"/>
                </a:solidFill>
                <a:latin typeface="Courier New"/>
                <a:ea typeface="Courier New"/>
                <a:cs typeface="Courier New"/>
              </a:rPr>
              <a:t>AppConfig</a:t>
            </a:r>
            <a:r>
              <a:rPr sz="2000" b="0" dirty="0">
                <a:solidFill>
                  <a:srgbClr val="171717"/>
                </a:solidFill>
                <a:latin typeface="Courier New"/>
                <a:ea typeface="Courier New"/>
                <a:cs typeface="Courier New"/>
              </a:rPr>
              <a:t> a = new </a:t>
            </a:r>
            <a:r>
              <a:rPr sz="2000" b="0" dirty="0" err="1">
                <a:solidFill>
                  <a:srgbClr val="171717"/>
                </a:solidFill>
                <a:latin typeface="Courier New"/>
                <a:ea typeface="Courier New"/>
                <a:cs typeface="Courier New"/>
              </a:rPr>
              <a:t>AppConfig</a:t>
            </a:r>
            <a:r>
              <a:rPr sz="2000" b="0" dirty="0">
                <a:solidFill>
                  <a:srgbClr val="171717"/>
                </a:solidFill>
                <a:latin typeface="Courier New"/>
                <a:ea typeface="Courier New"/>
                <a:cs typeface="Courier New"/>
              </a:rPr>
              <a:t>();</a:t>
            </a:r>
          </a:p>
          <a:p>
            <a:pPr algn="l">
              <a:buNone/>
              <a:defRPr sz="1575" b="0">
                <a:solidFill>
                  <a:srgbClr val="171717"/>
                </a:solidFill>
                <a:latin typeface="Courier New"/>
                <a:ea typeface="Courier New"/>
                <a:cs typeface="Courier New"/>
              </a:defRPr>
            </a:pPr>
            <a:r>
              <a:rPr sz="2000" b="0" dirty="0" err="1">
                <a:solidFill>
                  <a:srgbClr val="171717"/>
                </a:solidFill>
                <a:latin typeface="Courier New"/>
                <a:ea typeface="Courier New"/>
                <a:cs typeface="Courier New"/>
              </a:rPr>
              <a:t>AppConfig</a:t>
            </a:r>
            <a:r>
              <a:rPr sz="2000" b="0" dirty="0">
                <a:solidFill>
                  <a:srgbClr val="171717"/>
                </a:solidFill>
                <a:latin typeface="Courier New"/>
                <a:ea typeface="Courier New"/>
                <a:cs typeface="Courier New"/>
              </a:rPr>
              <a:t> b = new </a:t>
            </a:r>
            <a:r>
              <a:rPr sz="2000" b="0" dirty="0" err="1">
                <a:solidFill>
                  <a:srgbClr val="171717"/>
                </a:solidFill>
                <a:latin typeface="Courier New"/>
                <a:ea typeface="Courier New"/>
                <a:cs typeface="Courier New"/>
              </a:rPr>
              <a:t>AppConfig</a:t>
            </a:r>
            <a:r>
              <a:rPr sz="2000" b="0" dirty="0">
                <a:solidFill>
                  <a:srgbClr val="171717"/>
                </a:solidFill>
                <a:latin typeface="Courier New"/>
                <a:ea typeface="Courier New"/>
                <a:cs typeface="Courier New"/>
              </a:rPr>
              <a:t>();</a:t>
            </a:r>
          </a:p>
        </p:txBody>
      </p:sp>
      <p:sp>
        <p:nvSpPr>
          <p:cNvPr id="10" name="Rectangle 9">
            <a:extLst>
              <a:ext uri="{FF2B5EF4-FFF2-40B4-BE49-F238E27FC236}">
                <a16:creationId xmlns:a16="http://schemas.microsoft.com/office/drawing/2014/main" id="{D9348756-E667-4DCF-8D3F-25A5AA22B595}"/>
              </a:ext>
            </a:extLst>
          </p:cNvPr>
          <p:cNvSpPr>
            <a:spLocks noGrp="1"/>
          </p:cNvSpPr>
          <p:nvPr/>
        </p:nvSpPr>
        <p:spPr>
          <a:xfrm>
            <a:off x="6115050" y="1238250"/>
            <a:ext cx="5438775" cy="4171950"/>
          </a:xfrm>
          <a:prstGeom prst="rect">
            <a:avLst/>
          </a:prstGeom>
          <a:solidFill>
            <a:srgbClr val="DDF2D5"/>
          </a:solidFill>
          <a:ln w="0">
            <a:noFill/>
          </a:ln>
        </p:spPr>
        <p:txBody>
          <a:bodyPr/>
          <a:lstStyle/>
          <a:p>
            <a:endParaRPr lang="en-US" sz="2000"/>
          </a:p>
        </p:txBody>
      </p:sp>
      <p:sp>
        <p:nvSpPr>
          <p:cNvPr id="11" name="Rectangle 10">
            <a:extLst>
              <a:ext uri="{FF2B5EF4-FFF2-40B4-BE49-F238E27FC236}">
                <a16:creationId xmlns:a16="http://schemas.microsoft.com/office/drawing/2014/main" id="{37C9C439-75F7-43B5-A360-847DB108CC8E}"/>
              </a:ext>
            </a:extLst>
          </p:cNvPr>
          <p:cNvSpPr>
            <a:spLocks noGrp="1"/>
          </p:cNvSpPr>
          <p:nvPr/>
        </p:nvSpPr>
        <p:spPr>
          <a:xfrm>
            <a:off x="6276975" y="1381125"/>
            <a:ext cx="4953000" cy="295275"/>
          </a:xfrm>
          <a:prstGeom prst="rect">
            <a:avLst/>
          </a:prstGeom>
          <a:noFill/>
          <a:ln w="0">
            <a:noFill/>
          </a:ln>
        </p:spPr>
        <p:txBody>
          <a:bodyPr anchor="ctr">
            <a:noAutofit/>
          </a:bodyPr>
          <a:lstStyle>
            <a:defPPr algn="l">
              <a:defRPr sz="1346" b="1">
                <a:solidFill>
                  <a:srgbClr val="0000FF"/>
                </a:solidFill>
                <a:latin typeface="Times New Roman"/>
                <a:ea typeface="Times New Roman"/>
                <a:cs typeface="Times New Roman"/>
              </a:defRPr>
            </a:defPPr>
          </a:lstStyle>
          <a:p>
            <a:pPr algn="l">
              <a:buNone/>
              <a:defRPr sz="1346" b="1">
                <a:solidFill>
                  <a:srgbClr val="0000FF"/>
                </a:solidFill>
                <a:latin typeface="Times New Roman"/>
                <a:ea typeface="Times New Roman"/>
                <a:cs typeface="Times New Roman"/>
              </a:defRPr>
            </a:pPr>
            <a:r>
              <a:rPr sz="2000" b="1">
                <a:solidFill>
                  <a:srgbClr val="0000FF"/>
                </a:solidFill>
                <a:latin typeface="Times New Roman"/>
                <a:ea typeface="Times New Roman"/>
                <a:cs typeface="Times New Roman"/>
              </a:rPr>
              <a:t>With Singleton</a:t>
            </a:r>
          </a:p>
        </p:txBody>
      </p:sp>
      <p:sp>
        <p:nvSpPr>
          <p:cNvPr id="12" name="Rectangle 11">
            <a:extLst>
              <a:ext uri="{FF2B5EF4-FFF2-40B4-BE49-F238E27FC236}">
                <a16:creationId xmlns:a16="http://schemas.microsoft.com/office/drawing/2014/main" id="{529E902D-B590-4E49-9AB8-17952721719C}"/>
              </a:ext>
            </a:extLst>
          </p:cNvPr>
          <p:cNvSpPr>
            <a:spLocks noGrp="1"/>
          </p:cNvSpPr>
          <p:nvPr/>
        </p:nvSpPr>
        <p:spPr>
          <a:xfrm>
            <a:off x="6276975" y="1952625"/>
            <a:ext cx="4972050" cy="1238250"/>
          </a:xfrm>
          <a:prstGeom prst="rect">
            <a:avLst/>
          </a:prstGeom>
          <a:noFill/>
          <a:ln w="0">
            <a:noFill/>
          </a:ln>
        </p:spPr>
        <p:txBody>
          <a:bodyPr anchor="ctr">
            <a:noAutofit/>
          </a:bodyPr>
          <a:lstStyle>
            <a:defPPr algn="l">
              <a:defRPr sz="1875">
                <a:solidFill>
                  <a:srgbClr val="171717"/>
                </a:solidFill>
                <a:latin typeface="Times New Roman"/>
                <a:ea typeface="Times New Roman"/>
                <a:cs typeface="Times New Roman"/>
              </a:defRPr>
            </a:defPPr>
          </a:lstStyle>
          <a:p>
            <a:pPr algn="l">
              <a:buNone/>
              <a:defRPr sz="1875" b="0">
                <a:solidFill>
                  <a:srgbClr val="171717"/>
                </a:solidFill>
                <a:latin typeface="Times New Roman"/>
                <a:ea typeface="Times New Roman"/>
                <a:cs typeface="Times New Roman"/>
              </a:defRPr>
            </a:pPr>
            <a:r>
              <a:rPr sz="2000" b="0">
                <a:solidFill>
                  <a:srgbClr val="171717"/>
                </a:solidFill>
                <a:latin typeface="Times New Roman"/>
                <a:ea typeface="Times New Roman"/>
                <a:cs typeface="Times New Roman"/>
              </a:rPr>
              <a:t>A private constructor restricts creation. getInstance() returns the same AppConfig to both callers.</a:t>
            </a:r>
          </a:p>
        </p:txBody>
      </p:sp>
      <p:sp>
        <p:nvSpPr>
          <p:cNvPr id="13" name="Rectangle 12">
            <a:extLst>
              <a:ext uri="{FF2B5EF4-FFF2-40B4-BE49-F238E27FC236}">
                <a16:creationId xmlns:a16="http://schemas.microsoft.com/office/drawing/2014/main" id="{E237200C-0470-4786-A91A-D0132D80DB3A}"/>
              </a:ext>
            </a:extLst>
          </p:cNvPr>
          <p:cNvSpPr>
            <a:spLocks noGrp="1"/>
          </p:cNvSpPr>
          <p:nvPr/>
        </p:nvSpPr>
        <p:spPr>
          <a:xfrm>
            <a:off x="6276975" y="3562350"/>
            <a:ext cx="4972050" cy="1238250"/>
          </a:xfrm>
          <a:prstGeom prst="rect">
            <a:avLst/>
          </a:prstGeom>
          <a:solidFill>
            <a:srgbClr val="F8FAFC"/>
          </a:solidFill>
          <a:ln w="9525">
            <a:solidFill>
              <a:srgbClr val="002060"/>
            </a:solidFill>
          </a:ln>
        </p:spPr>
        <p:txBody>
          <a:bodyPr/>
          <a:lstStyle/>
          <a:p>
            <a:endParaRPr lang="en-US" sz="2000"/>
          </a:p>
        </p:txBody>
      </p:sp>
      <p:sp>
        <p:nvSpPr>
          <p:cNvPr id="14" name="Rectangle 13">
            <a:extLst>
              <a:ext uri="{FF2B5EF4-FFF2-40B4-BE49-F238E27FC236}">
                <a16:creationId xmlns:a16="http://schemas.microsoft.com/office/drawing/2014/main" id="{AD4A0C37-DF86-4295-A2AA-C255C275D6C9}"/>
              </a:ext>
            </a:extLst>
          </p:cNvPr>
          <p:cNvSpPr>
            <a:spLocks noGrp="1"/>
          </p:cNvSpPr>
          <p:nvPr/>
        </p:nvSpPr>
        <p:spPr>
          <a:xfrm>
            <a:off x="6448425" y="3667125"/>
            <a:ext cx="4629150" cy="1028700"/>
          </a:xfrm>
          <a:prstGeom prst="rect">
            <a:avLst/>
          </a:prstGeom>
          <a:noFill/>
          <a:ln w="0">
            <a:noFill/>
          </a:ln>
        </p:spPr>
        <p:txBody>
          <a:bodyPr anchor="ctr">
            <a:noAutofit/>
          </a:bodyPr>
          <a:lstStyle>
            <a:defPPr algn="l">
              <a:defRPr sz="1543">
                <a:solidFill>
                  <a:srgbClr val="171717"/>
                </a:solidFill>
                <a:latin typeface="Courier New"/>
                <a:ea typeface="Courier New"/>
                <a:cs typeface="Courier New"/>
              </a:defRPr>
            </a:defPPr>
          </a:lstStyle>
          <a:p>
            <a:pPr algn="l">
              <a:buNone/>
              <a:defRPr sz="1543" b="0">
                <a:solidFill>
                  <a:srgbClr val="171717"/>
                </a:solidFill>
                <a:latin typeface="Courier New"/>
                <a:ea typeface="Courier New"/>
                <a:cs typeface="Courier New"/>
              </a:defRPr>
            </a:pPr>
            <a:r>
              <a:rPr sz="2000" b="0">
                <a:solidFill>
                  <a:srgbClr val="171717"/>
                </a:solidFill>
                <a:latin typeface="Courier New"/>
                <a:ea typeface="Courier New"/>
                <a:cs typeface="Courier New"/>
              </a:rPr>
              <a:t>AppConfig a =</a:t>
            </a:r>
          </a:p>
          <a:p>
            <a:pPr algn="l">
              <a:buNone/>
              <a:defRPr sz="1543" b="0">
                <a:solidFill>
                  <a:srgbClr val="171717"/>
                </a:solidFill>
                <a:latin typeface="Courier New"/>
                <a:ea typeface="Courier New"/>
                <a:cs typeface="Courier New"/>
              </a:defRPr>
            </a:pPr>
            <a:r>
              <a:rPr sz="2000" b="0">
                <a:solidFill>
                  <a:srgbClr val="171717"/>
                </a:solidFill>
                <a:latin typeface="Courier New"/>
                <a:ea typeface="Courier New"/>
                <a:cs typeface="Courier New"/>
              </a:rPr>
              <a:t>  AppConfig.getInstance();</a:t>
            </a:r>
          </a:p>
          <a:p>
            <a:pPr algn="l">
              <a:buNone/>
              <a:defRPr sz="1543" b="0">
                <a:solidFill>
                  <a:srgbClr val="171717"/>
                </a:solidFill>
                <a:latin typeface="Courier New"/>
                <a:ea typeface="Courier New"/>
                <a:cs typeface="Courier New"/>
              </a:defRPr>
            </a:pPr>
            <a:r>
              <a:rPr sz="2000" b="0">
                <a:solidFill>
                  <a:srgbClr val="171717"/>
                </a:solidFill>
                <a:latin typeface="Courier New"/>
                <a:ea typeface="Courier New"/>
                <a:cs typeface="Courier New"/>
              </a:rPr>
              <a:t>AppConfig b =</a:t>
            </a:r>
          </a:p>
          <a:p>
            <a:pPr algn="l">
              <a:buNone/>
              <a:defRPr sz="1543" b="0">
                <a:solidFill>
                  <a:srgbClr val="171717"/>
                </a:solidFill>
                <a:latin typeface="Courier New"/>
                <a:ea typeface="Courier New"/>
                <a:cs typeface="Courier New"/>
              </a:defRPr>
            </a:pPr>
            <a:r>
              <a:rPr sz="2000" b="0">
                <a:solidFill>
                  <a:srgbClr val="171717"/>
                </a:solidFill>
                <a:latin typeface="Courier New"/>
                <a:ea typeface="Courier New"/>
                <a:cs typeface="Courier New"/>
              </a:rPr>
              <a:t>  AppConfig.getInstance();</a:t>
            </a:r>
          </a:p>
        </p:txBody>
      </p:sp>
      <p:sp>
        <p:nvSpPr>
          <p:cNvPr id="15" name="Rectangle 14">
            <a:extLst>
              <a:ext uri="{FF2B5EF4-FFF2-40B4-BE49-F238E27FC236}">
                <a16:creationId xmlns:a16="http://schemas.microsoft.com/office/drawing/2014/main" id="{3BD5FA5F-7F67-4FDC-BF0F-B7CB19F6DA2D}"/>
              </a:ext>
            </a:extLst>
          </p:cNvPr>
          <p:cNvSpPr>
            <a:spLocks noGrp="1"/>
          </p:cNvSpPr>
          <p:nvPr/>
        </p:nvSpPr>
        <p:spPr>
          <a:xfrm>
            <a:off x="790575" y="5657850"/>
            <a:ext cx="10382250" cy="552450"/>
          </a:xfrm>
          <a:prstGeom prst="rect">
            <a:avLst/>
          </a:prstGeom>
          <a:noFill/>
          <a:ln w="0">
            <a:noFill/>
          </a:ln>
        </p:spPr>
        <p:txBody>
          <a:bodyPr anchor="ctr">
            <a:noAutofit/>
          </a:bodyPr>
          <a:lstStyle>
            <a:defPPr algn="l">
              <a:defRPr sz="1800" b="1">
                <a:solidFill>
                  <a:srgbClr val="002060"/>
                </a:solidFill>
                <a:latin typeface="Times New Roman"/>
                <a:ea typeface="Times New Roman"/>
                <a:cs typeface="Times New Roman"/>
              </a:defRPr>
            </a:defPPr>
          </a:lstStyle>
          <a:p>
            <a:pPr algn="l">
              <a:buNone/>
              <a:defRPr sz="1800" b="1">
                <a:solidFill>
                  <a:srgbClr val="002060"/>
                </a:solidFill>
                <a:latin typeface="Times New Roman"/>
                <a:ea typeface="Times New Roman"/>
                <a:cs typeface="Times New Roman"/>
              </a:defRPr>
            </a:pPr>
            <a:r>
              <a:rPr sz="2000" b="1">
                <a:solidFill>
                  <a:srgbClr val="002060"/>
                </a:solidFill>
                <a:latin typeface="Times New Roman"/>
                <a:ea typeface="Times New Roman"/>
                <a:cs typeface="Times New Roman"/>
              </a:rPr>
              <a:t>Both clients share one object identity and read the same configuration state.</a:t>
            </a:r>
          </a:p>
        </p:txBody>
      </p:sp>
    </p:spTree>
    <p:extLst>
      <p:ext uri="{BB962C8B-B14F-4D97-AF65-F5344CB8AC3E}">
        <p14:creationId xmlns:p14="http://schemas.microsoft.com/office/powerpoint/2010/main" val="762283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AC496DCA-0183-4ADE-A747-F348EF269F9D}"/>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lang="en-US" sz="2000"/>
          </a:p>
        </p:txBody>
      </p:sp>
      <p:sp>
        <p:nvSpPr>
          <p:cNvPr id="2" name="Rectangle 1">
            <a:extLst>
              <a:ext uri="{FF2B5EF4-FFF2-40B4-BE49-F238E27FC236}">
                <a16:creationId xmlns:a16="http://schemas.microsoft.com/office/drawing/2014/main" id="{9107172F-C059-43DC-B8F6-EE82679E41AF}"/>
              </a:ext>
            </a:extLst>
          </p:cNvPr>
          <p:cNvSpPr>
            <a:spLocks noGrp="1"/>
          </p:cNvSpPr>
          <p:nvPr/>
        </p:nvSpPr>
        <p:spPr>
          <a:xfrm>
            <a:off x="790575" y="66675"/>
            <a:ext cx="10601325" cy="495300"/>
          </a:xfrm>
          <a:prstGeom prst="rect">
            <a:avLst/>
          </a:prstGeom>
          <a:noFill/>
          <a:ln w="0">
            <a:noFill/>
          </a:ln>
        </p:spPr>
        <p:txBody>
          <a:bodyPr anchor="ctr">
            <a:noAutofit/>
          </a:bodyPr>
          <a:lstStyle>
            <a:defPPr algn="ctr">
              <a:defRPr sz="2640">
                <a:solidFill>
                  <a:srgbClr val="002060"/>
                </a:solidFill>
                <a:latin typeface="Times New Roman"/>
                <a:ea typeface="Times New Roman"/>
                <a:cs typeface="Times New Roman"/>
              </a:defRPr>
            </a:defPPr>
          </a:lstStyle>
          <a:p>
            <a:pPr algn="ctr">
              <a:buNone/>
              <a:defRPr sz="2640" b="0">
                <a:solidFill>
                  <a:srgbClr val="002060"/>
                </a:solidFill>
                <a:latin typeface="Times New Roman"/>
                <a:ea typeface="Times New Roman"/>
                <a:cs typeface="Times New Roman"/>
              </a:defRPr>
            </a:pPr>
            <a:r>
              <a:rPr sz="2640" b="0">
                <a:solidFill>
                  <a:srgbClr val="002060"/>
                </a:solidFill>
                <a:latin typeface="Times New Roman"/>
                <a:ea typeface="Times New Roman"/>
                <a:cs typeface="Times New Roman"/>
              </a:rPr>
              <a:t>Structure and Participants</a:t>
            </a:r>
          </a:p>
        </p:txBody>
      </p:sp>
      <p:sp>
        <p:nvSpPr>
          <p:cNvPr id="3" name="Rectangle 2">
            <a:extLst>
              <a:ext uri="{FF2B5EF4-FFF2-40B4-BE49-F238E27FC236}">
                <a16:creationId xmlns:a16="http://schemas.microsoft.com/office/drawing/2014/main" id="{A580320F-1A5C-49B2-85F3-55E9AE023263}"/>
              </a:ext>
            </a:extLst>
          </p:cNvPr>
          <p:cNvSpPr>
            <a:spLocks noGrp="1"/>
          </p:cNvSpPr>
          <p:nvPr/>
        </p:nvSpPr>
        <p:spPr>
          <a:xfrm>
            <a:off x="552450" y="723900"/>
            <a:ext cx="4762500" cy="238125"/>
          </a:xfrm>
          <a:prstGeom prst="rect">
            <a:avLst/>
          </a:prstGeom>
          <a:noFill/>
          <a:ln w="0">
            <a:noFill/>
          </a:ln>
        </p:spPr>
        <p:txBody>
          <a:bodyPr anchor="ctr">
            <a:noAutofit/>
          </a:bodyPr>
          <a:lstStyle>
            <a:defPPr algn="l">
              <a:defRPr sz="956" b="1">
                <a:solidFill>
                  <a:srgbClr val="0000FF"/>
                </a:solidFill>
                <a:latin typeface="Times New Roman"/>
                <a:ea typeface="Times New Roman"/>
                <a:cs typeface="Times New Roman"/>
              </a:defRPr>
            </a:defPPr>
          </a:lstStyle>
          <a:p>
            <a:pPr algn="l">
              <a:buNone/>
              <a:defRPr sz="956" b="1">
                <a:solidFill>
                  <a:srgbClr val="0000FF"/>
                </a:solidFill>
                <a:latin typeface="Times New Roman"/>
                <a:ea typeface="Times New Roman"/>
                <a:cs typeface="Times New Roman"/>
              </a:defRPr>
            </a:pPr>
            <a:r>
              <a:rPr sz="2000" b="1">
                <a:solidFill>
                  <a:srgbClr val="0000FF"/>
                </a:solidFill>
                <a:latin typeface="Times New Roman"/>
                <a:ea typeface="Times New Roman"/>
                <a:cs typeface="Times New Roman"/>
              </a:rPr>
              <a:t>SINGLETON PATTERN</a:t>
            </a:r>
          </a:p>
        </p:txBody>
      </p:sp>
      <p:sp>
        <p:nvSpPr>
          <p:cNvPr id="4" name="Rectangle 3">
            <a:extLst>
              <a:ext uri="{FF2B5EF4-FFF2-40B4-BE49-F238E27FC236}">
                <a16:creationId xmlns:a16="http://schemas.microsoft.com/office/drawing/2014/main" id="{415E04FB-0B16-4B41-9209-5C4C8E992AF5}"/>
              </a:ext>
            </a:extLst>
          </p:cNvPr>
          <p:cNvSpPr>
            <a:spLocks noGrp="1"/>
          </p:cNvSpPr>
          <p:nvPr/>
        </p:nvSpPr>
        <p:spPr>
          <a:xfrm>
            <a:off x="11258550" y="6486525"/>
            <a:ext cx="438150" cy="238125"/>
          </a:xfrm>
          <a:prstGeom prst="rect">
            <a:avLst/>
          </a:prstGeom>
          <a:noFill/>
          <a:ln w="0">
            <a:noFill/>
          </a:ln>
        </p:spPr>
        <p:txBody>
          <a:bodyPr anchor="ctr">
            <a:noAutofit/>
          </a:bodyPr>
          <a:lstStyle>
            <a:defPPr algn="l">
              <a:defRPr sz="968">
                <a:solidFill>
                  <a:srgbClr val="002060"/>
                </a:solidFill>
                <a:latin typeface="Times New Roman"/>
                <a:ea typeface="Times New Roman"/>
                <a:cs typeface="Times New Roman"/>
              </a:defRPr>
            </a:defPPr>
          </a:lstStyle>
          <a:p>
            <a:pPr algn="l">
              <a:buNone/>
              <a:defRPr sz="968" b="0">
                <a:solidFill>
                  <a:srgbClr val="002060"/>
                </a:solidFill>
                <a:latin typeface="Times New Roman"/>
                <a:ea typeface="Times New Roman"/>
                <a:cs typeface="Times New Roman"/>
              </a:defRPr>
            </a:pPr>
            <a:r>
              <a:rPr sz="2000" b="0">
                <a:solidFill>
                  <a:srgbClr val="002060"/>
                </a:solidFill>
                <a:latin typeface="Times New Roman"/>
                <a:ea typeface="Times New Roman"/>
                <a:cs typeface="Times New Roman"/>
              </a:rPr>
              <a:t>04</a:t>
            </a:r>
          </a:p>
        </p:txBody>
      </p:sp>
      <p:pic>
        <p:nvPicPr>
          <p:cNvPr id="20" name="Picture 19">
            <a:extLst>
              <a:ext uri="{FF2B5EF4-FFF2-40B4-BE49-F238E27FC236}">
                <a16:creationId xmlns:a16="http://schemas.microsoft.com/office/drawing/2014/main" id="{2F8427B5-8D9D-D177-A588-07EE29EE28B7}"/>
              </a:ext>
            </a:extLst>
          </p:cNvPr>
          <p:cNvPicPr>
            <a:picLocks noChangeAspect="1"/>
          </p:cNvPicPr>
          <p:nvPr/>
        </p:nvPicPr>
        <p:blipFill>
          <a:blip r:embed="rId3"/>
          <a:stretch>
            <a:fillRect/>
          </a:stretch>
        </p:blipFill>
        <p:spPr>
          <a:xfrm>
            <a:off x="162821" y="1101426"/>
            <a:ext cx="5152129" cy="2876919"/>
          </a:xfrm>
          <a:prstGeom prst="rect">
            <a:avLst/>
          </a:prstGeom>
        </p:spPr>
      </p:pic>
      <p:cxnSp>
        <p:nvCxnSpPr>
          <p:cNvPr id="5" name="Straight Arrow Connector 4">
            <a:extLst>
              <a:ext uri="{FF2B5EF4-FFF2-40B4-BE49-F238E27FC236}">
                <a16:creationId xmlns:a16="http://schemas.microsoft.com/office/drawing/2014/main" id="{AAE6DA08-AA94-4764-BDC2-D2FACF702AFD}"/>
              </a:ext>
            </a:extLst>
          </p:cNvPr>
          <p:cNvCxnSpPr>
            <a:stCxn id="8" idx="3"/>
            <a:endCxn id="9" idx="1"/>
          </p:cNvCxnSpPr>
          <p:nvPr/>
        </p:nvCxnSpPr>
        <p:spPr>
          <a:xfrm flipV="1">
            <a:off x="7397155" y="2647950"/>
            <a:ext cx="850106" cy="850106"/>
          </a:xfrm>
          <a:prstGeom prst="straightConnector1">
            <a:avLst/>
          </a:prstGeom>
          <a:ln w="14288">
            <a:solidFill>
              <a:srgbClr val="333333"/>
            </a:solidFill>
            <a:tailEnd type="triangle" w="sm" len="sm"/>
          </a:ln>
        </p:spPr>
      </p:cxnSp>
      <p:cxnSp>
        <p:nvCxnSpPr>
          <p:cNvPr id="6" name="Straight Arrow Connector 5">
            <a:extLst>
              <a:ext uri="{FF2B5EF4-FFF2-40B4-BE49-F238E27FC236}">
                <a16:creationId xmlns:a16="http://schemas.microsoft.com/office/drawing/2014/main" id="{8E5134AC-D5BB-149E-8239-E37865885CCC}"/>
              </a:ext>
            </a:extLst>
          </p:cNvPr>
          <p:cNvCxnSpPr>
            <a:stCxn id="7" idx="3"/>
            <a:endCxn id="9" idx="1"/>
          </p:cNvCxnSpPr>
          <p:nvPr/>
        </p:nvCxnSpPr>
        <p:spPr>
          <a:xfrm>
            <a:off x="7397155" y="1597820"/>
            <a:ext cx="850106" cy="1050131"/>
          </a:xfrm>
          <a:prstGeom prst="straightConnector1">
            <a:avLst/>
          </a:prstGeom>
          <a:ln w="14288">
            <a:solidFill>
              <a:srgbClr val="333333"/>
            </a:solidFill>
            <a:tailEnd type="triangle" w="sm" len="sm"/>
          </a:ln>
        </p:spPr>
      </p:cxnSp>
      <p:sp>
        <p:nvSpPr>
          <p:cNvPr id="7" name="Rectangle 6">
            <a:extLst>
              <a:ext uri="{FF2B5EF4-FFF2-40B4-BE49-F238E27FC236}">
                <a16:creationId xmlns:a16="http://schemas.microsoft.com/office/drawing/2014/main" id="{FD92B78B-902D-9F69-B4A6-D921F79A7E2D}"/>
              </a:ext>
            </a:extLst>
          </p:cNvPr>
          <p:cNvSpPr>
            <a:spLocks noGrp="1"/>
          </p:cNvSpPr>
          <p:nvPr/>
        </p:nvSpPr>
        <p:spPr>
          <a:xfrm>
            <a:off x="5296892" y="1147763"/>
            <a:ext cx="2100263" cy="900113"/>
          </a:xfrm>
          <a:prstGeom prst="rect">
            <a:avLst/>
          </a:prstGeom>
          <a:solidFill>
            <a:srgbClr val="DCEAF7"/>
          </a:solidFill>
          <a:ln w="9525">
            <a:solidFill>
              <a:srgbClr val="002060"/>
            </a:solidFill>
          </a:ln>
        </p:spPr>
        <p:txBody>
          <a:bodyPr>
            <a:noAutofit/>
          </a:bodyPr>
          <a:lstStyle>
            <a:defPPr>
              <a:defRPr sz="1733">
                <a:solidFill>
                  <a:srgbClr val="002060"/>
                </a:solidFill>
                <a:latin typeface="Aptos"/>
                <a:ea typeface="Aptos"/>
                <a:cs typeface="Aptos"/>
              </a:defRPr>
            </a:defPPr>
          </a:lstStyle>
          <a:p>
            <a:pPr>
              <a:defRPr sz="1733">
                <a:solidFill>
                  <a:srgbClr val="002060"/>
                </a:solidFill>
                <a:latin typeface="Aptos"/>
                <a:ea typeface="Aptos"/>
                <a:cs typeface="Aptos"/>
              </a:defRPr>
            </a:pPr>
            <a:r>
              <a:rPr sz="1733">
                <a:solidFill>
                  <a:srgbClr val="002060"/>
                </a:solidFill>
                <a:latin typeface="Aptos"/>
                <a:ea typeface="Aptos"/>
                <a:cs typeface="Aptos"/>
              </a:rPr>
              <a:t>Client A</a:t>
            </a:r>
          </a:p>
          <a:p>
            <a:pPr>
              <a:defRPr sz="1733">
                <a:solidFill>
                  <a:srgbClr val="002060"/>
                </a:solidFill>
                <a:latin typeface="Aptos"/>
                <a:ea typeface="Aptos"/>
                <a:cs typeface="Aptos"/>
              </a:defRPr>
            </a:pPr>
            <a:r>
              <a:rPr sz="1733">
                <a:solidFill>
                  <a:srgbClr val="002060"/>
                </a:solidFill>
                <a:latin typeface="Aptos"/>
                <a:ea typeface="Aptos"/>
                <a:cs typeface="Aptos"/>
              </a:rPr>
              <a:t>getInstance()</a:t>
            </a:r>
          </a:p>
        </p:txBody>
      </p:sp>
      <p:sp>
        <p:nvSpPr>
          <p:cNvPr id="8" name="Rectangle 7">
            <a:extLst>
              <a:ext uri="{FF2B5EF4-FFF2-40B4-BE49-F238E27FC236}">
                <a16:creationId xmlns:a16="http://schemas.microsoft.com/office/drawing/2014/main" id="{13F53D35-5503-8BCB-7C84-4CA4844E01D1}"/>
              </a:ext>
            </a:extLst>
          </p:cNvPr>
          <p:cNvSpPr>
            <a:spLocks noGrp="1"/>
          </p:cNvSpPr>
          <p:nvPr/>
        </p:nvSpPr>
        <p:spPr>
          <a:xfrm>
            <a:off x="5296892" y="3048000"/>
            <a:ext cx="2100263" cy="900113"/>
          </a:xfrm>
          <a:prstGeom prst="rect">
            <a:avLst/>
          </a:prstGeom>
          <a:solidFill>
            <a:srgbClr val="DCEAF7"/>
          </a:solidFill>
          <a:ln w="9525">
            <a:solidFill>
              <a:srgbClr val="002060"/>
            </a:solidFill>
          </a:ln>
        </p:spPr>
        <p:txBody>
          <a:bodyPr>
            <a:noAutofit/>
          </a:bodyPr>
          <a:lstStyle>
            <a:defPPr>
              <a:defRPr sz="1733">
                <a:solidFill>
                  <a:srgbClr val="002060"/>
                </a:solidFill>
                <a:latin typeface="Aptos"/>
                <a:ea typeface="Aptos"/>
                <a:cs typeface="Aptos"/>
              </a:defRPr>
            </a:defPPr>
          </a:lstStyle>
          <a:p>
            <a:pPr>
              <a:defRPr sz="1733">
                <a:solidFill>
                  <a:srgbClr val="002060"/>
                </a:solidFill>
                <a:latin typeface="Aptos"/>
                <a:ea typeface="Aptos"/>
                <a:cs typeface="Aptos"/>
              </a:defRPr>
            </a:pPr>
            <a:r>
              <a:rPr sz="1733">
                <a:solidFill>
                  <a:srgbClr val="002060"/>
                </a:solidFill>
                <a:latin typeface="Aptos"/>
                <a:ea typeface="Aptos"/>
                <a:cs typeface="Aptos"/>
              </a:rPr>
              <a:t>Client B</a:t>
            </a:r>
          </a:p>
          <a:p>
            <a:pPr>
              <a:defRPr sz="1733">
                <a:solidFill>
                  <a:srgbClr val="002060"/>
                </a:solidFill>
                <a:latin typeface="Aptos"/>
                <a:ea typeface="Aptos"/>
                <a:cs typeface="Aptos"/>
              </a:defRPr>
            </a:pPr>
            <a:r>
              <a:rPr sz="1733">
                <a:solidFill>
                  <a:srgbClr val="002060"/>
                </a:solidFill>
                <a:latin typeface="Aptos"/>
                <a:ea typeface="Aptos"/>
                <a:cs typeface="Aptos"/>
              </a:rPr>
              <a:t>getInstance()</a:t>
            </a:r>
          </a:p>
        </p:txBody>
      </p:sp>
      <p:sp>
        <p:nvSpPr>
          <p:cNvPr id="9" name="Rectangle 8">
            <a:extLst>
              <a:ext uri="{FF2B5EF4-FFF2-40B4-BE49-F238E27FC236}">
                <a16:creationId xmlns:a16="http://schemas.microsoft.com/office/drawing/2014/main" id="{2A1AF42F-FC41-BFD5-8FAD-5541408DEF4C}"/>
              </a:ext>
            </a:extLst>
          </p:cNvPr>
          <p:cNvSpPr>
            <a:spLocks noGrp="1"/>
          </p:cNvSpPr>
          <p:nvPr/>
        </p:nvSpPr>
        <p:spPr>
          <a:xfrm>
            <a:off x="8247261" y="1497806"/>
            <a:ext cx="3400425" cy="2300288"/>
          </a:xfrm>
          <a:prstGeom prst="rect">
            <a:avLst/>
          </a:prstGeom>
          <a:solidFill>
            <a:srgbClr val="C2F1C8"/>
          </a:solidFill>
          <a:ln w="9525">
            <a:solidFill>
              <a:srgbClr val="002060"/>
            </a:solidFill>
          </a:ln>
        </p:spPr>
        <p:txBody>
          <a:bodyPr>
            <a:noAutofit/>
          </a:bodyPr>
          <a:lstStyle>
            <a:defPPr>
              <a:defRPr sz="1733">
                <a:solidFill>
                  <a:srgbClr val="002060"/>
                </a:solidFill>
                <a:latin typeface="Aptos"/>
                <a:ea typeface="Aptos"/>
                <a:cs typeface="Aptos"/>
              </a:defRPr>
            </a:defPPr>
          </a:lstStyle>
          <a:p>
            <a:pPr>
              <a:defRPr sz="1733">
                <a:solidFill>
                  <a:srgbClr val="002060"/>
                </a:solidFill>
                <a:latin typeface="Aptos"/>
                <a:ea typeface="Aptos"/>
                <a:cs typeface="Aptos"/>
              </a:defRPr>
            </a:pPr>
            <a:r>
              <a:rPr sz="1733">
                <a:solidFill>
                  <a:srgbClr val="002060"/>
                </a:solidFill>
                <a:latin typeface="Aptos"/>
                <a:ea typeface="Aptos"/>
                <a:cs typeface="Aptos"/>
              </a:rPr>
              <a:t>AppConfig</a:t>
            </a:r>
          </a:p>
          <a:p>
            <a:pPr>
              <a:defRPr sz="1733">
                <a:solidFill>
                  <a:srgbClr val="002060"/>
                </a:solidFill>
                <a:latin typeface="Aptos"/>
                <a:ea typeface="Aptos"/>
                <a:cs typeface="Aptos"/>
              </a:defRPr>
            </a:pPr>
            <a:r>
              <a:rPr sz="1733">
                <a:solidFill>
                  <a:srgbClr val="002060"/>
                </a:solidFill>
                <a:latin typeface="Aptos"/>
                <a:ea typeface="Aptos"/>
                <a:cs typeface="Aptos"/>
              </a:rPr>
              <a:t>− AppConfig()</a:t>
            </a:r>
          </a:p>
          <a:p>
            <a:pPr>
              <a:defRPr sz="1733">
                <a:solidFill>
                  <a:srgbClr val="002060"/>
                </a:solidFill>
                <a:latin typeface="Aptos"/>
                <a:ea typeface="Aptos"/>
                <a:cs typeface="Aptos"/>
              </a:defRPr>
            </a:pPr>
            <a:r>
              <a:rPr sz="1733">
                <a:solidFill>
                  <a:srgbClr val="002060"/>
                </a:solidFill>
                <a:latin typeface="Aptos"/>
                <a:ea typeface="Aptos"/>
                <a:cs typeface="Aptos"/>
              </a:rPr>
              <a:t>+ static getInstance()</a:t>
            </a:r>
          </a:p>
          <a:p>
            <a:pPr>
              <a:defRPr sz="1733">
                <a:solidFill>
                  <a:srgbClr val="002060"/>
                </a:solidFill>
                <a:latin typeface="Aptos"/>
                <a:ea typeface="Aptos"/>
                <a:cs typeface="Aptos"/>
              </a:defRPr>
            </a:pPr>
            <a:r>
              <a:rPr sz="1733">
                <a:solidFill>
                  <a:srgbClr val="002060"/>
                </a:solidFill>
                <a:latin typeface="Aptos"/>
                <a:ea typeface="Aptos"/>
                <a:cs typeface="Aptos"/>
              </a:rPr>
              <a:t>+ setTheme(value)</a:t>
            </a:r>
          </a:p>
          <a:p>
            <a:pPr>
              <a:defRPr sz="1733">
                <a:solidFill>
                  <a:srgbClr val="002060"/>
                </a:solidFill>
                <a:latin typeface="Aptos"/>
                <a:ea typeface="Aptos"/>
                <a:cs typeface="Aptos"/>
              </a:defRPr>
            </a:pPr>
            <a:r>
              <a:rPr sz="1733">
                <a:solidFill>
                  <a:srgbClr val="002060"/>
                </a:solidFill>
                <a:latin typeface="Aptos"/>
                <a:ea typeface="Aptos"/>
                <a:cs typeface="Aptos"/>
              </a:rPr>
              <a:t>+ getTheme()</a:t>
            </a:r>
          </a:p>
        </p:txBody>
      </p:sp>
      <p:sp>
        <p:nvSpPr>
          <p:cNvPr id="10" name="Rectangle 9">
            <a:extLst>
              <a:ext uri="{FF2B5EF4-FFF2-40B4-BE49-F238E27FC236}">
                <a16:creationId xmlns:a16="http://schemas.microsoft.com/office/drawing/2014/main" id="{B644F059-F46F-0DEF-B9CB-3ADCE4EB57E4}"/>
              </a:ext>
            </a:extLst>
          </p:cNvPr>
          <p:cNvSpPr>
            <a:spLocks noGrp="1"/>
          </p:cNvSpPr>
          <p:nvPr/>
        </p:nvSpPr>
        <p:spPr>
          <a:xfrm>
            <a:off x="8097241" y="3905794"/>
            <a:ext cx="3700463" cy="850106"/>
          </a:xfrm>
          <a:prstGeom prst="rect">
            <a:avLst/>
          </a:prstGeom>
          <a:solidFill>
            <a:srgbClr val="F2CFEE"/>
          </a:solidFill>
          <a:ln w="9525">
            <a:solidFill>
              <a:srgbClr val="002060"/>
            </a:solidFill>
          </a:ln>
        </p:spPr>
        <p:txBody>
          <a:bodyPr>
            <a:noAutofit/>
          </a:bodyPr>
          <a:lstStyle>
            <a:defPPr>
              <a:defRPr sz="1733">
                <a:solidFill>
                  <a:srgbClr val="002060"/>
                </a:solidFill>
                <a:latin typeface="Aptos"/>
                <a:ea typeface="Aptos"/>
                <a:cs typeface="Aptos"/>
              </a:defRPr>
            </a:defPPr>
          </a:lstStyle>
          <a:p>
            <a:pPr>
              <a:defRPr sz="1733">
                <a:solidFill>
                  <a:srgbClr val="002060"/>
                </a:solidFill>
                <a:latin typeface="Aptos"/>
                <a:ea typeface="Aptos"/>
                <a:cs typeface="Aptos"/>
              </a:defRPr>
            </a:pPr>
            <a:r>
              <a:rPr sz="1733">
                <a:solidFill>
                  <a:srgbClr val="002060"/>
                </a:solidFill>
                <a:latin typeface="Aptos"/>
                <a:ea typeface="Aptos"/>
                <a:cs typeface="Aptos"/>
              </a:rPr>
              <a:t>Both clients receive</a:t>
            </a:r>
          </a:p>
          <a:p>
            <a:pPr>
              <a:defRPr sz="1733">
                <a:solidFill>
                  <a:srgbClr val="002060"/>
                </a:solidFill>
                <a:latin typeface="Aptos"/>
                <a:ea typeface="Aptos"/>
                <a:cs typeface="Aptos"/>
              </a:defRPr>
            </a:pPr>
            <a:r>
              <a:rPr sz="1733">
                <a:solidFill>
                  <a:srgbClr val="002060"/>
                </a:solidFill>
                <a:latin typeface="Aptos"/>
                <a:ea typeface="Aptos"/>
                <a:cs typeface="Aptos"/>
              </a:rPr>
              <a:t>the same object reference</a:t>
            </a:r>
          </a:p>
        </p:txBody>
      </p:sp>
      <p:sp>
        <p:nvSpPr>
          <p:cNvPr id="11" name="TextBox 27">
            <a:extLst>
              <a:ext uri="{FF2B5EF4-FFF2-40B4-BE49-F238E27FC236}">
                <a16:creationId xmlns:a16="http://schemas.microsoft.com/office/drawing/2014/main" id="{06A452D2-7B65-99F7-D13A-7EAC1DF01D1C}"/>
              </a:ext>
            </a:extLst>
          </p:cNvPr>
          <p:cNvSpPr>
            <a:spLocks noGrp="1"/>
          </p:cNvSpPr>
          <p:nvPr/>
        </p:nvSpPr>
        <p:spPr>
          <a:xfrm>
            <a:off x="495300" y="4330847"/>
            <a:ext cx="3529177" cy="2124103"/>
          </a:xfrm>
          <a:prstGeom prst="rect">
            <a:avLst/>
          </a:prstGeom>
          <a:noFill/>
        </p:spPr>
        <p:txBody>
          <a:bodyPr wrap="square">
            <a:noAutofit/>
          </a:bodyPr>
          <a:lstStyle>
            <a:defPPr>
              <a:defRPr sz="1800" b="0">
                <a:solidFill>
                  <a:srgbClr val="000000"/>
                </a:solidFill>
                <a:latin typeface="Aptos"/>
                <a:ea typeface="Aptos"/>
                <a:cs typeface="Aptos"/>
              </a:defRPr>
            </a:defPPr>
          </a:lstStyle>
          <a:p>
            <a:pPr>
              <a:defRPr sz="1800" b="0">
                <a:solidFill>
                  <a:srgbClr val="000000"/>
                </a:solidFill>
                <a:latin typeface="Aptos"/>
                <a:ea typeface="Aptos"/>
                <a:cs typeface="Aptos"/>
              </a:defRPr>
            </a:pPr>
            <a:r>
              <a:rPr sz="1800" b="1" dirty="0">
                <a:solidFill>
                  <a:srgbClr val="000000"/>
                </a:solidFill>
                <a:latin typeface="Aptos"/>
                <a:ea typeface="Aptos"/>
                <a:cs typeface="Aptos"/>
              </a:rPr>
              <a:t>Singleton Class</a:t>
            </a:r>
          </a:p>
          <a:p>
            <a:pPr marL="285750" lvl="0" indent="-285750">
              <a:buFont typeface="Arial" panose="020B0604020202020204" pitchFamily="34" charset="0"/>
              <a:buChar char="•"/>
              <a:defRPr sz="1800" b="0">
                <a:solidFill>
                  <a:srgbClr val="000000"/>
                </a:solidFill>
                <a:latin typeface="Aptos"/>
                <a:ea typeface="Aptos"/>
                <a:cs typeface="Aptos"/>
              </a:defRPr>
            </a:pPr>
            <a:r>
              <a:rPr sz="1800" b="0" dirty="0">
                <a:solidFill>
                  <a:srgbClr val="000000"/>
                </a:solidFill>
                <a:latin typeface="Aptos"/>
                <a:ea typeface="Aptos"/>
                <a:cs typeface="Aptos"/>
              </a:rPr>
              <a:t>Owns a private constructor.</a:t>
            </a:r>
            <a:endParaRPr lang="en-US" sz="1800" b="0" dirty="0">
              <a:solidFill>
                <a:srgbClr val="000000"/>
              </a:solidFill>
              <a:latin typeface="Aptos"/>
              <a:ea typeface="Aptos"/>
              <a:cs typeface="Aptos"/>
            </a:endParaRPr>
          </a:p>
          <a:p>
            <a:pPr marL="285750" lvl="0" indent="-285750">
              <a:buFont typeface="Arial" panose="020B0604020202020204" pitchFamily="34" charset="0"/>
              <a:buChar char="•"/>
              <a:defRPr sz="1800" b="0">
                <a:solidFill>
                  <a:srgbClr val="000000"/>
                </a:solidFill>
                <a:latin typeface="Aptos"/>
                <a:ea typeface="Aptos"/>
                <a:cs typeface="Aptos"/>
              </a:defRPr>
            </a:pPr>
            <a:r>
              <a:rPr sz="1800" b="0" dirty="0">
                <a:solidFill>
                  <a:srgbClr val="000000"/>
                </a:solidFill>
                <a:latin typeface="Aptos"/>
                <a:ea typeface="Aptos"/>
                <a:cs typeface="Aptos"/>
              </a:rPr>
              <a:t>Stores a private static instance.</a:t>
            </a:r>
            <a:endParaRPr lang="en-US" sz="1800" b="0" dirty="0">
              <a:solidFill>
                <a:srgbClr val="000000"/>
              </a:solidFill>
              <a:latin typeface="Aptos"/>
              <a:ea typeface="Aptos"/>
              <a:cs typeface="Aptos"/>
            </a:endParaRPr>
          </a:p>
          <a:p>
            <a:pPr marL="285750" lvl="0" indent="-285750">
              <a:buFont typeface="Arial" panose="020B0604020202020204" pitchFamily="34" charset="0"/>
              <a:buChar char="•"/>
              <a:defRPr sz="1800" b="0">
                <a:solidFill>
                  <a:srgbClr val="000000"/>
                </a:solidFill>
                <a:latin typeface="Aptos"/>
                <a:ea typeface="Aptos"/>
                <a:cs typeface="Aptos"/>
              </a:defRPr>
            </a:pPr>
            <a:r>
              <a:rPr sz="1800" b="0" dirty="0">
                <a:solidFill>
                  <a:srgbClr val="000000"/>
                </a:solidFill>
                <a:latin typeface="Aptos"/>
                <a:ea typeface="Aptos"/>
                <a:cs typeface="Aptos"/>
              </a:rPr>
              <a:t>Exposes a static access method.</a:t>
            </a:r>
            <a:endParaRPr lang="en-US" sz="1800" b="0" dirty="0">
              <a:solidFill>
                <a:srgbClr val="000000"/>
              </a:solidFill>
              <a:latin typeface="Aptos"/>
              <a:ea typeface="Aptos"/>
              <a:cs typeface="Aptos"/>
            </a:endParaRPr>
          </a:p>
          <a:p>
            <a:pPr marL="285750" lvl="0" indent="-285750">
              <a:buFont typeface="Arial" panose="020B0604020202020204" pitchFamily="34" charset="0"/>
              <a:buChar char="•"/>
              <a:defRPr sz="1800" b="0">
                <a:solidFill>
                  <a:srgbClr val="000000"/>
                </a:solidFill>
                <a:latin typeface="Aptos"/>
                <a:ea typeface="Aptos"/>
                <a:cs typeface="Aptos"/>
              </a:defRPr>
            </a:pPr>
            <a:r>
              <a:rPr sz="1800" b="0" dirty="0">
                <a:solidFill>
                  <a:srgbClr val="000000"/>
                </a:solidFill>
                <a:latin typeface="Aptos"/>
                <a:ea typeface="Aptos"/>
                <a:cs typeface="Aptos"/>
              </a:rPr>
              <a:t>Provides service operations.</a:t>
            </a:r>
            <a:endParaRPr sz="2000" dirty="0"/>
          </a:p>
          <a:p>
            <a:pPr>
              <a:buNone/>
              <a:defRPr sz="1800" b="0">
                <a:solidFill>
                  <a:srgbClr val="000000"/>
                </a:solidFill>
                <a:latin typeface="Aptos"/>
                <a:ea typeface="Aptos"/>
                <a:cs typeface="Aptos"/>
              </a:defRPr>
            </a:pPr>
            <a:r>
              <a:rPr sz="1800" b="0" dirty="0">
                <a:solidFill>
                  <a:srgbClr val="000000"/>
                </a:solidFill>
                <a:latin typeface="Aptos"/>
                <a:ea typeface="Aptos"/>
                <a:cs typeface="Aptos"/>
              </a:rPr>
              <a:t>Example: </a:t>
            </a:r>
            <a:r>
              <a:rPr sz="1800" b="0" dirty="0" err="1">
                <a:solidFill>
                  <a:srgbClr val="000000"/>
                </a:solidFill>
                <a:latin typeface="Aptos"/>
                <a:ea typeface="Aptos"/>
                <a:cs typeface="Aptos"/>
              </a:rPr>
              <a:t>AppConfig</a:t>
            </a:r>
            <a:r>
              <a:rPr lang="en-US" sz="2000" b="0" dirty="0">
                <a:solidFill>
                  <a:srgbClr val="000000"/>
                </a:solidFill>
                <a:latin typeface="Aptos"/>
                <a:ea typeface="Aptos"/>
                <a:cs typeface="Aptos"/>
              </a:rPr>
              <a:t>.</a:t>
            </a:r>
            <a:endParaRPr sz="2000" dirty="0"/>
          </a:p>
        </p:txBody>
      </p:sp>
      <p:sp>
        <p:nvSpPr>
          <p:cNvPr id="13" name="TextBox 12">
            <a:extLst>
              <a:ext uri="{FF2B5EF4-FFF2-40B4-BE49-F238E27FC236}">
                <a16:creationId xmlns:a16="http://schemas.microsoft.com/office/drawing/2014/main" id="{A9B79E86-6A63-F549-AF1E-61BF7316600C}"/>
              </a:ext>
            </a:extLst>
          </p:cNvPr>
          <p:cNvSpPr txBox="1"/>
          <p:nvPr/>
        </p:nvSpPr>
        <p:spPr>
          <a:xfrm>
            <a:off x="162821" y="3961515"/>
            <a:ext cx="4863662" cy="369332"/>
          </a:xfrm>
          <a:prstGeom prst="rect">
            <a:avLst/>
          </a:prstGeom>
          <a:noFill/>
        </p:spPr>
        <p:txBody>
          <a:bodyPr wrap="square">
            <a:spAutoFit/>
          </a:bodyPr>
          <a:lstStyle/>
          <a:p>
            <a:pPr>
              <a:buNone/>
              <a:defRPr sz="1800" b="0">
                <a:solidFill>
                  <a:srgbClr val="000000"/>
                </a:solidFill>
                <a:latin typeface="Aptos"/>
                <a:ea typeface="Aptos"/>
                <a:cs typeface="Aptos"/>
              </a:defRPr>
            </a:pPr>
            <a:r>
              <a:rPr lang="en-IN" sz="1800" b="1" dirty="0">
                <a:solidFill>
                  <a:srgbClr val="002060"/>
                </a:solidFill>
                <a:latin typeface="Aptos"/>
                <a:ea typeface="Aptos"/>
                <a:cs typeface="Aptos"/>
              </a:rPr>
              <a:t>Participant Responsibilities</a:t>
            </a:r>
          </a:p>
        </p:txBody>
      </p:sp>
      <p:sp>
        <p:nvSpPr>
          <p:cNvPr id="14" name="TextBox 29">
            <a:extLst>
              <a:ext uri="{FF2B5EF4-FFF2-40B4-BE49-F238E27FC236}">
                <a16:creationId xmlns:a16="http://schemas.microsoft.com/office/drawing/2014/main" id="{319AE85B-B979-9283-2220-F1CBEF71F3A1}"/>
              </a:ext>
            </a:extLst>
          </p:cNvPr>
          <p:cNvSpPr>
            <a:spLocks noGrp="1"/>
          </p:cNvSpPr>
          <p:nvPr/>
        </p:nvSpPr>
        <p:spPr>
          <a:xfrm>
            <a:off x="3867978" y="4498180"/>
            <a:ext cx="3529177" cy="1447943"/>
          </a:xfrm>
          <a:prstGeom prst="rect">
            <a:avLst/>
          </a:prstGeom>
          <a:noFill/>
        </p:spPr>
        <p:txBody>
          <a:bodyPr wrap="square">
            <a:noAutofit/>
          </a:bodyPr>
          <a:lstStyle>
            <a:defPPr>
              <a:defRPr sz="1800" b="0">
                <a:solidFill>
                  <a:srgbClr val="000000"/>
                </a:solidFill>
                <a:latin typeface="Aptos"/>
                <a:ea typeface="Aptos"/>
                <a:cs typeface="Aptos"/>
              </a:defRPr>
            </a:defPPr>
          </a:lstStyle>
          <a:p>
            <a:pPr>
              <a:defRPr sz="1800" b="0">
                <a:solidFill>
                  <a:srgbClr val="000000"/>
                </a:solidFill>
                <a:latin typeface="Aptos"/>
                <a:ea typeface="Aptos"/>
                <a:cs typeface="Aptos"/>
              </a:defRPr>
            </a:pPr>
            <a:r>
              <a:rPr sz="1800" b="1" dirty="0">
                <a:solidFill>
                  <a:srgbClr val="000000"/>
                </a:solidFill>
                <a:latin typeface="Aptos"/>
                <a:ea typeface="Aptos"/>
                <a:cs typeface="Aptos"/>
              </a:rPr>
              <a:t>Client</a:t>
            </a:r>
          </a:p>
          <a:p>
            <a:pPr marL="285750" lvl="0" indent="-285750">
              <a:buFont typeface="Arial" panose="020B0604020202020204" pitchFamily="34" charset="0"/>
              <a:buChar char="•"/>
              <a:defRPr sz="1800" b="0">
                <a:solidFill>
                  <a:srgbClr val="000000"/>
                </a:solidFill>
                <a:latin typeface="Aptos"/>
                <a:ea typeface="Aptos"/>
                <a:cs typeface="Aptos"/>
              </a:defRPr>
            </a:pPr>
            <a:r>
              <a:rPr sz="1800" b="0" dirty="0">
                <a:solidFill>
                  <a:srgbClr val="000000"/>
                </a:solidFill>
                <a:latin typeface="Aptos"/>
                <a:ea typeface="Aptos"/>
                <a:cs typeface="Aptos"/>
              </a:rPr>
              <a:t>Calls </a:t>
            </a:r>
            <a:r>
              <a:rPr sz="1800" b="0" dirty="0" err="1">
                <a:solidFill>
                  <a:srgbClr val="000000"/>
                </a:solidFill>
                <a:latin typeface="Aptos"/>
                <a:ea typeface="Aptos"/>
                <a:cs typeface="Aptos"/>
              </a:rPr>
              <a:t>AppConfig.getInstance</a:t>
            </a:r>
            <a:r>
              <a:rPr sz="1800" b="0" dirty="0">
                <a:solidFill>
                  <a:srgbClr val="000000"/>
                </a:solidFill>
                <a:latin typeface="Aptos"/>
                <a:ea typeface="Aptos"/>
                <a:cs typeface="Aptos"/>
              </a:rPr>
              <a:t>().</a:t>
            </a:r>
            <a:endParaRPr lang="en-US" sz="1800" b="0" dirty="0">
              <a:solidFill>
                <a:srgbClr val="000000"/>
              </a:solidFill>
              <a:latin typeface="Aptos"/>
              <a:ea typeface="Aptos"/>
              <a:cs typeface="Aptos"/>
            </a:endParaRPr>
          </a:p>
          <a:p>
            <a:pPr marL="285750" lvl="0" indent="-285750">
              <a:buFont typeface="Arial" panose="020B0604020202020204" pitchFamily="34" charset="0"/>
              <a:buChar char="•"/>
              <a:defRPr sz="1800" b="0">
                <a:solidFill>
                  <a:srgbClr val="000000"/>
                </a:solidFill>
                <a:latin typeface="Aptos"/>
                <a:ea typeface="Aptos"/>
                <a:cs typeface="Aptos"/>
              </a:defRPr>
            </a:pPr>
            <a:r>
              <a:rPr sz="1800" b="0" dirty="0">
                <a:solidFill>
                  <a:srgbClr val="000000"/>
                </a:solidFill>
                <a:latin typeface="Aptos"/>
                <a:ea typeface="Aptos"/>
                <a:cs typeface="Aptos"/>
              </a:rPr>
              <a:t>Uses the returned shared object.</a:t>
            </a:r>
            <a:endParaRPr lang="en-US" sz="1800" b="0" dirty="0">
              <a:solidFill>
                <a:srgbClr val="000000"/>
              </a:solidFill>
              <a:latin typeface="Aptos"/>
              <a:ea typeface="Aptos"/>
              <a:cs typeface="Aptos"/>
            </a:endParaRPr>
          </a:p>
          <a:p>
            <a:pPr marL="285750" lvl="0" indent="-285750">
              <a:buFont typeface="Arial" panose="020B0604020202020204" pitchFamily="34" charset="0"/>
              <a:buChar char="•"/>
              <a:defRPr sz="1800" b="0">
                <a:solidFill>
                  <a:srgbClr val="000000"/>
                </a:solidFill>
                <a:latin typeface="Aptos"/>
                <a:ea typeface="Aptos"/>
                <a:cs typeface="Aptos"/>
              </a:defRPr>
            </a:pPr>
            <a:r>
              <a:rPr sz="1800" b="0" dirty="0">
                <a:solidFill>
                  <a:srgbClr val="000000"/>
                </a:solidFill>
                <a:latin typeface="Aptos"/>
                <a:ea typeface="Aptos"/>
                <a:cs typeface="Aptos"/>
              </a:rPr>
              <a:t>Cannot call the private constructor.</a:t>
            </a:r>
          </a:p>
        </p:txBody>
      </p:sp>
      <p:sp>
        <p:nvSpPr>
          <p:cNvPr id="15" name="TextBox 31">
            <a:extLst>
              <a:ext uri="{FF2B5EF4-FFF2-40B4-BE49-F238E27FC236}">
                <a16:creationId xmlns:a16="http://schemas.microsoft.com/office/drawing/2014/main" id="{478FABD3-3926-522B-3706-AE319883E3DC}"/>
              </a:ext>
            </a:extLst>
          </p:cNvPr>
          <p:cNvSpPr>
            <a:spLocks noGrp="1"/>
          </p:cNvSpPr>
          <p:nvPr/>
        </p:nvSpPr>
        <p:spPr>
          <a:xfrm>
            <a:off x="7611443" y="4911726"/>
            <a:ext cx="3700462" cy="1543224"/>
          </a:xfrm>
          <a:prstGeom prst="rect">
            <a:avLst/>
          </a:prstGeom>
          <a:noFill/>
        </p:spPr>
        <p:txBody>
          <a:bodyPr wrap="square">
            <a:noAutofit/>
          </a:bodyPr>
          <a:lstStyle>
            <a:defPPr>
              <a:defRPr sz="1800" b="0">
                <a:solidFill>
                  <a:srgbClr val="000000"/>
                </a:solidFill>
                <a:latin typeface="Aptos"/>
                <a:ea typeface="Aptos"/>
                <a:cs typeface="Aptos"/>
              </a:defRPr>
            </a:defPPr>
          </a:lstStyle>
          <a:p>
            <a:pPr>
              <a:defRPr sz="1800" b="0">
                <a:solidFill>
                  <a:srgbClr val="000000"/>
                </a:solidFill>
                <a:latin typeface="Aptos"/>
                <a:ea typeface="Aptos"/>
                <a:cs typeface="Aptos"/>
              </a:defRPr>
            </a:pPr>
            <a:r>
              <a:rPr sz="1800" b="1" dirty="0" err="1">
                <a:solidFill>
                  <a:srgbClr val="000000"/>
                </a:solidFill>
                <a:latin typeface="Aptos"/>
                <a:ea typeface="Aptos"/>
                <a:cs typeface="Aptos"/>
              </a:rPr>
              <a:t>getInstance</a:t>
            </a:r>
            <a:r>
              <a:rPr sz="1800" b="1" dirty="0">
                <a:solidFill>
                  <a:srgbClr val="000000"/>
                </a:solidFill>
                <a:latin typeface="Aptos"/>
                <a:ea typeface="Aptos"/>
                <a:cs typeface="Aptos"/>
              </a:rPr>
              <a:t>() </a:t>
            </a:r>
            <a:endParaRPr lang="en-US" sz="1800" b="1" dirty="0">
              <a:solidFill>
                <a:srgbClr val="000000"/>
              </a:solidFill>
              <a:latin typeface="Aptos"/>
              <a:ea typeface="Aptos"/>
              <a:cs typeface="Aptos"/>
            </a:endParaRPr>
          </a:p>
          <a:p>
            <a:pPr>
              <a:defRPr sz="1800" b="0">
                <a:solidFill>
                  <a:srgbClr val="000000"/>
                </a:solidFill>
                <a:latin typeface="Aptos"/>
                <a:ea typeface="Aptos"/>
                <a:cs typeface="Aptos"/>
              </a:defRPr>
            </a:pPr>
            <a:r>
              <a:rPr sz="1800" b="0" dirty="0">
                <a:solidFill>
                  <a:srgbClr val="000000"/>
                </a:solidFill>
                <a:latin typeface="Aptos"/>
                <a:ea typeface="Aptos"/>
                <a:cs typeface="Aptos"/>
              </a:rPr>
              <a:t>returns the shared reference. Safe instance creation does not automatically make mutable service methods thread-safe.</a:t>
            </a:r>
          </a:p>
        </p:txBody>
      </p:sp>
    </p:spTree>
    <p:extLst>
      <p:ext uri="{BB962C8B-B14F-4D97-AF65-F5344CB8AC3E}">
        <p14:creationId xmlns:p14="http://schemas.microsoft.com/office/powerpoint/2010/main" val="465689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02BA708-F51F-AA19-96FD-8F6846A90B25}"/>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A3FE4E12-5C1D-F610-24D3-6F85E7F6BD93}"/>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lang="en-US" sz="2000"/>
          </a:p>
        </p:txBody>
      </p:sp>
      <p:sp>
        <p:nvSpPr>
          <p:cNvPr id="2" name="Rectangle 1">
            <a:extLst>
              <a:ext uri="{FF2B5EF4-FFF2-40B4-BE49-F238E27FC236}">
                <a16:creationId xmlns:a16="http://schemas.microsoft.com/office/drawing/2014/main" id="{40DE0EFE-057F-729A-5AA5-DA8E5F20C337}"/>
              </a:ext>
            </a:extLst>
          </p:cNvPr>
          <p:cNvSpPr>
            <a:spLocks noGrp="1"/>
          </p:cNvSpPr>
          <p:nvPr/>
        </p:nvSpPr>
        <p:spPr>
          <a:xfrm>
            <a:off x="790575" y="66675"/>
            <a:ext cx="10601325" cy="495300"/>
          </a:xfrm>
          <a:prstGeom prst="rect">
            <a:avLst/>
          </a:prstGeom>
          <a:noFill/>
          <a:ln w="0">
            <a:noFill/>
          </a:ln>
        </p:spPr>
        <p:txBody>
          <a:bodyPr anchor="ctr">
            <a:noAutofit/>
          </a:bodyPr>
          <a:lstStyle>
            <a:defPPr algn="ctr">
              <a:defRPr sz="2640">
                <a:solidFill>
                  <a:srgbClr val="002060"/>
                </a:solidFill>
                <a:latin typeface="Times New Roman"/>
                <a:ea typeface="Times New Roman"/>
                <a:cs typeface="Times New Roman"/>
              </a:defRPr>
            </a:defPPr>
          </a:lstStyle>
          <a:p>
            <a:pPr algn="ctr">
              <a:buNone/>
              <a:defRPr sz="2640" b="0">
                <a:solidFill>
                  <a:srgbClr val="002060"/>
                </a:solidFill>
                <a:latin typeface="Times New Roman"/>
                <a:ea typeface="Times New Roman"/>
                <a:cs typeface="Times New Roman"/>
              </a:defRPr>
            </a:pPr>
            <a:r>
              <a:rPr sz="2640" b="0">
                <a:solidFill>
                  <a:srgbClr val="002060"/>
                </a:solidFill>
                <a:latin typeface="Times New Roman"/>
                <a:ea typeface="Times New Roman"/>
                <a:cs typeface="Times New Roman"/>
              </a:rPr>
              <a:t>Structure and Participants</a:t>
            </a:r>
          </a:p>
        </p:txBody>
      </p:sp>
      <p:sp>
        <p:nvSpPr>
          <p:cNvPr id="3" name="Rectangle 2">
            <a:extLst>
              <a:ext uri="{FF2B5EF4-FFF2-40B4-BE49-F238E27FC236}">
                <a16:creationId xmlns:a16="http://schemas.microsoft.com/office/drawing/2014/main" id="{5AA5B744-BFF9-D6AE-9C43-DCE9E37132EB}"/>
              </a:ext>
            </a:extLst>
          </p:cNvPr>
          <p:cNvSpPr>
            <a:spLocks noGrp="1"/>
          </p:cNvSpPr>
          <p:nvPr/>
        </p:nvSpPr>
        <p:spPr>
          <a:xfrm>
            <a:off x="552450" y="723900"/>
            <a:ext cx="6557798" cy="266700"/>
          </a:xfrm>
          <a:prstGeom prst="rect">
            <a:avLst/>
          </a:prstGeom>
          <a:noFill/>
          <a:ln w="0">
            <a:noFill/>
          </a:ln>
        </p:spPr>
        <p:txBody>
          <a:bodyPr anchor="ctr">
            <a:noAutofit/>
          </a:bodyPr>
          <a:lstStyle>
            <a:defPPr algn="l">
              <a:defRPr sz="956" b="1">
                <a:solidFill>
                  <a:srgbClr val="0000FF"/>
                </a:solidFill>
                <a:latin typeface="Times New Roman"/>
                <a:ea typeface="Times New Roman"/>
                <a:cs typeface="Times New Roman"/>
              </a:defRPr>
            </a:defPPr>
          </a:lstStyle>
          <a:p>
            <a:pPr algn="l">
              <a:buNone/>
              <a:defRPr sz="956" b="1">
                <a:solidFill>
                  <a:srgbClr val="0000FF"/>
                </a:solidFill>
                <a:latin typeface="Times New Roman"/>
                <a:ea typeface="Times New Roman"/>
                <a:cs typeface="Times New Roman"/>
              </a:defRPr>
            </a:pPr>
            <a:r>
              <a:rPr sz="2000" b="1" dirty="0">
                <a:solidFill>
                  <a:srgbClr val="0000FF"/>
                </a:solidFill>
                <a:latin typeface="Times New Roman"/>
                <a:ea typeface="Times New Roman"/>
                <a:cs typeface="Times New Roman"/>
              </a:rPr>
              <a:t>SINGLETON PATTERN</a:t>
            </a:r>
            <a:r>
              <a:rPr lang="en-US" sz="2000" b="1" dirty="0">
                <a:solidFill>
                  <a:srgbClr val="0000FF"/>
                </a:solidFill>
                <a:latin typeface="Times New Roman"/>
                <a:ea typeface="Times New Roman"/>
                <a:cs typeface="Times New Roman"/>
              </a:rPr>
              <a:t> (Based on Example)</a:t>
            </a:r>
            <a:endParaRPr sz="2000" b="1" dirty="0">
              <a:solidFill>
                <a:srgbClr val="0000FF"/>
              </a:solidFill>
              <a:latin typeface="Times New Roman"/>
              <a:ea typeface="Times New Roman"/>
              <a:cs typeface="Times New Roman"/>
            </a:endParaRPr>
          </a:p>
        </p:txBody>
      </p:sp>
      <p:sp>
        <p:nvSpPr>
          <p:cNvPr id="4" name="Rectangle 3">
            <a:extLst>
              <a:ext uri="{FF2B5EF4-FFF2-40B4-BE49-F238E27FC236}">
                <a16:creationId xmlns:a16="http://schemas.microsoft.com/office/drawing/2014/main" id="{82147338-4214-C588-531B-525EBB04A607}"/>
              </a:ext>
            </a:extLst>
          </p:cNvPr>
          <p:cNvSpPr>
            <a:spLocks noGrp="1"/>
          </p:cNvSpPr>
          <p:nvPr/>
        </p:nvSpPr>
        <p:spPr>
          <a:xfrm>
            <a:off x="11258550" y="6486525"/>
            <a:ext cx="438150" cy="238125"/>
          </a:xfrm>
          <a:prstGeom prst="rect">
            <a:avLst/>
          </a:prstGeom>
          <a:noFill/>
          <a:ln w="0">
            <a:noFill/>
          </a:ln>
        </p:spPr>
        <p:txBody>
          <a:bodyPr anchor="ctr">
            <a:noAutofit/>
          </a:bodyPr>
          <a:lstStyle>
            <a:defPPr algn="l">
              <a:defRPr sz="968">
                <a:solidFill>
                  <a:srgbClr val="002060"/>
                </a:solidFill>
                <a:latin typeface="Times New Roman"/>
                <a:ea typeface="Times New Roman"/>
                <a:cs typeface="Times New Roman"/>
              </a:defRPr>
            </a:defPPr>
          </a:lstStyle>
          <a:p>
            <a:pPr algn="l">
              <a:buNone/>
              <a:defRPr sz="968" b="0">
                <a:solidFill>
                  <a:srgbClr val="002060"/>
                </a:solidFill>
                <a:latin typeface="Times New Roman"/>
                <a:ea typeface="Times New Roman"/>
                <a:cs typeface="Times New Roman"/>
              </a:defRPr>
            </a:pPr>
            <a:r>
              <a:rPr sz="2000" b="0">
                <a:solidFill>
                  <a:srgbClr val="002060"/>
                </a:solidFill>
                <a:latin typeface="Times New Roman"/>
                <a:ea typeface="Times New Roman"/>
                <a:cs typeface="Times New Roman"/>
              </a:rPr>
              <a:t>04</a:t>
            </a:r>
          </a:p>
        </p:txBody>
      </p:sp>
      <p:sp>
        <p:nvSpPr>
          <p:cNvPr id="5" name="Rectangle 4">
            <a:extLst>
              <a:ext uri="{FF2B5EF4-FFF2-40B4-BE49-F238E27FC236}">
                <a16:creationId xmlns:a16="http://schemas.microsoft.com/office/drawing/2014/main" id="{292D7F80-902D-2CEE-D6FC-D4C3BD05D2CF}"/>
              </a:ext>
            </a:extLst>
          </p:cNvPr>
          <p:cNvSpPr>
            <a:spLocks noGrp="1"/>
          </p:cNvSpPr>
          <p:nvPr/>
        </p:nvSpPr>
        <p:spPr>
          <a:xfrm>
            <a:off x="590550" y="1924050"/>
            <a:ext cx="2171700" cy="1028700"/>
          </a:xfrm>
          <a:prstGeom prst="rect">
            <a:avLst/>
          </a:prstGeom>
          <a:solidFill>
            <a:srgbClr val="DDEBF3"/>
          </a:solidFill>
          <a:ln w="9525">
            <a:solidFill>
              <a:srgbClr val="002060"/>
            </a:solidFill>
          </a:ln>
        </p:spPr>
        <p:txBody>
          <a:bodyPr/>
          <a:lstStyle/>
          <a:p>
            <a:endParaRPr lang="en-US" sz="2000"/>
          </a:p>
        </p:txBody>
      </p:sp>
      <p:sp>
        <p:nvSpPr>
          <p:cNvPr id="6" name="Rectangle 5">
            <a:extLst>
              <a:ext uri="{FF2B5EF4-FFF2-40B4-BE49-F238E27FC236}">
                <a16:creationId xmlns:a16="http://schemas.microsoft.com/office/drawing/2014/main" id="{CD9B19FA-3DF4-338A-AD14-C181499F8A89}"/>
              </a:ext>
            </a:extLst>
          </p:cNvPr>
          <p:cNvSpPr>
            <a:spLocks noGrp="1"/>
          </p:cNvSpPr>
          <p:nvPr/>
        </p:nvSpPr>
        <p:spPr>
          <a:xfrm>
            <a:off x="666750" y="1981200"/>
            <a:ext cx="2019300" cy="914400"/>
          </a:xfrm>
          <a:prstGeom prst="rect">
            <a:avLst/>
          </a:prstGeom>
          <a:noFill/>
          <a:ln w="0">
            <a:noFill/>
          </a:ln>
        </p:spPr>
        <p:txBody>
          <a:bodyPr anchor="ctr">
            <a:noAutofit/>
          </a:bodyPr>
          <a:lstStyle>
            <a:defPPr algn="ctr">
              <a:defRPr sz="1725" b="1">
                <a:solidFill>
                  <a:srgbClr val="002060"/>
                </a:solidFill>
                <a:latin typeface="Times New Roman"/>
                <a:ea typeface="Times New Roman"/>
                <a:cs typeface="Times New Roman"/>
              </a:defRPr>
            </a:defPPr>
          </a:lstStyle>
          <a:p>
            <a:pPr algn="ctr">
              <a:buNone/>
              <a:defRPr sz="1725" b="1">
                <a:solidFill>
                  <a:srgbClr val="002060"/>
                </a:solidFill>
                <a:latin typeface="Times New Roman"/>
                <a:ea typeface="Times New Roman"/>
                <a:cs typeface="Times New Roman"/>
              </a:defRPr>
            </a:pPr>
            <a:r>
              <a:rPr sz="2000" b="1">
                <a:solidFill>
                  <a:srgbClr val="002060"/>
                </a:solidFill>
                <a:latin typeface="Times New Roman"/>
                <a:ea typeface="Times New Roman"/>
                <a:cs typeface="Times New Roman"/>
              </a:rPr>
              <a:t>Singleton Class</a:t>
            </a:r>
          </a:p>
          <a:p>
            <a:pPr algn="ctr">
              <a:buNone/>
              <a:defRPr sz="1725" b="1">
                <a:solidFill>
                  <a:srgbClr val="002060"/>
                </a:solidFill>
                <a:latin typeface="Times New Roman"/>
                <a:ea typeface="Times New Roman"/>
                <a:cs typeface="Times New Roman"/>
              </a:defRPr>
            </a:pPr>
            <a:r>
              <a:rPr sz="2000" b="1">
                <a:solidFill>
                  <a:srgbClr val="002060"/>
                </a:solidFill>
                <a:latin typeface="Times New Roman"/>
                <a:ea typeface="Times New Roman"/>
                <a:cs typeface="Times New Roman"/>
              </a:rPr>
              <a:t>AppConfig</a:t>
            </a:r>
          </a:p>
        </p:txBody>
      </p:sp>
      <p:sp>
        <p:nvSpPr>
          <p:cNvPr id="7" name="Rectangle 6">
            <a:extLst>
              <a:ext uri="{FF2B5EF4-FFF2-40B4-BE49-F238E27FC236}">
                <a16:creationId xmlns:a16="http://schemas.microsoft.com/office/drawing/2014/main" id="{5E7E86BE-7D7A-CA99-6AF2-1F30AD90FD2A}"/>
              </a:ext>
            </a:extLst>
          </p:cNvPr>
          <p:cNvSpPr>
            <a:spLocks noGrp="1"/>
          </p:cNvSpPr>
          <p:nvPr/>
        </p:nvSpPr>
        <p:spPr>
          <a:xfrm>
            <a:off x="3648075" y="1819275"/>
            <a:ext cx="2171700" cy="1228725"/>
          </a:xfrm>
          <a:prstGeom prst="rect">
            <a:avLst/>
          </a:prstGeom>
          <a:solidFill>
            <a:srgbClr val="EACBE7"/>
          </a:solidFill>
          <a:ln w="9525">
            <a:solidFill>
              <a:srgbClr val="002060"/>
            </a:solidFill>
          </a:ln>
        </p:spPr>
        <p:txBody>
          <a:bodyPr/>
          <a:lstStyle/>
          <a:p>
            <a:endParaRPr lang="en-US" sz="2000"/>
          </a:p>
        </p:txBody>
      </p:sp>
      <p:sp>
        <p:nvSpPr>
          <p:cNvPr id="8" name="Rectangle 7">
            <a:extLst>
              <a:ext uri="{FF2B5EF4-FFF2-40B4-BE49-F238E27FC236}">
                <a16:creationId xmlns:a16="http://schemas.microsoft.com/office/drawing/2014/main" id="{3EA0ACC9-92E0-AA37-C378-EE10995A5DFB}"/>
              </a:ext>
            </a:extLst>
          </p:cNvPr>
          <p:cNvSpPr>
            <a:spLocks noGrp="1"/>
          </p:cNvSpPr>
          <p:nvPr/>
        </p:nvSpPr>
        <p:spPr>
          <a:xfrm>
            <a:off x="3724275" y="1876425"/>
            <a:ext cx="2019300" cy="1114425"/>
          </a:xfrm>
          <a:prstGeom prst="rect">
            <a:avLst/>
          </a:prstGeom>
          <a:noFill/>
          <a:ln w="0">
            <a:noFill/>
          </a:ln>
        </p:spPr>
        <p:txBody>
          <a:bodyPr anchor="ctr">
            <a:noAutofit/>
          </a:bodyPr>
          <a:lstStyle>
            <a:defPPr algn="ctr">
              <a:defRPr sz="1725" b="1">
                <a:solidFill>
                  <a:srgbClr val="002060"/>
                </a:solidFill>
                <a:latin typeface="Times New Roman"/>
                <a:ea typeface="Times New Roman"/>
                <a:cs typeface="Times New Roman"/>
              </a:defRPr>
            </a:defPPr>
          </a:lstStyle>
          <a:p>
            <a:pPr algn="ctr">
              <a:buNone/>
              <a:defRPr sz="1725" b="1">
                <a:solidFill>
                  <a:srgbClr val="002060"/>
                </a:solidFill>
                <a:latin typeface="Times New Roman"/>
                <a:ea typeface="Times New Roman"/>
                <a:cs typeface="Times New Roman"/>
              </a:defRPr>
            </a:pPr>
            <a:r>
              <a:rPr sz="2000" b="1">
                <a:solidFill>
                  <a:srgbClr val="002060"/>
                </a:solidFill>
                <a:latin typeface="Times New Roman"/>
                <a:ea typeface="Times New Roman"/>
                <a:cs typeface="Times New Roman"/>
              </a:rPr>
              <a:t>Private Constructor</a:t>
            </a:r>
          </a:p>
          <a:p>
            <a:pPr algn="ctr">
              <a:buNone/>
              <a:defRPr sz="1725" b="1">
                <a:solidFill>
                  <a:srgbClr val="002060"/>
                </a:solidFill>
                <a:latin typeface="Times New Roman"/>
                <a:ea typeface="Times New Roman"/>
                <a:cs typeface="Times New Roman"/>
              </a:defRPr>
            </a:pPr>
            <a:r>
              <a:rPr sz="2000" b="1">
                <a:solidFill>
                  <a:srgbClr val="002060"/>
                </a:solidFill>
                <a:latin typeface="Times New Roman"/>
                <a:ea typeface="Times New Roman"/>
                <a:cs typeface="Times New Roman"/>
              </a:rPr>
              <a:t>AppConfig()</a:t>
            </a:r>
          </a:p>
        </p:txBody>
      </p:sp>
      <p:sp>
        <p:nvSpPr>
          <p:cNvPr id="9" name="Rectangle 8">
            <a:extLst>
              <a:ext uri="{FF2B5EF4-FFF2-40B4-BE49-F238E27FC236}">
                <a16:creationId xmlns:a16="http://schemas.microsoft.com/office/drawing/2014/main" id="{F9BDEEAD-FFCA-09DC-7775-3B459273B5AD}"/>
              </a:ext>
            </a:extLst>
          </p:cNvPr>
          <p:cNvSpPr>
            <a:spLocks noGrp="1"/>
          </p:cNvSpPr>
          <p:nvPr/>
        </p:nvSpPr>
        <p:spPr>
          <a:xfrm>
            <a:off x="6696075" y="1752600"/>
            <a:ext cx="2447925" cy="1371600"/>
          </a:xfrm>
          <a:prstGeom prst="rect">
            <a:avLst/>
          </a:prstGeom>
          <a:solidFill>
            <a:srgbClr val="F6C6AD"/>
          </a:solidFill>
          <a:ln w="9525">
            <a:solidFill>
              <a:srgbClr val="002060"/>
            </a:solidFill>
          </a:ln>
        </p:spPr>
        <p:txBody>
          <a:bodyPr/>
          <a:lstStyle/>
          <a:p>
            <a:endParaRPr lang="en-US" sz="2000"/>
          </a:p>
        </p:txBody>
      </p:sp>
      <p:sp>
        <p:nvSpPr>
          <p:cNvPr id="10" name="Rectangle 9">
            <a:extLst>
              <a:ext uri="{FF2B5EF4-FFF2-40B4-BE49-F238E27FC236}">
                <a16:creationId xmlns:a16="http://schemas.microsoft.com/office/drawing/2014/main" id="{0FB5C689-13A1-05AD-A699-F06615253B89}"/>
              </a:ext>
            </a:extLst>
          </p:cNvPr>
          <p:cNvSpPr>
            <a:spLocks noGrp="1"/>
          </p:cNvSpPr>
          <p:nvPr/>
        </p:nvSpPr>
        <p:spPr>
          <a:xfrm>
            <a:off x="6772275" y="1809750"/>
            <a:ext cx="2295525" cy="1257300"/>
          </a:xfrm>
          <a:prstGeom prst="rect">
            <a:avLst/>
          </a:prstGeom>
          <a:noFill/>
          <a:ln w="0">
            <a:noFill/>
          </a:ln>
        </p:spPr>
        <p:txBody>
          <a:bodyPr anchor="ctr">
            <a:noAutofit/>
          </a:bodyPr>
          <a:lstStyle>
            <a:defPPr algn="ctr">
              <a:defRPr sz="1650" b="1">
                <a:solidFill>
                  <a:srgbClr val="002060"/>
                </a:solidFill>
                <a:latin typeface="Times New Roman"/>
                <a:ea typeface="Times New Roman"/>
                <a:cs typeface="Times New Roman"/>
              </a:defRPr>
            </a:defPPr>
          </a:lstStyle>
          <a:p>
            <a:pPr algn="ctr">
              <a:buNone/>
              <a:defRPr sz="1650" b="1">
                <a:solidFill>
                  <a:srgbClr val="002060"/>
                </a:solidFill>
                <a:latin typeface="Times New Roman"/>
                <a:ea typeface="Times New Roman"/>
                <a:cs typeface="Times New Roman"/>
              </a:defRPr>
            </a:pPr>
            <a:r>
              <a:rPr sz="2000" b="1">
                <a:solidFill>
                  <a:srgbClr val="002060"/>
                </a:solidFill>
                <a:latin typeface="Times New Roman"/>
                <a:ea typeface="Times New Roman"/>
                <a:cs typeface="Times New Roman"/>
              </a:rPr>
              <a:t>Access Method</a:t>
            </a:r>
          </a:p>
          <a:p>
            <a:pPr algn="ctr">
              <a:buNone/>
              <a:defRPr sz="1650" b="1">
                <a:solidFill>
                  <a:srgbClr val="002060"/>
                </a:solidFill>
                <a:latin typeface="Times New Roman"/>
                <a:ea typeface="Times New Roman"/>
                <a:cs typeface="Times New Roman"/>
              </a:defRPr>
            </a:pPr>
            <a:r>
              <a:rPr sz="2000" b="1">
                <a:solidFill>
                  <a:srgbClr val="002060"/>
                </a:solidFill>
                <a:latin typeface="Times New Roman"/>
                <a:ea typeface="Times New Roman"/>
                <a:cs typeface="Times New Roman"/>
              </a:rPr>
              <a:t>getInstance()</a:t>
            </a:r>
          </a:p>
        </p:txBody>
      </p:sp>
      <p:sp>
        <p:nvSpPr>
          <p:cNvPr id="11" name="Rectangle 10">
            <a:extLst>
              <a:ext uri="{FF2B5EF4-FFF2-40B4-BE49-F238E27FC236}">
                <a16:creationId xmlns:a16="http://schemas.microsoft.com/office/drawing/2014/main" id="{D81F4661-2B6E-62DB-B6C1-249CF393789D}"/>
              </a:ext>
            </a:extLst>
          </p:cNvPr>
          <p:cNvSpPr>
            <a:spLocks noGrp="1"/>
          </p:cNvSpPr>
          <p:nvPr/>
        </p:nvSpPr>
        <p:spPr>
          <a:xfrm>
            <a:off x="9658350" y="1924050"/>
            <a:ext cx="1905000" cy="1028700"/>
          </a:xfrm>
          <a:prstGeom prst="rect">
            <a:avLst/>
          </a:prstGeom>
          <a:solidFill>
            <a:srgbClr val="DDF2D5"/>
          </a:solidFill>
          <a:ln w="9525">
            <a:solidFill>
              <a:srgbClr val="002060"/>
            </a:solidFill>
          </a:ln>
        </p:spPr>
        <p:txBody>
          <a:bodyPr/>
          <a:lstStyle/>
          <a:p>
            <a:endParaRPr lang="en-US" sz="2000"/>
          </a:p>
        </p:txBody>
      </p:sp>
      <p:sp>
        <p:nvSpPr>
          <p:cNvPr id="12" name="Rectangle 11">
            <a:extLst>
              <a:ext uri="{FF2B5EF4-FFF2-40B4-BE49-F238E27FC236}">
                <a16:creationId xmlns:a16="http://schemas.microsoft.com/office/drawing/2014/main" id="{A69CC5A1-F040-B4F2-9EF6-EE2D47FCDC9C}"/>
              </a:ext>
            </a:extLst>
          </p:cNvPr>
          <p:cNvSpPr>
            <a:spLocks noGrp="1"/>
          </p:cNvSpPr>
          <p:nvPr/>
        </p:nvSpPr>
        <p:spPr>
          <a:xfrm>
            <a:off x="9734550" y="1981200"/>
            <a:ext cx="1752600" cy="914400"/>
          </a:xfrm>
          <a:prstGeom prst="rect">
            <a:avLst/>
          </a:prstGeom>
          <a:noFill/>
          <a:ln w="0">
            <a:noFill/>
          </a:ln>
        </p:spPr>
        <p:txBody>
          <a:bodyPr anchor="ctr">
            <a:noAutofit/>
          </a:bodyPr>
          <a:lstStyle>
            <a:defPPr algn="ctr">
              <a:defRPr sz="1650" b="1">
                <a:solidFill>
                  <a:srgbClr val="002060"/>
                </a:solidFill>
                <a:latin typeface="Times New Roman"/>
                <a:ea typeface="Times New Roman"/>
                <a:cs typeface="Times New Roman"/>
              </a:defRPr>
            </a:defPPr>
          </a:lstStyle>
          <a:p>
            <a:pPr algn="ctr">
              <a:buNone/>
              <a:defRPr sz="1650" b="1">
                <a:solidFill>
                  <a:srgbClr val="002060"/>
                </a:solidFill>
                <a:latin typeface="Times New Roman"/>
                <a:ea typeface="Times New Roman"/>
                <a:cs typeface="Times New Roman"/>
              </a:defRPr>
            </a:pPr>
            <a:r>
              <a:rPr sz="2000" b="1">
                <a:solidFill>
                  <a:srgbClr val="002060"/>
                </a:solidFill>
                <a:latin typeface="Times New Roman"/>
                <a:ea typeface="Times New Roman"/>
                <a:cs typeface="Times New Roman"/>
              </a:rPr>
              <a:t>Shared Object</a:t>
            </a:r>
          </a:p>
          <a:p>
            <a:pPr algn="ctr">
              <a:buNone/>
              <a:defRPr sz="1650" b="1">
                <a:solidFill>
                  <a:srgbClr val="002060"/>
                </a:solidFill>
                <a:latin typeface="Times New Roman"/>
                <a:ea typeface="Times New Roman"/>
                <a:cs typeface="Times New Roman"/>
              </a:defRPr>
            </a:pPr>
            <a:r>
              <a:rPr sz="2000" b="1">
                <a:solidFill>
                  <a:srgbClr val="002060"/>
                </a:solidFill>
                <a:latin typeface="Times New Roman"/>
                <a:ea typeface="Times New Roman"/>
                <a:cs typeface="Times New Roman"/>
              </a:rPr>
              <a:t>INSTANCE</a:t>
            </a:r>
          </a:p>
        </p:txBody>
      </p:sp>
      <p:sp>
        <p:nvSpPr>
          <p:cNvPr id="16" name="Rectangle 15">
            <a:extLst>
              <a:ext uri="{FF2B5EF4-FFF2-40B4-BE49-F238E27FC236}">
                <a16:creationId xmlns:a16="http://schemas.microsoft.com/office/drawing/2014/main" id="{7A49C45E-5B19-6B4A-656A-D9AED9F958F6}"/>
              </a:ext>
            </a:extLst>
          </p:cNvPr>
          <p:cNvSpPr>
            <a:spLocks noGrp="1"/>
          </p:cNvSpPr>
          <p:nvPr/>
        </p:nvSpPr>
        <p:spPr>
          <a:xfrm>
            <a:off x="609600" y="3524250"/>
            <a:ext cx="10934700" cy="2343150"/>
          </a:xfrm>
          <a:prstGeom prst="rect">
            <a:avLst/>
          </a:prstGeom>
          <a:solidFill>
            <a:srgbClr val="F7F7F7"/>
          </a:solidFill>
          <a:ln w="0">
            <a:noFill/>
          </a:ln>
        </p:spPr>
        <p:txBody>
          <a:bodyPr/>
          <a:lstStyle/>
          <a:p>
            <a:endParaRPr lang="en-US" sz="2000"/>
          </a:p>
        </p:txBody>
      </p:sp>
      <p:sp>
        <p:nvSpPr>
          <p:cNvPr id="17" name="Rectangle 16">
            <a:extLst>
              <a:ext uri="{FF2B5EF4-FFF2-40B4-BE49-F238E27FC236}">
                <a16:creationId xmlns:a16="http://schemas.microsoft.com/office/drawing/2014/main" id="{5606C858-C4D3-349B-9377-D39316FAD504}"/>
              </a:ext>
            </a:extLst>
          </p:cNvPr>
          <p:cNvSpPr>
            <a:spLocks noGrp="1"/>
          </p:cNvSpPr>
          <p:nvPr/>
        </p:nvSpPr>
        <p:spPr>
          <a:xfrm>
            <a:off x="790575" y="3667125"/>
            <a:ext cx="10191750" cy="295275"/>
          </a:xfrm>
          <a:prstGeom prst="rect">
            <a:avLst/>
          </a:prstGeom>
          <a:noFill/>
          <a:ln w="0">
            <a:noFill/>
          </a:ln>
        </p:spPr>
        <p:txBody>
          <a:bodyPr anchor="ctr">
            <a:noAutofit/>
          </a:bodyPr>
          <a:lstStyle>
            <a:defPPr algn="l">
              <a:defRPr sz="1346" b="1">
                <a:solidFill>
                  <a:srgbClr val="0000FF"/>
                </a:solidFill>
                <a:latin typeface="Times New Roman"/>
                <a:ea typeface="Times New Roman"/>
                <a:cs typeface="Times New Roman"/>
              </a:defRPr>
            </a:defPPr>
          </a:lstStyle>
          <a:p>
            <a:pPr algn="l">
              <a:buNone/>
              <a:defRPr sz="1346" b="1">
                <a:solidFill>
                  <a:srgbClr val="0000FF"/>
                </a:solidFill>
                <a:latin typeface="Times New Roman"/>
                <a:ea typeface="Times New Roman"/>
                <a:cs typeface="Times New Roman"/>
              </a:defRPr>
            </a:pPr>
            <a:r>
              <a:rPr sz="2000" b="1">
                <a:solidFill>
                  <a:srgbClr val="0000FF"/>
                </a:solidFill>
                <a:latin typeface="Times New Roman"/>
                <a:ea typeface="Times New Roman"/>
                <a:cs typeface="Times New Roman"/>
              </a:rPr>
              <a:t>Responsibilities</a:t>
            </a:r>
          </a:p>
        </p:txBody>
      </p:sp>
      <p:sp>
        <p:nvSpPr>
          <p:cNvPr id="18" name="Rectangle 17">
            <a:extLst>
              <a:ext uri="{FF2B5EF4-FFF2-40B4-BE49-F238E27FC236}">
                <a16:creationId xmlns:a16="http://schemas.microsoft.com/office/drawing/2014/main" id="{4FCAB25F-B6F4-E9E5-BB9E-A2BFCA3DBCB3}"/>
              </a:ext>
            </a:extLst>
          </p:cNvPr>
          <p:cNvSpPr>
            <a:spLocks noGrp="1"/>
          </p:cNvSpPr>
          <p:nvPr/>
        </p:nvSpPr>
        <p:spPr>
          <a:xfrm>
            <a:off x="790575" y="4133850"/>
            <a:ext cx="10334625" cy="1343025"/>
          </a:xfrm>
          <a:prstGeom prst="rect">
            <a:avLst/>
          </a:prstGeom>
          <a:noFill/>
          <a:ln w="0">
            <a:noFill/>
          </a:ln>
        </p:spPr>
        <p:txBody>
          <a:bodyPr anchor="ctr">
            <a:noAutofit/>
          </a:bodyPr>
          <a:lstStyle>
            <a:defPPr algn="l">
              <a:defRPr sz="1800">
                <a:solidFill>
                  <a:srgbClr val="171717"/>
                </a:solidFill>
                <a:latin typeface="Times New Roman"/>
                <a:ea typeface="Times New Roman"/>
                <a:cs typeface="Times New Roman"/>
              </a:defRPr>
            </a:defPPr>
          </a:lstStyle>
          <a:p>
            <a:pPr algn="l">
              <a:buNone/>
              <a:defRPr sz="1800" b="0">
                <a:solidFill>
                  <a:srgbClr val="171717"/>
                </a:solidFill>
                <a:latin typeface="Times New Roman"/>
                <a:ea typeface="Times New Roman"/>
                <a:cs typeface="Times New Roman"/>
              </a:defRPr>
            </a:pPr>
            <a:r>
              <a:rPr sz="2000" b="0">
                <a:solidFill>
                  <a:srgbClr val="171717"/>
                </a:solidFill>
                <a:latin typeface="Times New Roman"/>
                <a:ea typeface="Times New Roman"/>
                <a:cs typeface="Times New Roman"/>
              </a:rPr>
              <a:t>AppConfig controls construction and stores its instance. The private constructor blocks ordinary direct creation. getInstance() provides access to the shared object. Clients use its service methods. In Java, scope is per loaded class within a class loader.</a:t>
            </a:r>
          </a:p>
        </p:txBody>
      </p:sp>
    </p:spTree>
    <p:extLst>
      <p:ext uri="{BB962C8B-B14F-4D97-AF65-F5344CB8AC3E}">
        <p14:creationId xmlns:p14="http://schemas.microsoft.com/office/powerpoint/2010/main" val="2328155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7EF64591-6CA0-4E50-87DC-F33748D930E9}"/>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lang="en-US" sz="2000"/>
          </a:p>
        </p:txBody>
      </p:sp>
      <p:sp>
        <p:nvSpPr>
          <p:cNvPr id="2" name="Rectangle 1">
            <a:extLst>
              <a:ext uri="{FF2B5EF4-FFF2-40B4-BE49-F238E27FC236}">
                <a16:creationId xmlns:a16="http://schemas.microsoft.com/office/drawing/2014/main" id="{3FE8DF31-93E7-4223-9D9D-D8563CCB4F4E}"/>
              </a:ext>
            </a:extLst>
          </p:cNvPr>
          <p:cNvSpPr>
            <a:spLocks noGrp="1"/>
          </p:cNvSpPr>
          <p:nvPr/>
        </p:nvSpPr>
        <p:spPr>
          <a:xfrm>
            <a:off x="790575" y="66675"/>
            <a:ext cx="10601325" cy="495300"/>
          </a:xfrm>
          <a:prstGeom prst="rect">
            <a:avLst/>
          </a:prstGeom>
          <a:noFill/>
          <a:ln w="0">
            <a:noFill/>
          </a:ln>
        </p:spPr>
        <p:txBody>
          <a:bodyPr anchor="ctr">
            <a:noAutofit/>
          </a:bodyPr>
          <a:lstStyle>
            <a:defPPr algn="ctr">
              <a:defRPr sz="2640">
                <a:solidFill>
                  <a:srgbClr val="002060"/>
                </a:solidFill>
                <a:latin typeface="Times New Roman"/>
                <a:ea typeface="Times New Roman"/>
                <a:cs typeface="Times New Roman"/>
              </a:defRPr>
            </a:defPPr>
          </a:lstStyle>
          <a:p>
            <a:pPr algn="ctr">
              <a:buNone/>
              <a:defRPr sz="2640" b="0">
                <a:solidFill>
                  <a:srgbClr val="002060"/>
                </a:solidFill>
                <a:latin typeface="Times New Roman"/>
                <a:ea typeface="Times New Roman"/>
                <a:cs typeface="Times New Roman"/>
              </a:defRPr>
            </a:pPr>
            <a:r>
              <a:rPr sz="2640" b="0">
                <a:solidFill>
                  <a:srgbClr val="002060"/>
                </a:solidFill>
                <a:latin typeface="Times New Roman"/>
                <a:ea typeface="Times New Roman"/>
                <a:cs typeface="Times New Roman"/>
              </a:rPr>
              <a:t>How Clients Share the Instance</a:t>
            </a:r>
          </a:p>
        </p:txBody>
      </p:sp>
      <p:sp>
        <p:nvSpPr>
          <p:cNvPr id="3" name="Rectangle 2">
            <a:extLst>
              <a:ext uri="{FF2B5EF4-FFF2-40B4-BE49-F238E27FC236}">
                <a16:creationId xmlns:a16="http://schemas.microsoft.com/office/drawing/2014/main" id="{244676EF-3B8B-4B45-986E-06CD08CB9587}"/>
              </a:ext>
            </a:extLst>
          </p:cNvPr>
          <p:cNvSpPr>
            <a:spLocks noGrp="1"/>
          </p:cNvSpPr>
          <p:nvPr/>
        </p:nvSpPr>
        <p:spPr>
          <a:xfrm>
            <a:off x="552450" y="723900"/>
            <a:ext cx="4762500" cy="238125"/>
          </a:xfrm>
          <a:prstGeom prst="rect">
            <a:avLst/>
          </a:prstGeom>
          <a:noFill/>
          <a:ln w="0">
            <a:noFill/>
          </a:ln>
        </p:spPr>
        <p:txBody>
          <a:bodyPr anchor="ctr">
            <a:noAutofit/>
          </a:bodyPr>
          <a:lstStyle>
            <a:defPPr algn="l">
              <a:defRPr sz="956" b="1">
                <a:solidFill>
                  <a:srgbClr val="0000FF"/>
                </a:solidFill>
                <a:latin typeface="Times New Roman"/>
                <a:ea typeface="Times New Roman"/>
                <a:cs typeface="Times New Roman"/>
              </a:defRPr>
            </a:defPPr>
          </a:lstStyle>
          <a:p>
            <a:pPr algn="l">
              <a:buNone/>
              <a:defRPr sz="956" b="1">
                <a:solidFill>
                  <a:srgbClr val="0000FF"/>
                </a:solidFill>
                <a:latin typeface="Times New Roman"/>
                <a:ea typeface="Times New Roman"/>
                <a:cs typeface="Times New Roman"/>
              </a:defRPr>
            </a:pPr>
            <a:r>
              <a:rPr sz="2000" b="1">
                <a:solidFill>
                  <a:srgbClr val="0000FF"/>
                </a:solidFill>
                <a:latin typeface="Times New Roman"/>
                <a:ea typeface="Times New Roman"/>
                <a:cs typeface="Times New Roman"/>
              </a:rPr>
              <a:t>SINGLETON PATTERN</a:t>
            </a:r>
          </a:p>
        </p:txBody>
      </p:sp>
      <p:sp>
        <p:nvSpPr>
          <p:cNvPr id="4" name="Rectangle 3">
            <a:extLst>
              <a:ext uri="{FF2B5EF4-FFF2-40B4-BE49-F238E27FC236}">
                <a16:creationId xmlns:a16="http://schemas.microsoft.com/office/drawing/2014/main" id="{F9F658A9-F80F-48CC-8C94-18C0CCAC7091}"/>
              </a:ext>
            </a:extLst>
          </p:cNvPr>
          <p:cNvSpPr>
            <a:spLocks noGrp="1"/>
          </p:cNvSpPr>
          <p:nvPr/>
        </p:nvSpPr>
        <p:spPr>
          <a:xfrm>
            <a:off x="11258550" y="6486525"/>
            <a:ext cx="438150" cy="238125"/>
          </a:xfrm>
          <a:prstGeom prst="rect">
            <a:avLst/>
          </a:prstGeom>
          <a:noFill/>
          <a:ln w="0">
            <a:noFill/>
          </a:ln>
        </p:spPr>
        <p:txBody>
          <a:bodyPr anchor="ctr">
            <a:noAutofit/>
          </a:bodyPr>
          <a:lstStyle>
            <a:defPPr algn="l">
              <a:defRPr sz="968">
                <a:solidFill>
                  <a:srgbClr val="002060"/>
                </a:solidFill>
                <a:latin typeface="Times New Roman"/>
                <a:ea typeface="Times New Roman"/>
                <a:cs typeface="Times New Roman"/>
              </a:defRPr>
            </a:defPPr>
          </a:lstStyle>
          <a:p>
            <a:pPr algn="l">
              <a:buNone/>
              <a:defRPr sz="968" b="0">
                <a:solidFill>
                  <a:srgbClr val="002060"/>
                </a:solidFill>
                <a:latin typeface="Times New Roman"/>
                <a:ea typeface="Times New Roman"/>
                <a:cs typeface="Times New Roman"/>
              </a:defRPr>
            </a:pPr>
            <a:r>
              <a:rPr sz="2000" b="0">
                <a:solidFill>
                  <a:srgbClr val="002060"/>
                </a:solidFill>
                <a:latin typeface="Times New Roman"/>
                <a:ea typeface="Times New Roman"/>
                <a:cs typeface="Times New Roman"/>
              </a:rPr>
              <a:t>05</a:t>
            </a:r>
          </a:p>
        </p:txBody>
      </p:sp>
      <p:sp>
        <p:nvSpPr>
          <p:cNvPr id="5" name="Rectangle 4">
            <a:extLst>
              <a:ext uri="{FF2B5EF4-FFF2-40B4-BE49-F238E27FC236}">
                <a16:creationId xmlns:a16="http://schemas.microsoft.com/office/drawing/2014/main" id="{8D045ECD-A898-443F-9E82-776E0C395D87}"/>
              </a:ext>
            </a:extLst>
          </p:cNvPr>
          <p:cNvSpPr>
            <a:spLocks noGrp="1"/>
          </p:cNvSpPr>
          <p:nvPr/>
        </p:nvSpPr>
        <p:spPr>
          <a:xfrm>
            <a:off x="619125" y="1247775"/>
            <a:ext cx="10934700" cy="2333625"/>
          </a:xfrm>
          <a:prstGeom prst="rect">
            <a:avLst/>
          </a:prstGeom>
          <a:solidFill>
            <a:srgbClr val="DDEBF3"/>
          </a:solidFill>
          <a:ln w="0">
            <a:noFill/>
          </a:ln>
        </p:spPr>
        <p:txBody>
          <a:bodyPr/>
          <a:lstStyle/>
          <a:p>
            <a:endParaRPr lang="en-US" sz="2000"/>
          </a:p>
        </p:txBody>
      </p:sp>
      <p:sp>
        <p:nvSpPr>
          <p:cNvPr id="6" name="Rectangle 5">
            <a:extLst>
              <a:ext uri="{FF2B5EF4-FFF2-40B4-BE49-F238E27FC236}">
                <a16:creationId xmlns:a16="http://schemas.microsoft.com/office/drawing/2014/main" id="{261693D6-C27A-4556-90BE-01DB87E8A804}"/>
              </a:ext>
            </a:extLst>
          </p:cNvPr>
          <p:cNvSpPr>
            <a:spLocks noGrp="1"/>
          </p:cNvSpPr>
          <p:nvPr/>
        </p:nvSpPr>
        <p:spPr>
          <a:xfrm>
            <a:off x="790575" y="1390650"/>
            <a:ext cx="9906000" cy="295275"/>
          </a:xfrm>
          <a:prstGeom prst="rect">
            <a:avLst/>
          </a:prstGeom>
          <a:noFill/>
          <a:ln w="0">
            <a:noFill/>
          </a:ln>
        </p:spPr>
        <p:txBody>
          <a:bodyPr anchor="ctr">
            <a:noAutofit/>
          </a:bodyPr>
          <a:lstStyle>
            <a:defPPr algn="l">
              <a:defRPr sz="1346" b="1">
                <a:solidFill>
                  <a:srgbClr val="0000FF"/>
                </a:solidFill>
                <a:latin typeface="Times New Roman"/>
                <a:ea typeface="Times New Roman"/>
                <a:cs typeface="Times New Roman"/>
              </a:defRPr>
            </a:defPPr>
          </a:lstStyle>
          <a:p>
            <a:pPr algn="l">
              <a:buNone/>
              <a:defRPr sz="1346" b="1">
                <a:solidFill>
                  <a:srgbClr val="0000FF"/>
                </a:solidFill>
                <a:latin typeface="Times New Roman"/>
                <a:ea typeface="Times New Roman"/>
                <a:cs typeface="Times New Roman"/>
              </a:defRPr>
            </a:pPr>
            <a:r>
              <a:rPr sz="2000" b="1">
                <a:solidFill>
                  <a:srgbClr val="0000FF"/>
                </a:solidFill>
                <a:latin typeface="Times New Roman"/>
                <a:ea typeface="Times New Roman"/>
                <a:cs typeface="Times New Roman"/>
              </a:rPr>
              <a:t>Both clients obtain the same AppConfig</a:t>
            </a:r>
          </a:p>
        </p:txBody>
      </p:sp>
      <p:sp>
        <p:nvSpPr>
          <p:cNvPr id="7" name="Rectangle 6">
            <a:extLst>
              <a:ext uri="{FF2B5EF4-FFF2-40B4-BE49-F238E27FC236}">
                <a16:creationId xmlns:a16="http://schemas.microsoft.com/office/drawing/2014/main" id="{D5C86D02-9649-490E-986B-20643A55EC40}"/>
              </a:ext>
            </a:extLst>
          </p:cNvPr>
          <p:cNvSpPr>
            <a:spLocks noGrp="1"/>
          </p:cNvSpPr>
          <p:nvPr/>
        </p:nvSpPr>
        <p:spPr>
          <a:xfrm>
            <a:off x="809625" y="2124075"/>
            <a:ext cx="2524125" cy="981075"/>
          </a:xfrm>
          <a:prstGeom prst="rect">
            <a:avLst/>
          </a:prstGeom>
          <a:solidFill>
            <a:srgbClr val="DDF2D5"/>
          </a:solidFill>
          <a:ln w="9525">
            <a:solidFill>
              <a:srgbClr val="002060"/>
            </a:solidFill>
          </a:ln>
        </p:spPr>
        <p:txBody>
          <a:bodyPr/>
          <a:lstStyle/>
          <a:p>
            <a:endParaRPr lang="en-US" sz="2000"/>
          </a:p>
        </p:txBody>
      </p:sp>
      <p:sp>
        <p:nvSpPr>
          <p:cNvPr id="8" name="Rectangle 7">
            <a:extLst>
              <a:ext uri="{FF2B5EF4-FFF2-40B4-BE49-F238E27FC236}">
                <a16:creationId xmlns:a16="http://schemas.microsoft.com/office/drawing/2014/main" id="{8CA02F6E-1BB6-495E-8464-2370ED8695B0}"/>
              </a:ext>
            </a:extLst>
          </p:cNvPr>
          <p:cNvSpPr>
            <a:spLocks noGrp="1"/>
          </p:cNvSpPr>
          <p:nvPr/>
        </p:nvSpPr>
        <p:spPr>
          <a:xfrm>
            <a:off x="885825" y="2181225"/>
            <a:ext cx="2371725" cy="866775"/>
          </a:xfrm>
          <a:prstGeom prst="rect">
            <a:avLst/>
          </a:prstGeom>
          <a:noFill/>
          <a:ln w="0">
            <a:noFill/>
          </a:ln>
        </p:spPr>
        <p:txBody>
          <a:bodyPr anchor="ctr">
            <a:noAutofit/>
          </a:bodyPr>
          <a:lstStyle>
            <a:defPPr algn="ctr">
              <a:defRPr sz="1575" b="1">
                <a:solidFill>
                  <a:srgbClr val="002060"/>
                </a:solidFill>
                <a:latin typeface="Times New Roman"/>
                <a:ea typeface="Times New Roman"/>
                <a:cs typeface="Times New Roman"/>
              </a:defRPr>
            </a:defPPr>
          </a:lstStyle>
          <a:p>
            <a:pPr algn="ctr">
              <a:buNone/>
              <a:defRPr sz="1575" b="1">
                <a:solidFill>
                  <a:srgbClr val="002060"/>
                </a:solidFill>
                <a:latin typeface="Times New Roman"/>
                <a:ea typeface="Times New Roman"/>
                <a:cs typeface="Times New Roman"/>
              </a:defRPr>
            </a:pPr>
            <a:r>
              <a:rPr sz="2000" b="1">
                <a:solidFill>
                  <a:srgbClr val="002060"/>
                </a:solidFill>
                <a:latin typeface="Times New Roman"/>
                <a:ea typeface="Times New Roman"/>
                <a:cs typeface="Times New Roman"/>
              </a:rPr>
              <a:t>Client A</a:t>
            </a:r>
          </a:p>
          <a:p>
            <a:pPr algn="ctr">
              <a:buNone/>
              <a:defRPr sz="1575" b="1">
                <a:solidFill>
                  <a:srgbClr val="002060"/>
                </a:solidFill>
                <a:latin typeface="Times New Roman"/>
                <a:ea typeface="Times New Roman"/>
                <a:cs typeface="Times New Roman"/>
              </a:defRPr>
            </a:pPr>
            <a:r>
              <a:rPr sz="2000" b="1">
                <a:solidFill>
                  <a:srgbClr val="002060"/>
                </a:solidFill>
                <a:latin typeface="Times New Roman"/>
                <a:ea typeface="Times New Roman"/>
                <a:cs typeface="Times New Roman"/>
              </a:rPr>
              <a:t>getInstance()</a:t>
            </a:r>
          </a:p>
        </p:txBody>
      </p:sp>
      <p:sp>
        <p:nvSpPr>
          <p:cNvPr id="9" name="Rectangle 8">
            <a:extLst>
              <a:ext uri="{FF2B5EF4-FFF2-40B4-BE49-F238E27FC236}">
                <a16:creationId xmlns:a16="http://schemas.microsoft.com/office/drawing/2014/main" id="{409B65C0-7CED-4FBC-BAE3-DB993BC33AA4}"/>
              </a:ext>
            </a:extLst>
          </p:cNvPr>
          <p:cNvSpPr>
            <a:spLocks noGrp="1"/>
          </p:cNvSpPr>
          <p:nvPr/>
        </p:nvSpPr>
        <p:spPr>
          <a:xfrm>
            <a:off x="4695825" y="2124075"/>
            <a:ext cx="2628900" cy="981075"/>
          </a:xfrm>
          <a:prstGeom prst="rect">
            <a:avLst/>
          </a:prstGeom>
          <a:solidFill>
            <a:srgbClr val="F6C6AD"/>
          </a:solidFill>
          <a:ln w="9525">
            <a:solidFill>
              <a:srgbClr val="002060"/>
            </a:solidFill>
          </a:ln>
        </p:spPr>
        <p:txBody>
          <a:bodyPr/>
          <a:lstStyle/>
          <a:p>
            <a:endParaRPr lang="en-US" sz="2000"/>
          </a:p>
        </p:txBody>
      </p:sp>
      <p:sp>
        <p:nvSpPr>
          <p:cNvPr id="10" name="Rectangle 9">
            <a:extLst>
              <a:ext uri="{FF2B5EF4-FFF2-40B4-BE49-F238E27FC236}">
                <a16:creationId xmlns:a16="http://schemas.microsoft.com/office/drawing/2014/main" id="{12E0DDB3-DC24-4928-BF6D-230B4FC8C072}"/>
              </a:ext>
            </a:extLst>
          </p:cNvPr>
          <p:cNvSpPr>
            <a:spLocks noGrp="1"/>
          </p:cNvSpPr>
          <p:nvPr/>
        </p:nvSpPr>
        <p:spPr>
          <a:xfrm>
            <a:off x="4772025" y="2181225"/>
            <a:ext cx="2476500" cy="866775"/>
          </a:xfrm>
          <a:prstGeom prst="rect">
            <a:avLst/>
          </a:prstGeom>
          <a:noFill/>
          <a:ln w="0">
            <a:noFill/>
          </a:ln>
        </p:spPr>
        <p:txBody>
          <a:bodyPr anchor="ctr">
            <a:noAutofit/>
          </a:bodyPr>
          <a:lstStyle>
            <a:defPPr algn="ctr">
              <a:defRPr sz="1575" b="1">
                <a:solidFill>
                  <a:srgbClr val="002060"/>
                </a:solidFill>
                <a:latin typeface="Times New Roman"/>
                <a:ea typeface="Times New Roman"/>
                <a:cs typeface="Times New Roman"/>
              </a:defRPr>
            </a:defPPr>
          </a:lstStyle>
          <a:p>
            <a:pPr algn="ctr">
              <a:buNone/>
              <a:defRPr sz="1575" b="1">
                <a:solidFill>
                  <a:srgbClr val="002060"/>
                </a:solidFill>
                <a:latin typeface="Times New Roman"/>
                <a:ea typeface="Times New Roman"/>
                <a:cs typeface="Times New Roman"/>
              </a:defRPr>
            </a:pPr>
            <a:r>
              <a:rPr sz="2000" b="1">
                <a:solidFill>
                  <a:srgbClr val="002060"/>
                </a:solidFill>
                <a:latin typeface="Times New Roman"/>
                <a:ea typeface="Times New Roman"/>
                <a:cs typeface="Times New Roman"/>
              </a:rPr>
              <a:t>AppConfig</a:t>
            </a:r>
          </a:p>
          <a:p>
            <a:pPr algn="ctr">
              <a:buNone/>
              <a:defRPr sz="1575" b="1">
                <a:solidFill>
                  <a:srgbClr val="002060"/>
                </a:solidFill>
                <a:latin typeface="Times New Roman"/>
                <a:ea typeface="Times New Roman"/>
                <a:cs typeface="Times New Roman"/>
              </a:defRPr>
            </a:pPr>
            <a:r>
              <a:rPr sz="2000" b="1">
                <a:solidFill>
                  <a:srgbClr val="002060"/>
                </a:solidFill>
                <a:latin typeface="Times New Roman"/>
                <a:ea typeface="Times New Roman"/>
                <a:cs typeface="Times New Roman"/>
              </a:rPr>
              <a:t>shared instance</a:t>
            </a:r>
          </a:p>
        </p:txBody>
      </p:sp>
      <p:sp>
        <p:nvSpPr>
          <p:cNvPr id="11" name="Rectangle 10">
            <a:extLst>
              <a:ext uri="{FF2B5EF4-FFF2-40B4-BE49-F238E27FC236}">
                <a16:creationId xmlns:a16="http://schemas.microsoft.com/office/drawing/2014/main" id="{5852A54A-ACAF-4911-A286-1280B14ED075}"/>
              </a:ext>
            </a:extLst>
          </p:cNvPr>
          <p:cNvSpPr>
            <a:spLocks noGrp="1"/>
          </p:cNvSpPr>
          <p:nvPr/>
        </p:nvSpPr>
        <p:spPr>
          <a:xfrm>
            <a:off x="8667750" y="2124075"/>
            <a:ext cx="2533650" cy="981075"/>
          </a:xfrm>
          <a:prstGeom prst="rect">
            <a:avLst/>
          </a:prstGeom>
          <a:solidFill>
            <a:srgbClr val="DDF2D5"/>
          </a:solidFill>
          <a:ln w="9525">
            <a:solidFill>
              <a:srgbClr val="002060"/>
            </a:solidFill>
          </a:ln>
        </p:spPr>
        <p:txBody>
          <a:bodyPr/>
          <a:lstStyle/>
          <a:p>
            <a:endParaRPr lang="en-US" sz="2000"/>
          </a:p>
        </p:txBody>
      </p:sp>
      <p:sp>
        <p:nvSpPr>
          <p:cNvPr id="12" name="Rectangle 11">
            <a:extLst>
              <a:ext uri="{FF2B5EF4-FFF2-40B4-BE49-F238E27FC236}">
                <a16:creationId xmlns:a16="http://schemas.microsoft.com/office/drawing/2014/main" id="{0B309498-5480-4042-A7C9-1AEC88CCE166}"/>
              </a:ext>
            </a:extLst>
          </p:cNvPr>
          <p:cNvSpPr>
            <a:spLocks noGrp="1"/>
          </p:cNvSpPr>
          <p:nvPr/>
        </p:nvSpPr>
        <p:spPr>
          <a:xfrm>
            <a:off x="8743950" y="2181225"/>
            <a:ext cx="2381250" cy="866775"/>
          </a:xfrm>
          <a:prstGeom prst="rect">
            <a:avLst/>
          </a:prstGeom>
          <a:noFill/>
          <a:ln w="0">
            <a:noFill/>
          </a:ln>
        </p:spPr>
        <p:txBody>
          <a:bodyPr anchor="ctr">
            <a:noAutofit/>
          </a:bodyPr>
          <a:lstStyle>
            <a:defPPr algn="ctr">
              <a:defRPr sz="1575" b="1">
                <a:solidFill>
                  <a:srgbClr val="002060"/>
                </a:solidFill>
                <a:latin typeface="Times New Roman"/>
                <a:ea typeface="Times New Roman"/>
                <a:cs typeface="Times New Roman"/>
              </a:defRPr>
            </a:defPPr>
          </a:lstStyle>
          <a:p>
            <a:pPr algn="ctr">
              <a:buNone/>
              <a:defRPr sz="1575" b="1">
                <a:solidFill>
                  <a:srgbClr val="002060"/>
                </a:solidFill>
                <a:latin typeface="Times New Roman"/>
                <a:ea typeface="Times New Roman"/>
                <a:cs typeface="Times New Roman"/>
              </a:defRPr>
            </a:pPr>
            <a:r>
              <a:rPr sz="2000" b="1">
                <a:solidFill>
                  <a:srgbClr val="002060"/>
                </a:solidFill>
                <a:latin typeface="Times New Roman"/>
                <a:ea typeface="Times New Roman"/>
                <a:cs typeface="Times New Roman"/>
              </a:rPr>
              <a:t>Client B</a:t>
            </a:r>
          </a:p>
          <a:p>
            <a:pPr algn="ctr">
              <a:buNone/>
              <a:defRPr sz="1575" b="1">
                <a:solidFill>
                  <a:srgbClr val="002060"/>
                </a:solidFill>
                <a:latin typeface="Times New Roman"/>
                <a:ea typeface="Times New Roman"/>
                <a:cs typeface="Times New Roman"/>
              </a:defRPr>
            </a:pPr>
            <a:r>
              <a:rPr sz="2000" b="1">
                <a:solidFill>
                  <a:srgbClr val="002060"/>
                </a:solidFill>
                <a:latin typeface="Times New Roman"/>
                <a:ea typeface="Times New Roman"/>
                <a:cs typeface="Times New Roman"/>
              </a:rPr>
              <a:t>getInstance()</a:t>
            </a:r>
          </a:p>
        </p:txBody>
      </p:sp>
      <p:sp>
        <p:nvSpPr>
          <p:cNvPr id="13" name="Rectangle 12">
            <a:extLst>
              <a:ext uri="{FF2B5EF4-FFF2-40B4-BE49-F238E27FC236}">
                <a16:creationId xmlns:a16="http://schemas.microsoft.com/office/drawing/2014/main" id="{7E0AFCF2-D109-4691-9967-A499ACCDCBF3}"/>
              </a:ext>
            </a:extLst>
          </p:cNvPr>
          <p:cNvSpPr>
            <a:spLocks noGrp="1"/>
          </p:cNvSpPr>
          <p:nvPr/>
        </p:nvSpPr>
        <p:spPr>
          <a:xfrm>
            <a:off x="3333750" y="2600325"/>
            <a:ext cx="1362075" cy="28575"/>
          </a:xfrm>
          <a:prstGeom prst="rect">
            <a:avLst/>
          </a:prstGeom>
          <a:solidFill>
            <a:srgbClr val="002060"/>
          </a:solidFill>
          <a:ln w="0">
            <a:noFill/>
          </a:ln>
        </p:spPr>
        <p:txBody>
          <a:bodyPr/>
          <a:lstStyle/>
          <a:p>
            <a:endParaRPr lang="en-US" sz="2000"/>
          </a:p>
        </p:txBody>
      </p:sp>
      <p:sp>
        <p:nvSpPr>
          <p:cNvPr id="14" name="Rectangle 13">
            <a:extLst>
              <a:ext uri="{FF2B5EF4-FFF2-40B4-BE49-F238E27FC236}">
                <a16:creationId xmlns:a16="http://schemas.microsoft.com/office/drawing/2014/main" id="{E4333839-9DD9-4B84-82D2-ABA14D4C8D4D}"/>
              </a:ext>
            </a:extLst>
          </p:cNvPr>
          <p:cNvSpPr>
            <a:spLocks noGrp="1"/>
          </p:cNvSpPr>
          <p:nvPr/>
        </p:nvSpPr>
        <p:spPr>
          <a:xfrm>
            <a:off x="7324725" y="2600325"/>
            <a:ext cx="1343025" cy="28575"/>
          </a:xfrm>
          <a:prstGeom prst="rect">
            <a:avLst/>
          </a:prstGeom>
          <a:solidFill>
            <a:srgbClr val="002060"/>
          </a:solidFill>
          <a:ln w="0">
            <a:noFill/>
          </a:ln>
        </p:spPr>
        <p:txBody>
          <a:bodyPr/>
          <a:lstStyle/>
          <a:p>
            <a:endParaRPr lang="en-US" sz="2000"/>
          </a:p>
        </p:txBody>
      </p:sp>
      <p:sp>
        <p:nvSpPr>
          <p:cNvPr id="15" name="Rectangle 14">
            <a:extLst>
              <a:ext uri="{FF2B5EF4-FFF2-40B4-BE49-F238E27FC236}">
                <a16:creationId xmlns:a16="http://schemas.microsoft.com/office/drawing/2014/main" id="{DB56CED1-E2D7-43D7-BDBE-FD565C5ACA75}"/>
              </a:ext>
            </a:extLst>
          </p:cNvPr>
          <p:cNvSpPr>
            <a:spLocks noGrp="1"/>
          </p:cNvSpPr>
          <p:nvPr/>
        </p:nvSpPr>
        <p:spPr>
          <a:xfrm>
            <a:off x="619125" y="3867150"/>
            <a:ext cx="5248275" cy="2019300"/>
          </a:xfrm>
          <a:prstGeom prst="rect">
            <a:avLst/>
          </a:prstGeom>
          <a:solidFill>
            <a:srgbClr val="DDF2D5"/>
          </a:solidFill>
          <a:ln w="0">
            <a:noFill/>
          </a:ln>
        </p:spPr>
        <p:txBody>
          <a:bodyPr/>
          <a:lstStyle/>
          <a:p>
            <a:endParaRPr lang="en-US" sz="2000"/>
          </a:p>
        </p:txBody>
      </p:sp>
      <p:sp>
        <p:nvSpPr>
          <p:cNvPr id="16" name="Rectangle 15">
            <a:extLst>
              <a:ext uri="{FF2B5EF4-FFF2-40B4-BE49-F238E27FC236}">
                <a16:creationId xmlns:a16="http://schemas.microsoft.com/office/drawing/2014/main" id="{AAECB8F7-6AF3-4BE6-985B-B4D2F76AEA8E}"/>
              </a:ext>
            </a:extLst>
          </p:cNvPr>
          <p:cNvSpPr>
            <a:spLocks noGrp="1"/>
          </p:cNvSpPr>
          <p:nvPr/>
        </p:nvSpPr>
        <p:spPr>
          <a:xfrm>
            <a:off x="781050" y="4019550"/>
            <a:ext cx="4857750" cy="295275"/>
          </a:xfrm>
          <a:prstGeom prst="rect">
            <a:avLst/>
          </a:prstGeom>
          <a:noFill/>
          <a:ln w="0">
            <a:noFill/>
          </a:ln>
        </p:spPr>
        <p:txBody>
          <a:bodyPr anchor="ctr">
            <a:noAutofit/>
          </a:bodyPr>
          <a:lstStyle>
            <a:defPPr algn="l">
              <a:defRPr sz="1346" b="1">
                <a:solidFill>
                  <a:srgbClr val="0000FF"/>
                </a:solidFill>
                <a:latin typeface="Times New Roman"/>
                <a:ea typeface="Times New Roman"/>
                <a:cs typeface="Times New Roman"/>
              </a:defRPr>
            </a:defPPr>
          </a:lstStyle>
          <a:p>
            <a:pPr algn="l">
              <a:buNone/>
              <a:defRPr sz="1346" b="1">
                <a:solidFill>
                  <a:srgbClr val="0000FF"/>
                </a:solidFill>
                <a:latin typeface="Times New Roman"/>
                <a:ea typeface="Times New Roman"/>
                <a:cs typeface="Times New Roman"/>
              </a:defRPr>
            </a:pPr>
            <a:r>
              <a:rPr sz="2000" b="1">
                <a:solidFill>
                  <a:srgbClr val="0000FF"/>
                </a:solidFill>
                <a:latin typeface="Times New Roman"/>
                <a:ea typeface="Times New Roman"/>
                <a:cs typeface="Times New Roman"/>
              </a:rPr>
              <a:t>Shared state</a:t>
            </a:r>
          </a:p>
        </p:txBody>
      </p:sp>
      <p:sp>
        <p:nvSpPr>
          <p:cNvPr id="17" name="Rectangle 16">
            <a:extLst>
              <a:ext uri="{FF2B5EF4-FFF2-40B4-BE49-F238E27FC236}">
                <a16:creationId xmlns:a16="http://schemas.microsoft.com/office/drawing/2014/main" id="{1838D69D-543A-4BE4-85C3-895A19EEA396}"/>
              </a:ext>
            </a:extLst>
          </p:cNvPr>
          <p:cNvSpPr>
            <a:spLocks noGrp="1"/>
          </p:cNvSpPr>
          <p:nvPr/>
        </p:nvSpPr>
        <p:spPr>
          <a:xfrm>
            <a:off x="781050" y="4486275"/>
            <a:ext cx="4819650" cy="1095375"/>
          </a:xfrm>
          <a:prstGeom prst="rect">
            <a:avLst/>
          </a:prstGeom>
          <a:noFill/>
          <a:ln w="0">
            <a:noFill/>
          </a:ln>
        </p:spPr>
        <p:txBody>
          <a:bodyPr anchor="ctr">
            <a:noAutofit/>
          </a:bodyPr>
          <a:lstStyle>
            <a:defPPr algn="l">
              <a:defRPr sz="1800">
                <a:solidFill>
                  <a:srgbClr val="171717"/>
                </a:solidFill>
                <a:latin typeface="Times New Roman"/>
                <a:ea typeface="Times New Roman"/>
                <a:cs typeface="Times New Roman"/>
              </a:defRPr>
            </a:defPPr>
          </a:lstStyle>
          <a:p>
            <a:pPr algn="l">
              <a:buNone/>
              <a:defRPr sz="1800" b="0">
                <a:solidFill>
                  <a:srgbClr val="171717"/>
                </a:solidFill>
                <a:latin typeface="Times New Roman"/>
                <a:ea typeface="Times New Roman"/>
                <a:cs typeface="Times New Roman"/>
              </a:defRPr>
            </a:pPr>
            <a:r>
              <a:rPr sz="2000" b="0">
                <a:solidFill>
                  <a:srgbClr val="171717"/>
                </a:solidFill>
                <a:latin typeface="Times New Roman"/>
                <a:ea typeface="Times New Roman"/>
                <a:cs typeface="Times New Roman"/>
              </a:rPr>
              <a:t>Client A sets the theme to Dark. Client B reads Dark because both references point to the same object.</a:t>
            </a:r>
          </a:p>
        </p:txBody>
      </p:sp>
      <p:sp>
        <p:nvSpPr>
          <p:cNvPr id="18" name="Rectangle 17">
            <a:extLst>
              <a:ext uri="{FF2B5EF4-FFF2-40B4-BE49-F238E27FC236}">
                <a16:creationId xmlns:a16="http://schemas.microsoft.com/office/drawing/2014/main" id="{887F762A-2A13-42E8-AE9E-FB1D66849E16}"/>
              </a:ext>
            </a:extLst>
          </p:cNvPr>
          <p:cNvSpPr>
            <a:spLocks noGrp="1"/>
          </p:cNvSpPr>
          <p:nvPr/>
        </p:nvSpPr>
        <p:spPr>
          <a:xfrm>
            <a:off x="6124575" y="3867150"/>
            <a:ext cx="5429250" cy="2019300"/>
          </a:xfrm>
          <a:prstGeom prst="rect">
            <a:avLst/>
          </a:prstGeom>
          <a:solidFill>
            <a:srgbClr val="F6C6AD"/>
          </a:solidFill>
          <a:ln w="0">
            <a:noFill/>
          </a:ln>
        </p:spPr>
        <p:txBody>
          <a:bodyPr/>
          <a:lstStyle/>
          <a:p>
            <a:endParaRPr lang="en-US" sz="2000"/>
          </a:p>
        </p:txBody>
      </p:sp>
      <p:sp>
        <p:nvSpPr>
          <p:cNvPr id="19" name="Rectangle 18">
            <a:extLst>
              <a:ext uri="{FF2B5EF4-FFF2-40B4-BE49-F238E27FC236}">
                <a16:creationId xmlns:a16="http://schemas.microsoft.com/office/drawing/2014/main" id="{5E980423-4CC9-468B-A587-F8F1A65F0999}"/>
              </a:ext>
            </a:extLst>
          </p:cNvPr>
          <p:cNvSpPr>
            <a:spLocks noGrp="1"/>
          </p:cNvSpPr>
          <p:nvPr/>
        </p:nvSpPr>
        <p:spPr>
          <a:xfrm>
            <a:off x="6286500" y="4019550"/>
            <a:ext cx="4962525" cy="304800"/>
          </a:xfrm>
          <a:prstGeom prst="rect">
            <a:avLst/>
          </a:prstGeom>
          <a:noFill/>
          <a:ln w="0">
            <a:noFill/>
          </a:ln>
        </p:spPr>
        <p:txBody>
          <a:bodyPr anchor="ctr">
            <a:noAutofit/>
          </a:bodyPr>
          <a:lstStyle>
            <a:defPPr algn="l">
              <a:defRPr sz="1397" b="1">
                <a:solidFill>
                  <a:srgbClr val="C00000"/>
                </a:solidFill>
                <a:latin typeface="Times New Roman"/>
                <a:ea typeface="Times New Roman"/>
                <a:cs typeface="Times New Roman"/>
              </a:defRPr>
            </a:defPPr>
          </a:lstStyle>
          <a:p>
            <a:pPr algn="l">
              <a:buNone/>
              <a:defRPr sz="1397" b="1">
                <a:solidFill>
                  <a:srgbClr val="C00000"/>
                </a:solidFill>
                <a:latin typeface="Times New Roman"/>
                <a:ea typeface="Times New Roman"/>
                <a:cs typeface="Times New Roman"/>
              </a:defRPr>
            </a:pPr>
            <a:r>
              <a:rPr sz="2000" b="1">
                <a:solidFill>
                  <a:srgbClr val="C00000"/>
                </a:solidFill>
                <a:latin typeface="Times New Roman"/>
                <a:ea typeface="Times New Roman"/>
                <a:cs typeface="Times New Roman"/>
              </a:rPr>
              <a:t>Thread safety</a:t>
            </a:r>
          </a:p>
        </p:txBody>
      </p:sp>
      <p:sp>
        <p:nvSpPr>
          <p:cNvPr id="20" name="Rectangle 19">
            <a:extLst>
              <a:ext uri="{FF2B5EF4-FFF2-40B4-BE49-F238E27FC236}">
                <a16:creationId xmlns:a16="http://schemas.microsoft.com/office/drawing/2014/main" id="{74D11CF9-6E48-4B15-B190-656865115DBE}"/>
              </a:ext>
            </a:extLst>
          </p:cNvPr>
          <p:cNvSpPr>
            <a:spLocks noGrp="1"/>
          </p:cNvSpPr>
          <p:nvPr/>
        </p:nvSpPr>
        <p:spPr>
          <a:xfrm>
            <a:off x="6286500" y="4486275"/>
            <a:ext cx="4962525" cy="1095375"/>
          </a:xfrm>
          <a:prstGeom prst="rect">
            <a:avLst/>
          </a:prstGeom>
          <a:noFill/>
          <a:ln w="0">
            <a:noFill/>
          </a:ln>
        </p:spPr>
        <p:txBody>
          <a:bodyPr anchor="ctr">
            <a:noAutofit/>
          </a:bodyPr>
          <a:lstStyle>
            <a:defPPr algn="l">
              <a:defRPr sz="1800">
                <a:solidFill>
                  <a:srgbClr val="171717"/>
                </a:solidFill>
                <a:latin typeface="Times New Roman"/>
                <a:ea typeface="Times New Roman"/>
                <a:cs typeface="Times New Roman"/>
              </a:defRPr>
            </a:defPPr>
          </a:lstStyle>
          <a:p>
            <a:pPr algn="l">
              <a:buNone/>
              <a:defRPr sz="1800" b="0">
                <a:solidFill>
                  <a:srgbClr val="171717"/>
                </a:solidFill>
                <a:latin typeface="Times New Roman"/>
                <a:ea typeface="Times New Roman"/>
                <a:cs typeface="Times New Roman"/>
              </a:defRPr>
            </a:pPr>
            <a:r>
              <a:rPr sz="2000" b="0">
                <a:solidFill>
                  <a:srgbClr val="171717"/>
                </a:solidFill>
                <a:latin typeface="Times New Roman"/>
                <a:ea typeface="Times New Roman"/>
                <a:cs typeface="Times New Roman"/>
              </a:rPr>
              <a:t>Safe instance initialization does not make all service methods safe. Synchronization protects mutable theme access in this example.</a:t>
            </a:r>
          </a:p>
        </p:txBody>
      </p:sp>
    </p:spTree>
    <p:extLst>
      <p:ext uri="{BB962C8B-B14F-4D97-AF65-F5344CB8AC3E}">
        <p14:creationId xmlns:p14="http://schemas.microsoft.com/office/powerpoint/2010/main" val="2095791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0207529-0B2B-4E38-9E8C-50B5E786B309}"/>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lang="en-US" sz="1600"/>
          </a:p>
        </p:txBody>
      </p:sp>
      <p:sp>
        <p:nvSpPr>
          <p:cNvPr id="2" name="Rectangle 1">
            <a:extLst>
              <a:ext uri="{FF2B5EF4-FFF2-40B4-BE49-F238E27FC236}">
                <a16:creationId xmlns:a16="http://schemas.microsoft.com/office/drawing/2014/main" id="{333AD7B4-835F-408D-A1B0-EAD2797EB32B}"/>
              </a:ext>
            </a:extLst>
          </p:cNvPr>
          <p:cNvSpPr>
            <a:spLocks noGrp="1"/>
          </p:cNvSpPr>
          <p:nvPr/>
        </p:nvSpPr>
        <p:spPr>
          <a:xfrm>
            <a:off x="790575" y="66675"/>
            <a:ext cx="10601325" cy="495300"/>
          </a:xfrm>
          <a:prstGeom prst="rect">
            <a:avLst/>
          </a:prstGeom>
          <a:noFill/>
          <a:ln w="0">
            <a:noFill/>
          </a:ln>
        </p:spPr>
        <p:txBody>
          <a:bodyPr anchor="ctr">
            <a:noAutofit/>
          </a:bodyPr>
          <a:lstStyle>
            <a:defPPr algn="ctr">
              <a:defRPr sz="2640">
                <a:solidFill>
                  <a:srgbClr val="002060"/>
                </a:solidFill>
                <a:latin typeface="Times New Roman"/>
                <a:ea typeface="Times New Roman"/>
                <a:cs typeface="Times New Roman"/>
              </a:defRPr>
            </a:defPPr>
          </a:lstStyle>
          <a:p>
            <a:pPr algn="ctr">
              <a:buNone/>
              <a:defRPr sz="2640" b="0">
                <a:solidFill>
                  <a:srgbClr val="002060"/>
                </a:solidFill>
                <a:latin typeface="Times New Roman"/>
                <a:ea typeface="Times New Roman"/>
                <a:cs typeface="Times New Roman"/>
              </a:defRPr>
            </a:pPr>
            <a:r>
              <a:rPr b="0">
                <a:solidFill>
                  <a:srgbClr val="002060"/>
                </a:solidFill>
                <a:latin typeface="Times New Roman"/>
                <a:ea typeface="Times New Roman"/>
                <a:cs typeface="Times New Roman"/>
              </a:rPr>
              <a:t>Java: An Eager Singleton</a:t>
            </a:r>
          </a:p>
        </p:txBody>
      </p:sp>
      <p:sp>
        <p:nvSpPr>
          <p:cNvPr id="3" name="Rectangle 2">
            <a:extLst>
              <a:ext uri="{FF2B5EF4-FFF2-40B4-BE49-F238E27FC236}">
                <a16:creationId xmlns:a16="http://schemas.microsoft.com/office/drawing/2014/main" id="{43120B23-9E64-4711-BA97-4A8871ED83BF}"/>
              </a:ext>
            </a:extLst>
          </p:cNvPr>
          <p:cNvSpPr>
            <a:spLocks noGrp="1"/>
          </p:cNvSpPr>
          <p:nvPr/>
        </p:nvSpPr>
        <p:spPr>
          <a:xfrm>
            <a:off x="552450" y="723900"/>
            <a:ext cx="4762500" cy="238125"/>
          </a:xfrm>
          <a:prstGeom prst="rect">
            <a:avLst/>
          </a:prstGeom>
          <a:noFill/>
          <a:ln w="0">
            <a:noFill/>
          </a:ln>
        </p:spPr>
        <p:txBody>
          <a:bodyPr anchor="ctr">
            <a:noAutofit/>
          </a:bodyPr>
          <a:lstStyle>
            <a:defPPr algn="l">
              <a:defRPr sz="956" b="1">
                <a:solidFill>
                  <a:srgbClr val="0000FF"/>
                </a:solidFill>
                <a:latin typeface="Times New Roman"/>
                <a:ea typeface="Times New Roman"/>
                <a:cs typeface="Times New Roman"/>
              </a:defRPr>
            </a:defPPr>
          </a:lstStyle>
          <a:p>
            <a:pPr algn="l">
              <a:buNone/>
              <a:defRPr sz="956" b="1">
                <a:solidFill>
                  <a:srgbClr val="0000FF"/>
                </a:solidFill>
                <a:latin typeface="Times New Roman"/>
                <a:ea typeface="Times New Roman"/>
                <a:cs typeface="Times New Roman"/>
              </a:defRPr>
            </a:pPr>
            <a:r>
              <a:rPr sz="1600" b="1">
                <a:solidFill>
                  <a:srgbClr val="0000FF"/>
                </a:solidFill>
                <a:latin typeface="Times New Roman"/>
                <a:ea typeface="Times New Roman"/>
                <a:cs typeface="Times New Roman"/>
              </a:rPr>
              <a:t>SINGLETON PATTERN</a:t>
            </a:r>
          </a:p>
        </p:txBody>
      </p:sp>
      <p:sp>
        <p:nvSpPr>
          <p:cNvPr id="4" name="Rectangle 3">
            <a:extLst>
              <a:ext uri="{FF2B5EF4-FFF2-40B4-BE49-F238E27FC236}">
                <a16:creationId xmlns:a16="http://schemas.microsoft.com/office/drawing/2014/main" id="{AD000A15-C680-4916-A83B-1F6FF6D3592A}"/>
              </a:ext>
            </a:extLst>
          </p:cNvPr>
          <p:cNvSpPr>
            <a:spLocks noGrp="1"/>
          </p:cNvSpPr>
          <p:nvPr/>
        </p:nvSpPr>
        <p:spPr>
          <a:xfrm>
            <a:off x="11258550" y="6486525"/>
            <a:ext cx="438150" cy="238125"/>
          </a:xfrm>
          <a:prstGeom prst="rect">
            <a:avLst/>
          </a:prstGeom>
          <a:noFill/>
          <a:ln w="0">
            <a:noFill/>
          </a:ln>
        </p:spPr>
        <p:txBody>
          <a:bodyPr anchor="ctr">
            <a:noAutofit/>
          </a:bodyPr>
          <a:lstStyle>
            <a:defPPr algn="l">
              <a:defRPr sz="968">
                <a:solidFill>
                  <a:srgbClr val="002060"/>
                </a:solidFill>
                <a:latin typeface="Times New Roman"/>
                <a:ea typeface="Times New Roman"/>
                <a:cs typeface="Times New Roman"/>
              </a:defRPr>
            </a:defPPr>
          </a:lstStyle>
          <a:p>
            <a:pPr algn="l">
              <a:buNone/>
              <a:defRPr sz="968" b="0">
                <a:solidFill>
                  <a:srgbClr val="002060"/>
                </a:solidFill>
                <a:latin typeface="Times New Roman"/>
                <a:ea typeface="Times New Roman"/>
                <a:cs typeface="Times New Roman"/>
              </a:defRPr>
            </a:pPr>
            <a:r>
              <a:rPr sz="1600" b="0">
                <a:solidFill>
                  <a:srgbClr val="002060"/>
                </a:solidFill>
                <a:latin typeface="Times New Roman"/>
                <a:ea typeface="Times New Roman"/>
                <a:cs typeface="Times New Roman"/>
              </a:rPr>
              <a:t>06</a:t>
            </a:r>
          </a:p>
        </p:txBody>
      </p:sp>
      <p:sp>
        <p:nvSpPr>
          <p:cNvPr id="5" name="Rectangle 4">
            <a:extLst>
              <a:ext uri="{FF2B5EF4-FFF2-40B4-BE49-F238E27FC236}">
                <a16:creationId xmlns:a16="http://schemas.microsoft.com/office/drawing/2014/main" id="{EF01AF97-CB72-4A8A-B8CF-8B8E9EEB966C}"/>
              </a:ext>
            </a:extLst>
          </p:cNvPr>
          <p:cNvSpPr>
            <a:spLocks noGrp="1"/>
          </p:cNvSpPr>
          <p:nvPr/>
        </p:nvSpPr>
        <p:spPr>
          <a:xfrm>
            <a:off x="658957" y="1260764"/>
            <a:ext cx="5438775" cy="4514850"/>
          </a:xfrm>
          <a:prstGeom prst="rect">
            <a:avLst/>
          </a:prstGeom>
          <a:solidFill>
            <a:srgbClr val="F8FAFC"/>
          </a:solidFill>
          <a:ln w="9525">
            <a:solidFill>
              <a:srgbClr val="002060"/>
            </a:solidFill>
          </a:ln>
        </p:spPr>
        <p:txBody>
          <a:bodyPr/>
          <a:lstStyle/>
          <a:p>
            <a:endParaRPr lang="en-US" sz="1600" dirty="0"/>
          </a:p>
        </p:txBody>
      </p:sp>
      <p:sp>
        <p:nvSpPr>
          <p:cNvPr id="6" name="Rectangle 5">
            <a:extLst>
              <a:ext uri="{FF2B5EF4-FFF2-40B4-BE49-F238E27FC236}">
                <a16:creationId xmlns:a16="http://schemas.microsoft.com/office/drawing/2014/main" id="{971B3403-2406-49DA-97CF-481C75902D1C}"/>
              </a:ext>
            </a:extLst>
          </p:cNvPr>
          <p:cNvSpPr>
            <a:spLocks noGrp="1"/>
          </p:cNvSpPr>
          <p:nvPr/>
        </p:nvSpPr>
        <p:spPr>
          <a:xfrm>
            <a:off x="809625" y="1323975"/>
            <a:ext cx="5095875" cy="4305300"/>
          </a:xfrm>
          <a:prstGeom prst="rect">
            <a:avLst/>
          </a:prstGeom>
          <a:noFill/>
          <a:ln w="0">
            <a:noFill/>
          </a:ln>
        </p:spPr>
        <p:txBody>
          <a:bodyPr anchor="ctr">
            <a:noAutofit/>
          </a:bodyPr>
          <a:lstStyle>
            <a:defPPr algn="l">
              <a:defRPr sz="1463">
                <a:solidFill>
                  <a:srgbClr val="171717"/>
                </a:solidFill>
                <a:latin typeface="Courier New"/>
                <a:ea typeface="Courier New"/>
                <a:cs typeface="Courier New"/>
              </a:defRPr>
            </a:defPPr>
          </a:lstStyle>
          <a:p>
            <a:pPr algn="l">
              <a:buNone/>
              <a:defRPr sz="1463" b="0">
                <a:solidFill>
                  <a:srgbClr val="171717"/>
                </a:solidFill>
                <a:latin typeface="Courier New"/>
                <a:ea typeface="Courier New"/>
                <a:cs typeface="Courier New"/>
              </a:defRPr>
            </a:pPr>
            <a:r>
              <a:rPr sz="1600" b="0" dirty="0">
                <a:solidFill>
                  <a:srgbClr val="171717"/>
                </a:solidFill>
                <a:latin typeface="Courier New"/>
                <a:ea typeface="Courier New"/>
                <a:cs typeface="Courier New"/>
              </a:rPr>
              <a:t>public final class </a:t>
            </a:r>
            <a:r>
              <a:rPr sz="1600" b="0" dirty="0" err="1">
                <a:solidFill>
                  <a:srgbClr val="171717"/>
                </a:solidFill>
                <a:latin typeface="Courier New"/>
                <a:ea typeface="Courier New"/>
                <a:cs typeface="Courier New"/>
              </a:rPr>
              <a:t>AppConfig</a:t>
            </a:r>
            <a:r>
              <a:rPr sz="1600" b="0" dirty="0">
                <a:solidFill>
                  <a:srgbClr val="171717"/>
                </a:solidFill>
                <a:latin typeface="Courier New"/>
                <a:ea typeface="Courier New"/>
                <a:cs typeface="Courier New"/>
              </a:rPr>
              <a:t> {</a:t>
            </a:r>
          </a:p>
          <a:p>
            <a:pPr algn="l">
              <a:buNone/>
              <a:defRPr sz="1463" b="0">
                <a:solidFill>
                  <a:srgbClr val="171717"/>
                </a:solidFill>
                <a:latin typeface="Courier New"/>
                <a:ea typeface="Courier New"/>
                <a:cs typeface="Courier New"/>
              </a:defRPr>
            </a:pPr>
            <a:r>
              <a:rPr sz="1600" b="0" dirty="0">
                <a:solidFill>
                  <a:srgbClr val="171717"/>
                </a:solidFill>
                <a:latin typeface="Courier New"/>
                <a:ea typeface="Courier New"/>
                <a:cs typeface="Courier New"/>
              </a:rPr>
              <a:t>  private static final </a:t>
            </a:r>
            <a:r>
              <a:rPr sz="1600" b="0" dirty="0" err="1">
                <a:solidFill>
                  <a:srgbClr val="171717"/>
                </a:solidFill>
                <a:latin typeface="Courier New"/>
                <a:ea typeface="Courier New"/>
                <a:cs typeface="Courier New"/>
              </a:rPr>
              <a:t>AppConfig</a:t>
            </a:r>
            <a:endParaRPr sz="1600" b="0" dirty="0">
              <a:solidFill>
                <a:srgbClr val="171717"/>
              </a:solidFill>
              <a:latin typeface="Courier New"/>
              <a:ea typeface="Courier New"/>
              <a:cs typeface="Courier New"/>
            </a:endParaRPr>
          </a:p>
          <a:p>
            <a:pPr algn="l">
              <a:buNone/>
              <a:defRPr sz="1463" b="0">
                <a:solidFill>
                  <a:srgbClr val="171717"/>
                </a:solidFill>
                <a:latin typeface="Courier New"/>
                <a:ea typeface="Courier New"/>
                <a:cs typeface="Courier New"/>
              </a:defRPr>
            </a:pPr>
            <a:r>
              <a:rPr sz="1600" b="0" dirty="0">
                <a:solidFill>
                  <a:srgbClr val="171717"/>
                </a:solidFill>
                <a:latin typeface="Courier New"/>
                <a:ea typeface="Courier New"/>
                <a:cs typeface="Courier New"/>
              </a:rPr>
              <a:t>      INSTANCE = new </a:t>
            </a:r>
            <a:r>
              <a:rPr sz="1600" b="0" dirty="0" err="1">
                <a:solidFill>
                  <a:srgbClr val="171717"/>
                </a:solidFill>
                <a:latin typeface="Courier New"/>
                <a:ea typeface="Courier New"/>
                <a:cs typeface="Courier New"/>
              </a:rPr>
              <a:t>AppConfig</a:t>
            </a:r>
            <a:r>
              <a:rPr sz="1600" b="0" dirty="0">
                <a:solidFill>
                  <a:srgbClr val="171717"/>
                </a:solidFill>
                <a:latin typeface="Courier New"/>
                <a:ea typeface="Courier New"/>
                <a:cs typeface="Courier New"/>
              </a:rPr>
              <a:t>();</a:t>
            </a:r>
          </a:p>
          <a:p>
            <a:pPr algn="l">
              <a:defRPr sz="1463">
                <a:solidFill>
                  <a:srgbClr val="171717"/>
                </a:solidFill>
                <a:latin typeface="Courier New"/>
                <a:ea typeface="Courier New"/>
                <a:cs typeface="Courier New"/>
              </a:defRPr>
            </a:pPr>
            <a:r>
              <a:rPr sz="1600" dirty="0">
                <a:solidFill>
                  <a:srgbClr val="171717"/>
                </a:solidFill>
                <a:latin typeface="Courier New"/>
                <a:ea typeface="Courier New"/>
                <a:cs typeface="Courier New"/>
              </a:rPr>
              <a:t>  private String theme = "Light";</a:t>
            </a:r>
          </a:p>
          <a:p>
            <a:pPr algn="l">
              <a:buNone/>
              <a:defRPr sz="1463" b="0">
                <a:solidFill>
                  <a:srgbClr val="171717"/>
                </a:solidFill>
                <a:latin typeface="Courier New"/>
                <a:ea typeface="Courier New"/>
                <a:cs typeface="Courier New"/>
              </a:defRPr>
            </a:pPr>
            <a:r>
              <a:rPr sz="1600" b="0" dirty="0">
                <a:solidFill>
                  <a:srgbClr val="171717"/>
                </a:solidFill>
                <a:latin typeface="Courier New"/>
                <a:ea typeface="Courier New"/>
                <a:cs typeface="Courier New"/>
              </a:rPr>
              <a:t>  private </a:t>
            </a:r>
            <a:r>
              <a:rPr sz="1600" b="0" dirty="0" err="1">
                <a:solidFill>
                  <a:srgbClr val="171717"/>
                </a:solidFill>
                <a:latin typeface="Courier New"/>
                <a:ea typeface="Courier New"/>
                <a:cs typeface="Courier New"/>
              </a:rPr>
              <a:t>AppConfig</a:t>
            </a:r>
            <a:r>
              <a:rPr sz="1600" b="0" dirty="0">
                <a:solidFill>
                  <a:srgbClr val="171717"/>
                </a:solidFill>
                <a:latin typeface="Courier New"/>
                <a:ea typeface="Courier New"/>
                <a:cs typeface="Courier New"/>
              </a:rPr>
              <a:t>() {}</a:t>
            </a:r>
          </a:p>
          <a:p>
            <a:pPr algn="l">
              <a:buNone/>
              <a:defRPr sz="1463" b="0">
                <a:solidFill>
                  <a:srgbClr val="171717"/>
                </a:solidFill>
                <a:latin typeface="Courier New"/>
                <a:ea typeface="Courier New"/>
                <a:cs typeface="Courier New"/>
              </a:defRPr>
            </a:pPr>
            <a:r>
              <a:rPr sz="1600" b="0" dirty="0">
                <a:solidFill>
                  <a:srgbClr val="171717"/>
                </a:solidFill>
                <a:latin typeface="Courier New"/>
                <a:ea typeface="Courier New"/>
                <a:cs typeface="Courier New"/>
              </a:rPr>
              <a:t>  public static </a:t>
            </a:r>
            <a:r>
              <a:rPr sz="1600" b="0" dirty="0" err="1">
                <a:solidFill>
                  <a:srgbClr val="171717"/>
                </a:solidFill>
                <a:latin typeface="Courier New"/>
                <a:ea typeface="Courier New"/>
                <a:cs typeface="Courier New"/>
              </a:rPr>
              <a:t>AppConfig</a:t>
            </a:r>
            <a:r>
              <a:rPr sz="1600" b="0" dirty="0">
                <a:solidFill>
                  <a:srgbClr val="171717"/>
                </a:solidFill>
                <a:latin typeface="Courier New"/>
                <a:ea typeface="Courier New"/>
                <a:cs typeface="Courier New"/>
              </a:rPr>
              <a:t> </a:t>
            </a:r>
            <a:r>
              <a:rPr sz="1600" b="0" dirty="0" err="1">
                <a:solidFill>
                  <a:srgbClr val="171717"/>
                </a:solidFill>
                <a:latin typeface="Courier New"/>
                <a:ea typeface="Courier New"/>
                <a:cs typeface="Courier New"/>
              </a:rPr>
              <a:t>getInstance</a:t>
            </a:r>
            <a:r>
              <a:rPr sz="1600" b="0" dirty="0">
                <a:solidFill>
                  <a:srgbClr val="171717"/>
                </a:solidFill>
                <a:latin typeface="Courier New"/>
                <a:ea typeface="Courier New"/>
                <a:cs typeface="Courier New"/>
              </a:rPr>
              <a:t>() {</a:t>
            </a:r>
          </a:p>
          <a:p>
            <a:pPr algn="l">
              <a:buNone/>
              <a:defRPr sz="1463" b="0">
                <a:solidFill>
                  <a:srgbClr val="171717"/>
                </a:solidFill>
                <a:latin typeface="Courier New"/>
                <a:ea typeface="Courier New"/>
                <a:cs typeface="Courier New"/>
              </a:defRPr>
            </a:pPr>
            <a:r>
              <a:rPr sz="1600" b="0" dirty="0">
                <a:solidFill>
                  <a:srgbClr val="171717"/>
                </a:solidFill>
                <a:latin typeface="Courier New"/>
                <a:ea typeface="Courier New"/>
                <a:cs typeface="Courier New"/>
              </a:rPr>
              <a:t>    return INSTANCE;</a:t>
            </a:r>
          </a:p>
          <a:p>
            <a:pPr algn="l">
              <a:buNone/>
              <a:defRPr sz="1463" b="0">
                <a:solidFill>
                  <a:srgbClr val="171717"/>
                </a:solidFill>
                <a:latin typeface="Courier New"/>
                <a:ea typeface="Courier New"/>
                <a:cs typeface="Courier New"/>
              </a:defRPr>
            </a:pPr>
            <a:r>
              <a:rPr sz="1600" b="0" dirty="0">
                <a:solidFill>
                  <a:srgbClr val="171717"/>
                </a:solidFill>
                <a:latin typeface="Courier New"/>
                <a:ea typeface="Courier New"/>
                <a:cs typeface="Courier New"/>
              </a:rPr>
              <a:t>  }</a:t>
            </a:r>
          </a:p>
          <a:p>
            <a:pPr algn="l">
              <a:buNone/>
              <a:defRPr sz="1463" b="0">
                <a:solidFill>
                  <a:srgbClr val="171717"/>
                </a:solidFill>
                <a:latin typeface="Courier New"/>
                <a:ea typeface="Courier New"/>
                <a:cs typeface="Courier New"/>
              </a:defRPr>
            </a:pPr>
            <a:r>
              <a:rPr sz="1600" b="0" dirty="0">
                <a:solidFill>
                  <a:srgbClr val="171717"/>
                </a:solidFill>
                <a:latin typeface="Courier New"/>
                <a:ea typeface="Courier New"/>
                <a:cs typeface="Courier New"/>
              </a:rPr>
              <a:t>  public synchronized void </a:t>
            </a:r>
            <a:r>
              <a:rPr sz="1600" b="0" dirty="0" err="1">
                <a:solidFill>
                  <a:srgbClr val="171717"/>
                </a:solidFill>
                <a:latin typeface="Courier New"/>
                <a:ea typeface="Courier New"/>
                <a:cs typeface="Courier New"/>
              </a:rPr>
              <a:t>setTheme</a:t>
            </a:r>
            <a:r>
              <a:rPr sz="1600" b="0" dirty="0">
                <a:solidFill>
                  <a:srgbClr val="171717"/>
                </a:solidFill>
                <a:latin typeface="Courier New"/>
                <a:ea typeface="Courier New"/>
                <a:cs typeface="Courier New"/>
              </a:rPr>
              <a:t>(</a:t>
            </a:r>
          </a:p>
          <a:p>
            <a:pPr algn="l">
              <a:buNone/>
              <a:defRPr sz="1463" b="0">
                <a:solidFill>
                  <a:srgbClr val="171717"/>
                </a:solidFill>
                <a:latin typeface="Courier New"/>
                <a:ea typeface="Courier New"/>
                <a:cs typeface="Courier New"/>
              </a:defRPr>
            </a:pPr>
            <a:r>
              <a:rPr sz="1600" b="0" dirty="0">
                <a:solidFill>
                  <a:srgbClr val="171717"/>
                </a:solidFill>
                <a:latin typeface="Courier New"/>
                <a:ea typeface="Courier New"/>
                <a:cs typeface="Courier New"/>
              </a:rPr>
              <a:t>      String value) { theme = value; }</a:t>
            </a:r>
          </a:p>
          <a:p>
            <a:pPr algn="l">
              <a:buNone/>
              <a:defRPr sz="1463" b="0">
                <a:solidFill>
                  <a:srgbClr val="171717"/>
                </a:solidFill>
                <a:latin typeface="Courier New"/>
                <a:ea typeface="Courier New"/>
                <a:cs typeface="Courier New"/>
              </a:defRPr>
            </a:pPr>
            <a:r>
              <a:rPr sz="1600" b="0" dirty="0">
                <a:solidFill>
                  <a:srgbClr val="171717"/>
                </a:solidFill>
                <a:latin typeface="Courier New"/>
                <a:ea typeface="Courier New"/>
                <a:cs typeface="Courier New"/>
              </a:rPr>
              <a:t>  public synchronized String </a:t>
            </a:r>
            <a:r>
              <a:rPr sz="1600" b="0" dirty="0" err="1">
                <a:solidFill>
                  <a:srgbClr val="171717"/>
                </a:solidFill>
                <a:latin typeface="Courier New"/>
                <a:ea typeface="Courier New"/>
                <a:cs typeface="Courier New"/>
              </a:rPr>
              <a:t>getTheme</a:t>
            </a:r>
            <a:r>
              <a:rPr sz="1600" b="0" dirty="0">
                <a:solidFill>
                  <a:srgbClr val="171717"/>
                </a:solidFill>
                <a:latin typeface="Courier New"/>
                <a:ea typeface="Courier New"/>
                <a:cs typeface="Courier New"/>
              </a:rPr>
              <a:t>() {</a:t>
            </a:r>
          </a:p>
          <a:p>
            <a:pPr algn="l">
              <a:buNone/>
              <a:defRPr sz="1463" b="0">
                <a:solidFill>
                  <a:srgbClr val="171717"/>
                </a:solidFill>
                <a:latin typeface="Courier New"/>
                <a:ea typeface="Courier New"/>
                <a:cs typeface="Courier New"/>
              </a:defRPr>
            </a:pPr>
            <a:r>
              <a:rPr sz="1600" b="0" dirty="0">
                <a:solidFill>
                  <a:srgbClr val="171717"/>
                </a:solidFill>
                <a:latin typeface="Courier New"/>
                <a:ea typeface="Courier New"/>
                <a:cs typeface="Courier New"/>
              </a:rPr>
              <a:t>    return theme;</a:t>
            </a:r>
          </a:p>
          <a:p>
            <a:pPr algn="l">
              <a:buNone/>
              <a:defRPr sz="1463" b="0">
                <a:solidFill>
                  <a:srgbClr val="171717"/>
                </a:solidFill>
                <a:latin typeface="Courier New"/>
                <a:ea typeface="Courier New"/>
                <a:cs typeface="Courier New"/>
              </a:defRPr>
            </a:pPr>
            <a:r>
              <a:rPr sz="1600" b="0" dirty="0">
                <a:solidFill>
                  <a:srgbClr val="171717"/>
                </a:solidFill>
                <a:latin typeface="Courier New"/>
                <a:ea typeface="Courier New"/>
                <a:cs typeface="Courier New"/>
              </a:rPr>
              <a:t>  }</a:t>
            </a:r>
          </a:p>
          <a:p>
            <a:pPr algn="l">
              <a:buNone/>
              <a:defRPr sz="1463" b="0">
                <a:solidFill>
                  <a:srgbClr val="171717"/>
                </a:solidFill>
                <a:latin typeface="Courier New"/>
                <a:ea typeface="Courier New"/>
                <a:cs typeface="Courier New"/>
              </a:defRPr>
            </a:pPr>
            <a:r>
              <a:rPr sz="1600" b="0" dirty="0">
                <a:solidFill>
                  <a:srgbClr val="171717"/>
                </a:solidFill>
                <a:latin typeface="Courier New"/>
                <a:ea typeface="Courier New"/>
                <a:cs typeface="Courier New"/>
              </a:rPr>
              <a:t>}</a:t>
            </a:r>
          </a:p>
        </p:txBody>
      </p:sp>
      <p:sp>
        <p:nvSpPr>
          <p:cNvPr id="7" name="Rectangle 6">
            <a:extLst>
              <a:ext uri="{FF2B5EF4-FFF2-40B4-BE49-F238E27FC236}">
                <a16:creationId xmlns:a16="http://schemas.microsoft.com/office/drawing/2014/main" id="{53B48C56-6939-4A0A-B389-2DCCECF58EB9}"/>
              </a:ext>
            </a:extLst>
          </p:cNvPr>
          <p:cNvSpPr>
            <a:spLocks noGrp="1"/>
          </p:cNvSpPr>
          <p:nvPr/>
        </p:nvSpPr>
        <p:spPr>
          <a:xfrm>
            <a:off x="6334125" y="1219200"/>
            <a:ext cx="5191125" cy="4514850"/>
          </a:xfrm>
          <a:prstGeom prst="rect">
            <a:avLst/>
          </a:prstGeom>
          <a:solidFill>
            <a:srgbClr val="DDF2D5"/>
          </a:solidFill>
          <a:ln w="0">
            <a:noFill/>
          </a:ln>
        </p:spPr>
        <p:txBody>
          <a:bodyPr/>
          <a:lstStyle/>
          <a:p>
            <a:endParaRPr lang="en-US" sz="2000"/>
          </a:p>
        </p:txBody>
      </p:sp>
      <p:sp>
        <p:nvSpPr>
          <p:cNvPr id="8" name="Rectangle 7">
            <a:extLst>
              <a:ext uri="{FF2B5EF4-FFF2-40B4-BE49-F238E27FC236}">
                <a16:creationId xmlns:a16="http://schemas.microsoft.com/office/drawing/2014/main" id="{83F83012-79DB-475B-9E05-50E27192B644}"/>
              </a:ext>
            </a:extLst>
          </p:cNvPr>
          <p:cNvSpPr>
            <a:spLocks noGrp="1"/>
          </p:cNvSpPr>
          <p:nvPr/>
        </p:nvSpPr>
        <p:spPr>
          <a:xfrm>
            <a:off x="6496050" y="1381125"/>
            <a:ext cx="4810125" cy="295275"/>
          </a:xfrm>
          <a:prstGeom prst="rect">
            <a:avLst/>
          </a:prstGeom>
          <a:noFill/>
          <a:ln w="0">
            <a:noFill/>
          </a:ln>
        </p:spPr>
        <p:txBody>
          <a:bodyPr anchor="ctr">
            <a:noAutofit/>
          </a:bodyPr>
          <a:lstStyle>
            <a:defPPr algn="l">
              <a:defRPr sz="1346" b="1">
                <a:solidFill>
                  <a:srgbClr val="0000FF"/>
                </a:solidFill>
                <a:latin typeface="Times New Roman"/>
                <a:ea typeface="Times New Roman"/>
                <a:cs typeface="Times New Roman"/>
              </a:defRPr>
            </a:defPPr>
          </a:lstStyle>
          <a:p>
            <a:pPr algn="l">
              <a:buNone/>
              <a:defRPr sz="1346" b="1">
                <a:solidFill>
                  <a:srgbClr val="0000FF"/>
                </a:solidFill>
                <a:latin typeface="Times New Roman"/>
                <a:ea typeface="Times New Roman"/>
                <a:cs typeface="Times New Roman"/>
              </a:defRPr>
            </a:pPr>
            <a:r>
              <a:rPr sz="2000" b="1">
                <a:solidFill>
                  <a:srgbClr val="0000FF"/>
                </a:solidFill>
                <a:latin typeface="Times New Roman"/>
                <a:ea typeface="Times New Roman"/>
                <a:cs typeface="Times New Roman"/>
              </a:rPr>
              <a:t>Private constructor</a:t>
            </a:r>
          </a:p>
        </p:txBody>
      </p:sp>
      <p:sp>
        <p:nvSpPr>
          <p:cNvPr id="9" name="Rectangle 8">
            <a:extLst>
              <a:ext uri="{FF2B5EF4-FFF2-40B4-BE49-F238E27FC236}">
                <a16:creationId xmlns:a16="http://schemas.microsoft.com/office/drawing/2014/main" id="{41AA7FDC-15FC-4486-B073-C8BCF27D3CBB}"/>
              </a:ext>
            </a:extLst>
          </p:cNvPr>
          <p:cNvSpPr>
            <a:spLocks noGrp="1"/>
          </p:cNvSpPr>
          <p:nvPr/>
        </p:nvSpPr>
        <p:spPr>
          <a:xfrm>
            <a:off x="6496050" y="1924050"/>
            <a:ext cx="4762500" cy="1057275"/>
          </a:xfrm>
          <a:prstGeom prst="rect">
            <a:avLst/>
          </a:prstGeom>
          <a:noFill/>
          <a:ln w="0">
            <a:noFill/>
          </a:ln>
        </p:spPr>
        <p:txBody>
          <a:bodyPr anchor="ctr">
            <a:noAutofit/>
          </a:bodyPr>
          <a:lstStyle>
            <a:defPPr algn="l">
              <a:defRPr sz="1875">
                <a:solidFill>
                  <a:srgbClr val="171717"/>
                </a:solidFill>
                <a:latin typeface="Times New Roman"/>
                <a:ea typeface="Times New Roman"/>
                <a:cs typeface="Times New Roman"/>
              </a:defRPr>
            </a:defPPr>
          </a:lstStyle>
          <a:p>
            <a:pPr algn="l">
              <a:buNone/>
              <a:defRPr sz="1875" b="0">
                <a:solidFill>
                  <a:srgbClr val="171717"/>
                </a:solidFill>
                <a:latin typeface="Times New Roman"/>
                <a:ea typeface="Times New Roman"/>
                <a:cs typeface="Times New Roman"/>
              </a:defRPr>
            </a:pPr>
            <a:r>
              <a:rPr sz="2000" b="0">
                <a:solidFill>
                  <a:srgbClr val="171717"/>
                </a:solidFill>
                <a:latin typeface="Times New Roman"/>
                <a:ea typeface="Times New Roman"/>
                <a:cs typeface="Times New Roman"/>
              </a:rPr>
              <a:t>Only the class creates its ordinary instance. Client code obtains it through getInstance().</a:t>
            </a:r>
          </a:p>
        </p:txBody>
      </p:sp>
      <p:sp>
        <p:nvSpPr>
          <p:cNvPr id="10" name="Rectangle 9">
            <a:extLst>
              <a:ext uri="{FF2B5EF4-FFF2-40B4-BE49-F238E27FC236}">
                <a16:creationId xmlns:a16="http://schemas.microsoft.com/office/drawing/2014/main" id="{12C4C0E6-C228-4B40-A8E3-2E072843148B}"/>
              </a:ext>
            </a:extLst>
          </p:cNvPr>
          <p:cNvSpPr>
            <a:spLocks noGrp="1"/>
          </p:cNvSpPr>
          <p:nvPr/>
        </p:nvSpPr>
        <p:spPr>
          <a:xfrm>
            <a:off x="6496050" y="3314700"/>
            <a:ext cx="4810125" cy="295275"/>
          </a:xfrm>
          <a:prstGeom prst="rect">
            <a:avLst/>
          </a:prstGeom>
          <a:noFill/>
          <a:ln w="0">
            <a:noFill/>
          </a:ln>
        </p:spPr>
        <p:txBody>
          <a:bodyPr anchor="ctr">
            <a:noAutofit/>
          </a:bodyPr>
          <a:lstStyle>
            <a:defPPr algn="l">
              <a:defRPr sz="1346" b="1">
                <a:solidFill>
                  <a:srgbClr val="0000FF"/>
                </a:solidFill>
                <a:latin typeface="Times New Roman"/>
                <a:ea typeface="Times New Roman"/>
                <a:cs typeface="Times New Roman"/>
              </a:defRPr>
            </a:defPPr>
          </a:lstStyle>
          <a:p>
            <a:pPr algn="l">
              <a:buNone/>
              <a:defRPr sz="1346" b="1">
                <a:solidFill>
                  <a:srgbClr val="0000FF"/>
                </a:solidFill>
                <a:latin typeface="Times New Roman"/>
                <a:ea typeface="Times New Roman"/>
                <a:cs typeface="Times New Roman"/>
              </a:defRPr>
            </a:pPr>
            <a:r>
              <a:rPr sz="2000" b="1">
                <a:solidFill>
                  <a:srgbClr val="0000FF"/>
                </a:solidFill>
                <a:latin typeface="Times New Roman"/>
                <a:ea typeface="Times New Roman"/>
                <a:cs typeface="Times New Roman"/>
              </a:rPr>
              <a:t>Eager initialization</a:t>
            </a:r>
          </a:p>
        </p:txBody>
      </p:sp>
      <p:sp>
        <p:nvSpPr>
          <p:cNvPr id="11" name="Rectangle 10">
            <a:extLst>
              <a:ext uri="{FF2B5EF4-FFF2-40B4-BE49-F238E27FC236}">
                <a16:creationId xmlns:a16="http://schemas.microsoft.com/office/drawing/2014/main" id="{6B430869-4F10-4B39-A353-A611256CA4CD}"/>
              </a:ext>
            </a:extLst>
          </p:cNvPr>
          <p:cNvSpPr>
            <a:spLocks noGrp="1"/>
          </p:cNvSpPr>
          <p:nvPr/>
        </p:nvSpPr>
        <p:spPr>
          <a:xfrm>
            <a:off x="6496050" y="3857625"/>
            <a:ext cx="4762500" cy="1238250"/>
          </a:xfrm>
          <a:prstGeom prst="rect">
            <a:avLst/>
          </a:prstGeom>
          <a:noFill/>
          <a:ln w="0">
            <a:noFill/>
          </a:ln>
        </p:spPr>
        <p:txBody>
          <a:bodyPr anchor="ctr">
            <a:noAutofit/>
          </a:bodyPr>
          <a:lstStyle>
            <a:defPPr algn="l">
              <a:defRPr sz="1875">
                <a:solidFill>
                  <a:srgbClr val="171717"/>
                </a:solidFill>
                <a:latin typeface="Times New Roman"/>
                <a:ea typeface="Times New Roman"/>
                <a:cs typeface="Times New Roman"/>
              </a:defRPr>
            </a:defPPr>
          </a:lstStyle>
          <a:p>
            <a:pPr algn="l">
              <a:buNone/>
              <a:defRPr sz="1875" b="0">
                <a:solidFill>
                  <a:srgbClr val="171717"/>
                </a:solidFill>
                <a:latin typeface="Times New Roman"/>
                <a:ea typeface="Times New Roman"/>
                <a:cs typeface="Times New Roman"/>
              </a:defRPr>
            </a:pPr>
            <a:r>
              <a:rPr sz="2000" b="0">
                <a:solidFill>
                  <a:srgbClr val="171717"/>
                </a:solidFill>
                <a:latin typeface="Times New Roman"/>
                <a:ea typeface="Times New Roman"/>
                <a:cs typeface="Times New Roman"/>
              </a:rPr>
              <a:t>The static field creates the object when Java initializes AppConfig. Synchronized methods protect the mutable theme.</a:t>
            </a:r>
          </a:p>
        </p:txBody>
      </p:sp>
    </p:spTree>
    <p:extLst>
      <p:ext uri="{BB962C8B-B14F-4D97-AF65-F5344CB8AC3E}">
        <p14:creationId xmlns:p14="http://schemas.microsoft.com/office/powerpoint/2010/main" val="5541943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1694AE1-F50A-404F-91D6-9425B220CA4B}"/>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lang="en-US" sz="1600"/>
          </a:p>
        </p:txBody>
      </p:sp>
      <p:sp>
        <p:nvSpPr>
          <p:cNvPr id="2" name="Rectangle 1">
            <a:extLst>
              <a:ext uri="{FF2B5EF4-FFF2-40B4-BE49-F238E27FC236}">
                <a16:creationId xmlns:a16="http://schemas.microsoft.com/office/drawing/2014/main" id="{57D647A1-83FB-4A76-8396-016AC3780AE4}"/>
              </a:ext>
            </a:extLst>
          </p:cNvPr>
          <p:cNvSpPr>
            <a:spLocks noGrp="1"/>
          </p:cNvSpPr>
          <p:nvPr/>
        </p:nvSpPr>
        <p:spPr>
          <a:xfrm>
            <a:off x="790575" y="66675"/>
            <a:ext cx="10601325" cy="495300"/>
          </a:xfrm>
          <a:prstGeom prst="rect">
            <a:avLst/>
          </a:prstGeom>
          <a:noFill/>
          <a:ln w="0">
            <a:noFill/>
          </a:ln>
        </p:spPr>
        <p:txBody>
          <a:bodyPr anchor="ctr">
            <a:noAutofit/>
          </a:bodyPr>
          <a:lstStyle>
            <a:defPPr algn="ctr">
              <a:defRPr sz="2640">
                <a:solidFill>
                  <a:srgbClr val="002060"/>
                </a:solidFill>
                <a:latin typeface="Times New Roman"/>
                <a:ea typeface="Times New Roman"/>
                <a:cs typeface="Times New Roman"/>
              </a:defRPr>
            </a:defPPr>
          </a:lstStyle>
          <a:p>
            <a:pPr algn="ctr">
              <a:buNone/>
              <a:defRPr sz="2640" b="0">
                <a:solidFill>
                  <a:srgbClr val="002060"/>
                </a:solidFill>
                <a:latin typeface="Times New Roman"/>
                <a:ea typeface="Times New Roman"/>
                <a:cs typeface="Times New Roman"/>
              </a:defRPr>
            </a:pPr>
            <a:r>
              <a:rPr sz="2640" b="0">
                <a:solidFill>
                  <a:srgbClr val="002060"/>
                </a:solidFill>
                <a:latin typeface="Times New Roman"/>
                <a:ea typeface="Times New Roman"/>
                <a:cs typeface="Times New Roman"/>
              </a:rPr>
              <a:t>Java: A Lazy Holder Singleton</a:t>
            </a:r>
          </a:p>
        </p:txBody>
      </p:sp>
      <p:sp>
        <p:nvSpPr>
          <p:cNvPr id="3" name="Rectangle 2">
            <a:extLst>
              <a:ext uri="{FF2B5EF4-FFF2-40B4-BE49-F238E27FC236}">
                <a16:creationId xmlns:a16="http://schemas.microsoft.com/office/drawing/2014/main" id="{D2CAEA10-4D53-43E1-91B6-7650886A4ED7}"/>
              </a:ext>
            </a:extLst>
          </p:cNvPr>
          <p:cNvSpPr>
            <a:spLocks noGrp="1"/>
          </p:cNvSpPr>
          <p:nvPr/>
        </p:nvSpPr>
        <p:spPr>
          <a:xfrm>
            <a:off x="427759" y="1034946"/>
            <a:ext cx="4762500" cy="238125"/>
          </a:xfrm>
          <a:prstGeom prst="rect">
            <a:avLst/>
          </a:prstGeom>
          <a:noFill/>
          <a:ln w="0">
            <a:noFill/>
          </a:ln>
        </p:spPr>
        <p:txBody>
          <a:bodyPr anchor="ctr">
            <a:noAutofit/>
          </a:bodyPr>
          <a:lstStyle>
            <a:defPPr algn="l">
              <a:defRPr sz="956" b="1">
                <a:solidFill>
                  <a:srgbClr val="0000FF"/>
                </a:solidFill>
                <a:latin typeface="Times New Roman"/>
                <a:ea typeface="Times New Roman"/>
                <a:cs typeface="Times New Roman"/>
              </a:defRPr>
            </a:defPPr>
          </a:lstStyle>
          <a:p>
            <a:pPr algn="l">
              <a:buNone/>
              <a:defRPr sz="956" b="1">
                <a:solidFill>
                  <a:srgbClr val="0000FF"/>
                </a:solidFill>
                <a:latin typeface="Times New Roman"/>
                <a:ea typeface="Times New Roman"/>
                <a:cs typeface="Times New Roman"/>
              </a:defRPr>
            </a:pPr>
            <a:r>
              <a:rPr sz="1600" b="1" dirty="0">
                <a:solidFill>
                  <a:srgbClr val="0000FF"/>
                </a:solidFill>
                <a:latin typeface="Times New Roman"/>
                <a:ea typeface="Times New Roman"/>
                <a:cs typeface="Times New Roman"/>
              </a:rPr>
              <a:t>SINGLETON PATTERN</a:t>
            </a:r>
          </a:p>
        </p:txBody>
      </p:sp>
      <p:sp>
        <p:nvSpPr>
          <p:cNvPr id="4" name="Rectangle 3">
            <a:extLst>
              <a:ext uri="{FF2B5EF4-FFF2-40B4-BE49-F238E27FC236}">
                <a16:creationId xmlns:a16="http://schemas.microsoft.com/office/drawing/2014/main" id="{90DEC359-4615-4A46-99A3-18B691660A96}"/>
              </a:ext>
            </a:extLst>
          </p:cNvPr>
          <p:cNvSpPr>
            <a:spLocks noGrp="1"/>
          </p:cNvSpPr>
          <p:nvPr/>
        </p:nvSpPr>
        <p:spPr>
          <a:xfrm>
            <a:off x="11258550" y="6486525"/>
            <a:ext cx="438150" cy="238125"/>
          </a:xfrm>
          <a:prstGeom prst="rect">
            <a:avLst/>
          </a:prstGeom>
          <a:noFill/>
          <a:ln w="0">
            <a:noFill/>
          </a:ln>
        </p:spPr>
        <p:txBody>
          <a:bodyPr anchor="ctr">
            <a:noAutofit/>
          </a:bodyPr>
          <a:lstStyle>
            <a:defPPr algn="l">
              <a:defRPr sz="968">
                <a:solidFill>
                  <a:srgbClr val="002060"/>
                </a:solidFill>
                <a:latin typeface="Times New Roman"/>
                <a:ea typeface="Times New Roman"/>
                <a:cs typeface="Times New Roman"/>
              </a:defRPr>
            </a:defPPr>
          </a:lstStyle>
          <a:p>
            <a:pPr algn="l">
              <a:buNone/>
              <a:defRPr sz="968" b="0">
                <a:solidFill>
                  <a:srgbClr val="002060"/>
                </a:solidFill>
                <a:latin typeface="Times New Roman"/>
                <a:ea typeface="Times New Roman"/>
                <a:cs typeface="Times New Roman"/>
              </a:defRPr>
            </a:pPr>
            <a:r>
              <a:rPr sz="1600" b="0">
                <a:solidFill>
                  <a:srgbClr val="002060"/>
                </a:solidFill>
                <a:latin typeface="Times New Roman"/>
                <a:ea typeface="Times New Roman"/>
                <a:cs typeface="Times New Roman"/>
              </a:rPr>
              <a:t>07</a:t>
            </a:r>
          </a:p>
        </p:txBody>
      </p:sp>
      <p:sp>
        <p:nvSpPr>
          <p:cNvPr id="5" name="Rectangle 4">
            <a:extLst>
              <a:ext uri="{FF2B5EF4-FFF2-40B4-BE49-F238E27FC236}">
                <a16:creationId xmlns:a16="http://schemas.microsoft.com/office/drawing/2014/main" id="{CB003A3D-278C-46DD-8B87-E00D20FA61CF}"/>
              </a:ext>
            </a:extLst>
          </p:cNvPr>
          <p:cNvSpPr>
            <a:spLocks noGrp="1"/>
          </p:cNvSpPr>
          <p:nvPr/>
        </p:nvSpPr>
        <p:spPr>
          <a:xfrm>
            <a:off x="4485178" y="1916229"/>
            <a:ext cx="7596890" cy="3876675"/>
          </a:xfrm>
          <a:prstGeom prst="rect">
            <a:avLst/>
          </a:prstGeom>
          <a:solidFill>
            <a:srgbClr val="F8FAFC"/>
          </a:solidFill>
          <a:ln w="9525">
            <a:solidFill>
              <a:srgbClr val="002060"/>
            </a:solidFill>
          </a:ln>
        </p:spPr>
        <p:txBody>
          <a:bodyPr/>
          <a:lstStyle/>
          <a:p>
            <a:endParaRPr lang="en-US" sz="1600"/>
          </a:p>
        </p:txBody>
      </p:sp>
      <p:sp>
        <p:nvSpPr>
          <p:cNvPr id="6" name="Rectangle 5">
            <a:extLst>
              <a:ext uri="{FF2B5EF4-FFF2-40B4-BE49-F238E27FC236}">
                <a16:creationId xmlns:a16="http://schemas.microsoft.com/office/drawing/2014/main" id="{7EAB3884-6631-4F48-9FB7-CF665E178C09}"/>
              </a:ext>
            </a:extLst>
          </p:cNvPr>
          <p:cNvSpPr>
            <a:spLocks noGrp="1"/>
          </p:cNvSpPr>
          <p:nvPr/>
        </p:nvSpPr>
        <p:spPr>
          <a:xfrm>
            <a:off x="4416788" y="1646874"/>
            <a:ext cx="7425440" cy="4086225"/>
          </a:xfrm>
          <a:prstGeom prst="rect">
            <a:avLst/>
          </a:prstGeom>
          <a:noFill/>
          <a:ln w="0">
            <a:noFill/>
          </a:ln>
        </p:spPr>
        <p:txBody>
          <a:bodyPr anchor="ctr">
            <a:noAutofit/>
          </a:bodyPr>
          <a:lstStyle>
            <a:defPPr algn="l">
              <a:defRPr sz="1613">
                <a:solidFill>
                  <a:srgbClr val="171717"/>
                </a:solidFill>
                <a:latin typeface="Courier New"/>
                <a:ea typeface="Courier New"/>
                <a:cs typeface="Courier New"/>
              </a:defRPr>
            </a:defPPr>
          </a:lstStyle>
          <a:p>
            <a:pPr algn="l">
              <a:buNone/>
              <a:defRPr sz="1613" b="0">
                <a:solidFill>
                  <a:srgbClr val="171717"/>
                </a:solidFill>
                <a:latin typeface="Courier New"/>
                <a:ea typeface="Courier New"/>
                <a:cs typeface="Courier New"/>
              </a:defRPr>
            </a:pPr>
            <a:r>
              <a:rPr sz="1600" b="0" dirty="0">
                <a:solidFill>
                  <a:srgbClr val="171717"/>
                </a:solidFill>
                <a:latin typeface="Courier New"/>
                <a:ea typeface="Courier New"/>
                <a:cs typeface="Courier New"/>
              </a:rPr>
              <a:t>public final class </a:t>
            </a:r>
            <a:r>
              <a:rPr sz="1600" b="0" dirty="0" err="1">
                <a:solidFill>
                  <a:srgbClr val="171717"/>
                </a:solidFill>
                <a:latin typeface="Courier New"/>
                <a:ea typeface="Courier New"/>
                <a:cs typeface="Courier New"/>
              </a:rPr>
              <a:t>AppConfig</a:t>
            </a:r>
            <a:r>
              <a:rPr sz="1600" b="0" dirty="0">
                <a:solidFill>
                  <a:srgbClr val="171717"/>
                </a:solidFill>
                <a:latin typeface="Courier New"/>
                <a:ea typeface="Courier New"/>
                <a:cs typeface="Courier New"/>
              </a:rPr>
              <a:t> {</a:t>
            </a:r>
          </a:p>
          <a:p>
            <a:pPr algn="l">
              <a:buNone/>
              <a:defRPr sz="1613" b="0">
                <a:solidFill>
                  <a:srgbClr val="171717"/>
                </a:solidFill>
                <a:latin typeface="Courier New"/>
                <a:ea typeface="Courier New"/>
                <a:cs typeface="Courier New"/>
              </a:defRPr>
            </a:pPr>
            <a:r>
              <a:rPr sz="1600" b="0" dirty="0">
                <a:solidFill>
                  <a:srgbClr val="171717"/>
                </a:solidFill>
                <a:latin typeface="Courier New"/>
                <a:ea typeface="Courier New"/>
                <a:cs typeface="Courier New"/>
              </a:rPr>
              <a:t>  private String theme = "Light";</a:t>
            </a:r>
          </a:p>
          <a:p>
            <a:pPr algn="l">
              <a:defRPr sz="1613">
                <a:solidFill>
                  <a:srgbClr val="171717"/>
                </a:solidFill>
                <a:latin typeface="Courier New"/>
                <a:ea typeface="Courier New"/>
                <a:cs typeface="Courier New"/>
              </a:defRPr>
            </a:pPr>
            <a:r>
              <a:rPr sz="1600" dirty="0">
                <a:solidFill>
                  <a:srgbClr val="171717"/>
                </a:solidFill>
                <a:latin typeface="Courier New"/>
                <a:ea typeface="Courier New"/>
                <a:cs typeface="Courier New"/>
              </a:rPr>
              <a:t>  private </a:t>
            </a:r>
            <a:r>
              <a:rPr sz="1600" dirty="0" err="1">
                <a:solidFill>
                  <a:srgbClr val="171717"/>
                </a:solidFill>
                <a:latin typeface="Courier New"/>
                <a:ea typeface="Courier New"/>
                <a:cs typeface="Courier New"/>
              </a:rPr>
              <a:t>AppConfig</a:t>
            </a:r>
            <a:r>
              <a:rPr sz="1600" dirty="0">
                <a:solidFill>
                  <a:srgbClr val="171717"/>
                </a:solidFill>
                <a:latin typeface="Courier New"/>
                <a:ea typeface="Courier New"/>
                <a:cs typeface="Courier New"/>
              </a:rPr>
              <a:t>() {}</a:t>
            </a:r>
          </a:p>
          <a:p>
            <a:pPr algn="l">
              <a:buNone/>
              <a:defRPr sz="1613" b="0">
                <a:solidFill>
                  <a:srgbClr val="171717"/>
                </a:solidFill>
                <a:latin typeface="Courier New"/>
                <a:ea typeface="Courier New"/>
                <a:cs typeface="Courier New"/>
              </a:defRPr>
            </a:pPr>
            <a:r>
              <a:rPr sz="1600" b="0" dirty="0">
                <a:solidFill>
                  <a:srgbClr val="171717"/>
                </a:solidFill>
                <a:latin typeface="Courier New"/>
                <a:ea typeface="Courier New"/>
                <a:cs typeface="Courier New"/>
              </a:rPr>
              <a:t>  private static class Holder {</a:t>
            </a:r>
          </a:p>
          <a:p>
            <a:pPr algn="l">
              <a:buNone/>
              <a:defRPr sz="1613" b="0">
                <a:solidFill>
                  <a:srgbClr val="171717"/>
                </a:solidFill>
                <a:latin typeface="Courier New"/>
                <a:ea typeface="Courier New"/>
                <a:cs typeface="Courier New"/>
              </a:defRPr>
            </a:pPr>
            <a:r>
              <a:rPr sz="1600" b="0" dirty="0">
                <a:solidFill>
                  <a:srgbClr val="171717"/>
                </a:solidFill>
                <a:latin typeface="Courier New"/>
                <a:ea typeface="Courier New"/>
                <a:cs typeface="Courier New"/>
              </a:rPr>
              <a:t>    static final </a:t>
            </a:r>
            <a:r>
              <a:rPr sz="1600" b="0" dirty="0" err="1">
                <a:solidFill>
                  <a:srgbClr val="171717"/>
                </a:solidFill>
                <a:latin typeface="Courier New"/>
                <a:ea typeface="Courier New"/>
                <a:cs typeface="Courier New"/>
              </a:rPr>
              <a:t>AppConfig</a:t>
            </a:r>
            <a:r>
              <a:rPr sz="1600" b="0" dirty="0">
                <a:solidFill>
                  <a:srgbClr val="171717"/>
                </a:solidFill>
                <a:latin typeface="Courier New"/>
                <a:ea typeface="Courier New"/>
                <a:cs typeface="Courier New"/>
              </a:rPr>
              <a:t> INSTANCE = new </a:t>
            </a:r>
            <a:r>
              <a:rPr sz="1600" b="0" dirty="0" err="1">
                <a:solidFill>
                  <a:srgbClr val="171717"/>
                </a:solidFill>
                <a:latin typeface="Courier New"/>
                <a:ea typeface="Courier New"/>
                <a:cs typeface="Courier New"/>
              </a:rPr>
              <a:t>AppConfig</a:t>
            </a:r>
            <a:r>
              <a:rPr sz="1600" b="0" dirty="0">
                <a:solidFill>
                  <a:srgbClr val="171717"/>
                </a:solidFill>
                <a:latin typeface="Courier New"/>
                <a:ea typeface="Courier New"/>
                <a:cs typeface="Courier New"/>
              </a:rPr>
              <a:t>();</a:t>
            </a:r>
          </a:p>
          <a:p>
            <a:pPr algn="l">
              <a:buNone/>
              <a:defRPr sz="1613" b="0">
                <a:solidFill>
                  <a:srgbClr val="171717"/>
                </a:solidFill>
                <a:latin typeface="Courier New"/>
                <a:ea typeface="Courier New"/>
                <a:cs typeface="Courier New"/>
              </a:defRPr>
            </a:pPr>
            <a:r>
              <a:rPr sz="1600" b="0" dirty="0">
                <a:solidFill>
                  <a:srgbClr val="171717"/>
                </a:solidFill>
                <a:latin typeface="Courier New"/>
                <a:ea typeface="Courier New"/>
                <a:cs typeface="Courier New"/>
              </a:rPr>
              <a:t>  }</a:t>
            </a:r>
          </a:p>
          <a:p>
            <a:pPr algn="l">
              <a:defRPr sz="1613">
                <a:solidFill>
                  <a:srgbClr val="171717"/>
                </a:solidFill>
                <a:latin typeface="Courier New"/>
                <a:ea typeface="Courier New"/>
                <a:cs typeface="Courier New"/>
              </a:defRPr>
            </a:pPr>
            <a:r>
              <a:rPr sz="1600" dirty="0">
                <a:solidFill>
                  <a:srgbClr val="171717"/>
                </a:solidFill>
                <a:latin typeface="Courier New"/>
                <a:ea typeface="Courier New"/>
                <a:cs typeface="Courier New"/>
              </a:rPr>
              <a:t>  public static </a:t>
            </a:r>
            <a:r>
              <a:rPr sz="1600" dirty="0" err="1">
                <a:solidFill>
                  <a:srgbClr val="171717"/>
                </a:solidFill>
                <a:latin typeface="Courier New"/>
                <a:ea typeface="Courier New"/>
                <a:cs typeface="Courier New"/>
              </a:rPr>
              <a:t>AppConfig</a:t>
            </a:r>
            <a:r>
              <a:rPr sz="1600" dirty="0">
                <a:solidFill>
                  <a:srgbClr val="171717"/>
                </a:solidFill>
                <a:latin typeface="Courier New"/>
                <a:ea typeface="Courier New"/>
                <a:cs typeface="Courier New"/>
              </a:rPr>
              <a:t> </a:t>
            </a:r>
            <a:r>
              <a:rPr sz="1600" dirty="0" err="1">
                <a:solidFill>
                  <a:srgbClr val="171717"/>
                </a:solidFill>
                <a:latin typeface="Courier New"/>
                <a:ea typeface="Courier New"/>
                <a:cs typeface="Courier New"/>
              </a:rPr>
              <a:t>getInstance</a:t>
            </a:r>
            <a:r>
              <a:rPr sz="1600" dirty="0">
                <a:solidFill>
                  <a:srgbClr val="171717"/>
                </a:solidFill>
                <a:latin typeface="Courier New"/>
                <a:ea typeface="Courier New"/>
                <a:cs typeface="Courier New"/>
              </a:rPr>
              <a:t>() {</a:t>
            </a:r>
          </a:p>
          <a:p>
            <a:pPr algn="l">
              <a:buNone/>
              <a:defRPr sz="1613" b="0">
                <a:solidFill>
                  <a:srgbClr val="171717"/>
                </a:solidFill>
                <a:latin typeface="Courier New"/>
                <a:ea typeface="Courier New"/>
                <a:cs typeface="Courier New"/>
              </a:defRPr>
            </a:pPr>
            <a:r>
              <a:rPr sz="1600" b="0" dirty="0">
                <a:solidFill>
                  <a:srgbClr val="171717"/>
                </a:solidFill>
                <a:latin typeface="Courier New"/>
                <a:ea typeface="Courier New"/>
                <a:cs typeface="Courier New"/>
              </a:rPr>
              <a:t>    return </a:t>
            </a:r>
            <a:r>
              <a:rPr sz="1600" b="0" dirty="0" err="1">
                <a:solidFill>
                  <a:srgbClr val="171717"/>
                </a:solidFill>
                <a:latin typeface="Courier New"/>
                <a:ea typeface="Courier New"/>
                <a:cs typeface="Courier New"/>
              </a:rPr>
              <a:t>Holder.INSTANCE</a:t>
            </a:r>
            <a:r>
              <a:rPr sz="1600" b="0" dirty="0">
                <a:solidFill>
                  <a:srgbClr val="171717"/>
                </a:solidFill>
                <a:latin typeface="Courier New"/>
                <a:ea typeface="Courier New"/>
                <a:cs typeface="Courier New"/>
              </a:rPr>
              <a:t>;</a:t>
            </a:r>
          </a:p>
          <a:p>
            <a:pPr algn="l">
              <a:buNone/>
              <a:defRPr sz="1613" b="0">
                <a:solidFill>
                  <a:srgbClr val="171717"/>
                </a:solidFill>
                <a:latin typeface="Courier New"/>
                <a:ea typeface="Courier New"/>
                <a:cs typeface="Courier New"/>
              </a:defRPr>
            </a:pPr>
            <a:r>
              <a:rPr sz="1600" b="0" dirty="0">
                <a:solidFill>
                  <a:srgbClr val="171717"/>
                </a:solidFill>
                <a:latin typeface="Courier New"/>
                <a:ea typeface="Courier New"/>
                <a:cs typeface="Courier New"/>
              </a:rPr>
              <a:t>  }</a:t>
            </a:r>
          </a:p>
          <a:p>
            <a:pPr algn="l">
              <a:buNone/>
              <a:defRPr sz="1613" b="0">
                <a:solidFill>
                  <a:srgbClr val="171717"/>
                </a:solidFill>
                <a:latin typeface="Courier New"/>
                <a:ea typeface="Courier New"/>
                <a:cs typeface="Courier New"/>
              </a:defRPr>
            </a:pPr>
            <a:r>
              <a:rPr sz="1600" b="0" dirty="0">
                <a:solidFill>
                  <a:srgbClr val="171717"/>
                </a:solidFill>
                <a:latin typeface="Courier New"/>
                <a:ea typeface="Courier New"/>
                <a:cs typeface="Courier New"/>
              </a:rPr>
              <a:t>  public synchronized void </a:t>
            </a:r>
            <a:r>
              <a:rPr sz="1600" b="0" dirty="0" err="1">
                <a:solidFill>
                  <a:srgbClr val="171717"/>
                </a:solidFill>
                <a:latin typeface="Courier New"/>
                <a:ea typeface="Courier New"/>
                <a:cs typeface="Courier New"/>
              </a:rPr>
              <a:t>setTheme</a:t>
            </a:r>
            <a:r>
              <a:rPr sz="1600" b="0" dirty="0">
                <a:solidFill>
                  <a:srgbClr val="171717"/>
                </a:solidFill>
                <a:latin typeface="Courier New"/>
                <a:ea typeface="Courier New"/>
                <a:cs typeface="Courier New"/>
              </a:rPr>
              <a:t>(String value) {</a:t>
            </a:r>
          </a:p>
          <a:p>
            <a:pPr algn="l">
              <a:buNone/>
              <a:defRPr sz="1613" b="0">
                <a:solidFill>
                  <a:srgbClr val="171717"/>
                </a:solidFill>
                <a:latin typeface="Courier New"/>
                <a:ea typeface="Courier New"/>
                <a:cs typeface="Courier New"/>
              </a:defRPr>
            </a:pPr>
            <a:r>
              <a:rPr sz="1600" b="0" dirty="0">
                <a:solidFill>
                  <a:srgbClr val="171717"/>
                </a:solidFill>
                <a:latin typeface="Courier New"/>
                <a:ea typeface="Courier New"/>
                <a:cs typeface="Courier New"/>
              </a:rPr>
              <a:t>    theme = value;</a:t>
            </a:r>
          </a:p>
          <a:p>
            <a:pPr algn="l">
              <a:buNone/>
              <a:defRPr sz="1613" b="0">
                <a:solidFill>
                  <a:srgbClr val="171717"/>
                </a:solidFill>
                <a:latin typeface="Courier New"/>
                <a:ea typeface="Courier New"/>
                <a:cs typeface="Courier New"/>
              </a:defRPr>
            </a:pPr>
            <a:r>
              <a:rPr sz="1600" b="0" dirty="0">
                <a:solidFill>
                  <a:srgbClr val="171717"/>
                </a:solidFill>
                <a:latin typeface="Courier New"/>
                <a:ea typeface="Courier New"/>
                <a:cs typeface="Courier New"/>
              </a:rPr>
              <a:t>  }</a:t>
            </a:r>
          </a:p>
          <a:p>
            <a:pPr algn="l">
              <a:buNone/>
              <a:defRPr sz="1613" b="0">
                <a:solidFill>
                  <a:srgbClr val="171717"/>
                </a:solidFill>
                <a:latin typeface="Courier New"/>
                <a:ea typeface="Courier New"/>
                <a:cs typeface="Courier New"/>
              </a:defRPr>
            </a:pPr>
            <a:r>
              <a:rPr sz="1600" b="0" dirty="0">
                <a:solidFill>
                  <a:srgbClr val="171717"/>
                </a:solidFill>
                <a:latin typeface="Courier New"/>
                <a:ea typeface="Courier New"/>
                <a:cs typeface="Courier New"/>
              </a:rPr>
              <a:t>  public synchronized String </a:t>
            </a:r>
            <a:r>
              <a:rPr sz="1600" b="0" dirty="0" err="1">
                <a:solidFill>
                  <a:srgbClr val="171717"/>
                </a:solidFill>
                <a:latin typeface="Courier New"/>
                <a:ea typeface="Courier New"/>
                <a:cs typeface="Courier New"/>
              </a:rPr>
              <a:t>getTheme</a:t>
            </a:r>
            <a:r>
              <a:rPr sz="1600" b="0" dirty="0">
                <a:solidFill>
                  <a:srgbClr val="171717"/>
                </a:solidFill>
                <a:latin typeface="Courier New"/>
                <a:ea typeface="Courier New"/>
                <a:cs typeface="Courier New"/>
              </a:rPr>
              <a:t>() { return theme; }</a:t>
            </a:r>
          </a:p>
          <a:p>
            <a:pPr algn="l">
              <a:buNone/>
              <a:defRPr sz="1613" b="0">
                <a:solidFill>
                  <a:srgbClr val="171717"/>
                </a:solidFill>
                <a:latin typeface="Courier New"/>
                <a:ea typeface="Courier New"/>
                <a:cs typeface="Courier New"/>
              </a:defRPr>
            </a:pPr>
            <a:r>
              <a:rPr sz="1600" b="0" dirty="0">
                <a:solidFill>
                  <a:srgbClr val="171717"/>
                </a:solidFill>
                <a:latin typeface="Courier New"/>
                <a:ea typeface="Courier New"/>
                <a:cs typeface="Courier New"/>
              </a:rPr>
              <a:t>}</a:t>
            </a:r>
          </a:p>
        </p:txBody>
      </p:sp>
      <p:sp>
        <p:nvSpPr>
          <p:cNvPr id="7" name="Rectangle 6">
            <a:extLst>
              <a:ext uri="{FF2B5EF4-FFF2-40B4-BE49-F238E27FC236}">
                <a16:creationId xmlns:a16="http://schemas.microsoft.com/office/drawing/2014/main" id="{AAED0ECE-F77D-4F48-B4C3-650A01C55313}"/>
              </a:ext>
            </a:extLst>
          </p:cNvPr>
          <p:cNvSpPr>
            <a:spLocks noGrp="1"/>
          </p:cNvSpPr>
          <p:nvPr/>
        </p:nvSpPr>
        <p:spPr>
          <a:xfrm>
            <a:off x="790575" y="6098939"/>
            <a:ext cx="10887075" cy="609600"/>
          </a:xfrm>
          <a:prstGeom prst="rect">
            <a:avLst/>
          </a:prstGeom>
          <a:solidFill>
            <a:srgbClr val="DDEBF3"/>
          </a:solidFill>
          <a:ln w="0">
            <a:noFill/>
          </a:ln>
        </p:spPr>
        <p:txBody>
          <a:bodyPr/>
          <a:lstStyle/>
          <a:p>
            <a:endParaRPr lang="en-US" sz="1600"/>
          </a:p>
        </p:txBody>
      </p:sp>
      <p:sp>
        <p:nvSpPr>
          <p:cNvPr id="8" name="Rectangle 7">
            <a:extLst>
              <a:ext uri="{FF2B5EF4-FFF2-40B4-BE49-F238E27FC236}">
                <a16:creationId xmlns:a16="http://schemas.microsoft.com/office/drawing/2014/main" id="{C9B18341-8DCE-49B8-9BAD-1FE19BE4DEB5}"/>
              </a:ext>
            </a:extLst>
          </p:cNvPr>
          <p:cNvSpPr>
            <a:spLocks noGrp="1"/>
          </p:cNvSpPr>
          <p:nvPr/>
        </p:nvSpPr>
        <p:spPr>
          <a:xfrm>
            <a:off x="800100" y="6085535"/>
            <a:ext cx="10420350" cy="495300"/>
          </a:xfrm>
          <a:prstGeom prst="rect">
            <a:avLst/>
          </a:prstGeom>
          <a:noFill/>
          <a:ln w="0">
            <a:noFill/>
          </a:ln>
        </p:spPr>
        <p:txBody>
          <a:bodyPr anchor="ctr">
            <a:noAutofit/>
          </a:bodyPr>
          <a:lstStyle>
            <a:defPPr algn="l">
              <a:defRPr sz="1725" b="1">
                <a:solidFill>
                  <a:srgbClr val="002060"/>
                </a:solidFill>
                <a:latin typeface="Times New Roman"/>
                <a:ea typeface="Times New Roman"/>
                <a:cs typeface="Times New Roman"/>
              </a:defRPr>
            </a:defPPr>
          </a:lstStyle>
          <a:p>
            <a:pPr algn="l">
              <a:buNone/>
              <a:defRPr sz="1725" b="1">
                <a:solidFill>
                  <a:srgbClr val="002060"/>
                </a:solidFill>
                <a:latin typeface="Times New Roman"/>
                <a:ea typeface="Times New Roman"/>
                <a:cs typeface="Times New Roman"/>
              </a:defRPr>
            </a:pPr>
            <a:r>
              <a:rPr sz="2000" b="1" dirty="0">
                <a:solidFill>
                  <a:srgbClr val="002060"/>
                </a:solidFill>
                <a:latin typeface="Times New Roman"/>
                <a:ea typeface="Times New Roman"/>
                <a:cs typeface="Times New Roman"/>
              </a:rPr>
              <a:t>Use this class instead of the eager version. The holder creates the instance on first access.</a:t>
            </a:r>
          </a:p>
        </p:txBody>
      </p:sp>
      <p:sp>
        <p:nvSpPr>
          <p:cNvPr id="11" name="TextBox 10">
            <a:extLst>
              <a:ext uri="{FF2B5EF4-FFF2-40B4-BE49-F238E27FC236}">
                <a16:creationId xmlns:a16="http://schemas.microsoft.com/office/drawing/2014/main" id="{6D1D2425-703E-DAD2-86AA-2BD85909FBAB}"/>
              </a:ext>
            </a:extLst>
          </p:cNvPr>
          <p:cNvSpPr txBox="1"/>
          <p:nvPr/>
        </p:nvSpPr>
        <p:spPr>
          <a:xfrm>
            <a:off x="109932" y="1324527"/>
            <a:ext cx="3827176" cy="1754326"/>
          </a:xfrm>
          <a:prstGeom prst="rect">
            <a:avLst/>
          </a:prstGeom>
          <a:solidFill>
            <a:schemeClr val="accent3">
              <a:lumMod val="20000"/>
              <a:lumOff val="80000"/>
            </a:schemeClr>
          </a:solidFill>
        </p:spPr>
        <p:txBody>
          <a:bodyPr wrap="square">
            <a:spAutoFit/>
          </a:bodyPr>
          <a:lstStyle/>
          <a:p>
            <a:pPr rtl="0">
              <a:buNone/>
            </a:pPr>
            <a:r>
              <a:rPr lang="en-IN" dirty="0">
                <a:latin typeface="+mn-lt"/>
              </a:rPr>
              <a:t>public static Singleton </a:t>
            </a:r>
            <a:r>
              <a:rPr lang="en-IN" dirty="0" err="1">
                <a:latin typeface="+mn-lt"/>
              </a:rPr>
              <a:t>getInstance</a:t>
            </a:r>
            <a:r>
              <a:rPr lang="en-IN" dirty="0">
                <a:latin typeface="+mn-lt"/>
              </a:rPr>
              <a:t>() {</a:t>
            </a:r>
          </a:p>
          <a:p>
            <a:pPr rtl="0">
              <a:buNone/>
            </a:pPr>
            <a:r>
              <a:rPr lang="en-IN" dirty="0">
                <a:latin typeface="+mn-lt"/>
              </a:rPr>
              <a:t>    if (instance == null) {</a:t>
            </a:r>
          </a:p>
          <a:p>
            <a:pPr rtl="0">
              <a:buNone/>
            </a:pPr>
            <a:r>
              <a:rPr lang="en-IN" dirty="0">
                <a:latin typeface="+mn-lt"/>
              </a:rPr>
              <a:t>        instance = new Singleton();</a:t>
            </a:r>
          </a:p>
          <a:p>
            <a:pPr rtl="0">
              <a:buNone/>
            </a:pPr>
            <a:r>
              <a:rPr lang="en-IN" dirty="0">
                <a:latin typeface="+mn-lt"/>
              </a:rPr>
              <a:t>    }</a:t>
            </a:r>
          </a:p>
          <a:p>
            <a:pPr rtl="0">
              <a:buNone/>
            </a:pPr>
            <a:r>
              <a:rPr lang="en-IN" dirty="0">
                <a:latin typeface="+mn-lt"/>
              </a:rPr>
              <a:t>    return instance;</a:t>
            </a:r>
          </a:p>
          <a:p>
            <a:pPr rtl="0">
              <a:buNone/>
            </a:pPr>
            <a:r>
              <a:rPr lang="en-IN" dirty="0">
                <a:latin typeface="+mn-lt"/>
              </a:rPr>
              <a:t>}</a:t>
            </a:r>
            <a:endParaRPr lang="en-IN" dirty="0">
              <a:latin typeface="Courier New" panose="02070309020205020404" pitchFamily="49" charset="0"/>
            </a:endParaRPr>
          </a:p>
        </p:txBody>
      </p:sp>
      <p:sp>
        <p:nvSpPr>
          <p:cNvPr id="13" name="TextBox 12">
            <a:extLst>
              <a:ext uri="{FF2B5EF4-FFF2-40B4-BE49-F238E27FC236}">
                <a16:creationId xmlns:a16="http://schemas.microsoft.com/office/drawing/2014/main" id="{6F8AC9DF-B983-7386-F1C4-D45F53BA4580}"/>
              </a:ext>
            </a:extLst>
          </p:cNvPr>
          <p:cNvSpPr txBox="1"/>
          <p:nvPr/>
        </p:nvSpPr>
        <p:spPr>
          <a:xfrm>
            <a:off x="229852" y="4775781"/>
            <a:ext cx="3442738" cy="646331"/>
          </a:xfrm>
          <a:prstGeom prst="rect">
            <a:avLst/>
          </a:prstGeom>
          <a:noFill/>
        </p:spPr>
        <p:txBody>
          <a:bodyPr wrap="square">
            <a:spAutoFit/>
          </a:bodyPr>
          <a:lstStyle/>
          <a:p>
            <a:r>
              <a:rPr lang="en-IN" dirty="0"/>
              <a:t>To make lazy initialization thread-safe, use the </a:t>
            </a:r>
            <a:r>
              <a:rPr lang="en-IN" b="1" dirty="0"/>
              <a:t>static holder Class</a:t>
            </a:r>
            <a:endParaRPr lang="en-US" dirty="0"/>
          </a:p>
        </p:txBody>
      </p:sp>
      <p:cxnSp>
        <p:nvCxnSpPr>
          <p:cNvPr id="15" name="Straight Arrow Connector 14">
            <a:extLst>
              <a:ext uri="{FF2B5EF4-FFF2-40B4-BE49-F238E27FC236}">
                <a16:creationId xmlns:a16="http://schemas.microsoft.com/office/drawing/2014/main" id="{248962E6-02F4-5597-AE22-FFACD71BCB63}"/>
              </a:ext>
            </a:extLst>
          </p:cNvPr>
          <p:cNvCxnSpPr>
            <a:cxnSpLocks/>
          </p:cNvCxnSpPr>
          <p:nvPr/>
        </p:nvCxnSpPr>
        <p:spPr>
          <a:xfrm>
            <a:off x="3732550" y="5098947"/>
            <a:ext cx="744198" cy="0"/>
          </a:xfrm>
          <a:prstGeom prst="straightConnector1">
            <a:avLst/>
          </a:prstGeom>
          <a:ln w="57150">
            <a:tailEnd type="triangle"/>
          </a:ln>
        </p:spPr>
        <p:style>
          <a:lnRef idx="1">
            <a:schemeClr val="accent5"/>
          </a:lnRef>
          <a:fillRef idx="0">
            <a:schemeClr val="accent5"/>
          </a:fillRef>
          <a:effectRef idx="0">
            <a:schemeClr val="accent5"/>
          </a:effectRef>
          <a:fontRef idx="minor">
            <a:schemeClr val="tx1"/>
          </a:fontRef>
        </p:style>
      </p:cxnSp>
      <p:sp>
        <p:nvSpPr>
          <p:cNvPr id="19" name="TextBox 18">
            <a:extLst>
              <a:ext uri="{FF2B5EF4-FFF2-40B4-BE49-F238E27FC236}">
                <a16:creationId xmlns:a16="http://schemas.microsoft.com/office/drawing/2014/main" id="{79FD9C8F-B12D-379F-7793-0CEA8AA1715B}"/>
              </a:ext>
            </a:extLst>
          </p:cNvPr>
          <p:cNvSpPr txBox="1"/>
          <p:nvPr/>
        </p:nvSpPr>
        <p:spPr>
          <a:xfrm>
            <a:off x="4416788" y="732103"/>
            <a:ext cx="7400762" cy="646331"/>
          </a:xfrm>
          <a:prstGeom prst="rect">
            <a:avLst/>
          </a:prstGeom>
          <a:noFill/>
        </p:spPr>
        <p:txBody>
          <a:bodyPr wrap="square">
            <a:spAutoFit/>
          </a:bodyPr>
          <a:lstStyle/>
          <a:p>
            <a:r>
              <a:rPr lang="en-IN" b="1" dirty="0"/>
              <a:t>Basic lazy initialization is not thread-safe.</a:t>
            </a:r>
            <a:r>
              <a:rPr lang="en-IN" dirty="0"/>
              <a:t> </a:t>
            </a:r>
          </a:p>
          <a:p>
            <a:r>
              <a:rPr lang="en-IN" dirty="0"/>
              <a:t>Two threads could both see </a:t>
            </a:r>
            <a:r>
              <a:rPr lang="en-IN" dirty="0">
                <a:latin typeface="+mn-lt"/>
              </a:rPr>
              <a:t>instance == null</a:t>
            </a:r>
            <a:r>
              <a:rPr lang="en-IN" dirty="0"/>
              <a:t> and create separate objects.</a:t>
            </a:r>
            <a:endParaRPr lang="en-US" dirty="0"/>
          </a:p>
        </p:txBody>
      </p:sp>
    </p:spTree>
    <p:extLst>
      <p:ext uri="{BB962C8B-B14F-4D97-AF65-F5344CB8AC3E}">
        <p14:creationId xmlns:p14="http://schemas.microsoft.com/office/powerpoint/2010/main" val="675974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AD67CC-829E-448A-A546-E68ECB3B8012}"/>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lang="en-US" sz="1600"/>
          </a:p>
        </p:txBody>
      </p:sp>
      <p:sp>
        <p:nvSpPr>
          <p:cNvPr id="2" name="Rectangle 1">
            <a:extLst>
              <a:ext uri="{FF2B5EF4-FFF2-40B4-BE49-F238E27FC236}">
                <a16:creationId xmlns:a16="http://schemas.microsoft.com/office/drawing/2014/main" id="{968530FD-94B0-417A-B00A-4E608EDE4350}"/>
              </a:ext>
            </a:extLst>
          </p:cNvPr>
          <p:cNvSpPr>
            <a:spLocks noGrp="1"/>
          </p:cNvSpPr>
          <p:nvPr/>
        </p:nvSpPr>
        <p:spPr>
          <a:xfrm>
            <a:off x="790575" y="66675"/>
            <a:ext cx="10601325" cy="495300"/>
          </a:xfrm>
          <a:prstGeom prst="rect">
            <a:avLst/>
          </a:prstGeom>
          <a:noFill/>
          <a:ln w="0">
            <a:noFill/>
          </a:ln>
        </p:spPr>
        <p:txBody>
          <a:bodyPr anchor="ctr">
            <a:noAutofit/>
          </a:bodyPr>
          <a:lstStyle>
            <a:defPPr algn="ctr">
              <a:defRPr sz="2640">
                <a:solidFill>
                  <a:srgbClr val="002060"/>
                </a:solidFill>
                <a:latin typeface="Times New Roman"/>
                <a:ea typeface="Times New Roman"/>
                <a:cs typeface="Times New Roman"/>
              </a:defRPr>
            </a:defPPr>
          </a:lstStyle>
          <a:p>
            <a:pPr algn="ctr">
              <a:buNone/>
              <a:defRPr sz="2640" b="0">
                <a:solidFill>
                  <a:srgbClr val="002060"/>
                </a:solidFill>
                <a:latin typeface="Times New Roman"/>
                <a:ea typeface="Times New Roman"/>
                <a:cs typeface="Times New Roman"/>
              </a:defRPr>
            </a:pPr>
            <a:r>
              <a:rPr sz="2640" b="0">
                <a:solidFill>
                  <a:srgbClr val="002060"/>
                </a:solidFill>
                <a:latin typeface="Times New Roman"/>
                <a:ea typeface="Times New Roman"/>
                <a:cs typeface="Times New Roman"/>
              </a:rPr>
              <a:t>Java: Client Code and Output</a:t>
            </a:r>
          </a:p>
        </p:txBody>
      </p:sp>
      <p:sp>
        <p:nvSpPr>
          <p:cNvPr id="3" name="Rectangle 2">
            <a:extLst>
              <a:ext uri="{FF2B5EF4-FFF2-40B4-BE49-F238E27FC236}">
                <a16:creationId xmlns:a16="http://schemas.microsoft.com/office/drawing/2014/main" id="{BF3B36E2-24C4-4C47-9C71-13597FDCEC75}"/>
              </a:ext>
            </a:extLst>
          </p:cNvPr>
          <p:cNvSpPr>
            <a:spLocks noGrp="1"/>
          </p:cNvSpPr>
          <p:nvPr/>
        </p:nvSpPr>
        <p:spPr>
          <a:xfrm>
            <a:off x="552450" y="723900"/>
            <a:ext cx="4762500" cy="238125"/>
          </a:xfrm>
          <a:prstGeom prst="rect">
            <a:avLst/>
          </a:prstGeom>
          <a:noFill/>
          <a:ln w="0">
            <a:noFill/>
          </a:ln>
        </p:spPr>
        <p:txBody>
          <a:bodyPr anchor="ctr">
            <a:noAutofit/>
          </a:bodyPr>
          <a:lstStyle>
            <a:defPPr algn="l">
              <a:defRPr sz="956" b="1">
                <a:solidFill>
                  <a:srgbClr val="0000FF"/>
                </a:solidFill>
                <a:latin typeface="Times New Roman"/>
                <a:ea typeface="Times New Roman"/>
                <a:cs typeface="Times New Roman"/>
              </a:defRPr>
            </a:defPPr>
          </a:lstStyle>
          <a:p>
            <a:pPr algn="l">
              <a:buNone/>
              <a:defRPr sz="956" b="1">
                <a:solidFill>
                  <a:srgbClr val="0000FF"/>
                </a:solidFill>
                <a:latin typeface="Times New Roman"/>
                <a:ea typeface="Times New Roman"/>
                <a:cs typeface="Times New Roman"/>
              </a:defRPr>
            </a:pPr>
            <a:r>
              <a:rPr sz="1600" b="1">
                <a:solidFill>
                  <a:srgbClr val="0000FF"/>
                </a:solidFill>
                <a:latin typeface="Times New Roman"/>
                <a:ea typeface="Times New Roman"/>
                <a:cs typeface="Times New Roman"/>
              </a:rPr>
              <a:t>SINGLETON PATTERN</a:t>
            </a:r>
          </a:p>
        </p:txBody>
      </p:sp>
      <p:sp>
        <p:nvSpPr>
          <p:cNvPr id="4" name="Rectangle 3">
            <a:extLst>
              <a:ext uri="{FF2B5EF4-FFF2-40B4-BE49-F238E27FC236}">
                <a16:creationId xmlns:a16="http://schemas.microsoft.com/office/drawing/2014/main" id="{E9AB2384-2CC1-4A8C-9096-D34E8B19C5AC}"/>
              </a:ext>
            </a:extLst>
          </p:cNvPr>
          <p:cNvSpPr>
            <a:spLocks noGrp="1"/>
          </p:cNvSpPr>
          <p:nvPr/>
        </p:nvSpPr>
        <p:spPr>
          <a:xfrm>
            <a:off x="11258550" y="6486525"/>
            <a:ext cx="438150" cy="238125"/>
          </a:xfrm>
          <a:prstGeom prst="rect">
            <a:avLst/>
          </a:prstGeom>
          <a:noFill/>
          <a:ln w="0">
            <a:noFill/>
          </a:ln>
        </p:spPr>
        <p:txBody>
          <a:bodyPr anchor="ctr">
            <a:noAutofit/>
          </a:bodyPr>
          <a:lstStyle>
            <a:defPPr algn="l">
              <a:defRPr sz="968">
                <a:solidFill>
                  <a:srgbClr val="002060"/>
                </a:solidFill>
                <a:latin typeface="Times New Roman"/>
                <a:ea typeface="Times New Roman"/>
                <a:cs typeface="Times New Roman"/>
              </a:defRPr>
            </a:defPPr>
          </a:lstStyle>
          <a:p>
            <a:pPr algn="l">
              <a:buNone/>
              <a:defRPr sz="968" b="0">
                <a:solidFill>
                  <a:srgbClr val="002060"/>
                </a:solidFill>
                <a:latin typeface="Times New Roman"/>
                <a:ea typeface="Times New Roman"/>
                <a:cs typeface="Times New Roman"/>
              </a:defRPr>
            </a:pPr>
            <a:r>
              <a:rPr sz="1600" b="0">
                <a:solidFill>
                  <a:srgbClr val="002060"/>
                </a:solidFill>
                <a:latin typeface="Times New Roman"/>
                <a:ea typeface="Times New Roman"/>
                <a:cs typeface="Times New Roman"/>
              </a:rPr>
              <a:t>08</a:t>
            </a:r>
          </a:p>
        </p:txBody>
      </p:sp>
      <p:sp>
        <p:nvSpPr>
          <p:cNvPr id="5" name="Rectangle 4">
            <a:extLst>
              <a:ext uri="{FF2B5EF4-FFF2-40B4-BE49-F238E27FC236}">
                <a16:creationId xmlns:a16="http://schemas.microsoft.com/office/drawing/2014/main" id="{6DB9DB0D-79B0-4CAC-9D90-23948508348C}"/>
              </a:ext>
            </a:extLst>
          </p:cNvPr>
          <p:cNvSpPr>
            <a:spLocks noGrp="1"/>
          </p:cNvSpPr>
          <p:nvPr/>
        </p:nvSpPr>
        <p:spPr>
          <a:xfrm>
            <a:off x="628650" y="1333500"/>
            <a:ext cx="10906125" cy="2019300"/>
          </a:xfrm>
          <a:prstGeom prst="rect">
            <a:avLst/>
          </a:prstGeom>
          <a:solidFill>
            <a:srgbClr val="F8FAFC"/>
          </a:solidFill>
          <a:ln w="9525">
            <a:solidFill>
              <a:srgbClr val="002060"/>
            </a:solidFill>
          </a:ln>
        </p:spPr>
        <p:txBody>
          <a:bodyPr/>
          <a:lstStyle/>
          <a:p>
            <a:endParaRPr lang="en-US" sz="1600"/>
          </a:p>
        </p:txBody>
      </p:sp>
      <p:sp>
        <p:nvSpPr>
          <p:cNvPr id="6" name="Rectangle 5">
            <a:extLst>
              <a:ext uri="{FF2B5EF4-FFF2-40B4-BE49-F238E27FC236}">
                <a16:creationId xmlns:a16="http://schemas.microsoft.com/office/drawing/2014/main" id="{0590EBED-51A0-4C48-846A-76A84B5EAE93}"/>
              </a:ext>
            </a:extLst>
          </p:cNvPr>
          <p:cNvSpPr>
            <a:spLocks noGrp="1"/>
          </p:cNvSpPr>
          <p:nvPr/>
        </p:nvSpPr>
        <p:spPr>
          <a:xfrm>
            <a:off x="800100" y="1438275"/>
            <a:ext cx="10563225" cy="1809750"/>
          </a:xfrm>
          <a:prstGeom prst="rect">
            <a:avLst/>
          </a:prstGeom>
          <a:noFill/>
          <a:ln w="0">
            <a:noFill/>
          </a:ln>
        </p:spPr>
        <p:txBody>
          <a:bodyPr anchor="ctr">
            <a:noAutofit/>
          </a:bodyPr>
          <a:lstStyle>
            <a:defPPr algn="l">
              <a:defRPr sz="1650">
                <a:solidFill>
                  <a:srgbClr val="171717"/>
                </a:solidFill>
                <a:latin typeface="Courier New"/>
                <a:ea typeface="Courier New"/>
                <a:cs typeface="Courier New"/>
              </a:defRPr>
            </a:defPPr>
          </a:lstStyle>
          <a:p>
            <a:pPr algn="l">
              <a:buNone/>
              <a:defRPr sz="1650" b="0">
                <a:solidFill>
                  <a:srgbClr val="171717"/>
                </a:solidFill>
                <a:latin typeface="Courier New"/>
                <a:ea typeface="Courier New"/>
                <a:cs typeface="Courier New"/>
              </a:defRPr>
            </a:pPr>
            <a:r>
              <a:rPr sz="1600" b="0">
                <a:solidFill>
                  <a:srgbClr val="171717"/>
                </a:solidFill>
                <a:latin typeface="Courier New"/>
                <a:ea typeface="Courier New"/>
                <a:cs typeface="Courier New"/>
              </a:rPr>
              <a:t>AppConfig a = AppConfig.getInstance();</a:t>
            </a:r>
          </a:p>
          <a:p>
            <a:pPr algn="l">
              <a:buNone/>
              <a:defRPr sz="1650" b="0">
                <a:solidFill>
                  <a:srgbClr val="171717"/>
                </a:solidFill>
                <a:latin typeface="Courier New"/>
                <a:ea typeface="Courier New"/>
                <a:cs typeface="Courier New"/>
              </a:defRPr>
            </a:pPr>
            <a:r>
              <a:rPr sz="1600" b="0">
                <a:solidFill>
                  <a:srgbClr val="171717"/>
                </a:solidFill>
                <a:latin typeface="Courier New"/>
                <a:ea typeface="Courier New"/>
                <a:cs typeface="Courier New"/>
              </a:rPr>
              <a:t>AppConfig b = AppConfig.getInstance();</a:t>
            </a:r>
          </a:p>
          <a:p>
            <a:pPr algn="l">
              <a:defRPr sz="1650">
                <a:solidFill>
                  <a:srgbClr val="171717"/>
                </a:solidFill>
                <a:latin typeface="Courier New"/>
                <a:ea typeface="Courier New"/>
                <a:cs typeface="Courier New"/>
              </a:defRPr>
            </a:pPr>
            <a:r>
              <a:rPr sz="1600">
                <a:solidFill>
                  <a:srgbClr val="171717"/>
                </a:solidFill>
                <a:latin typeface="Courier New"/>
                <a:ea typeface="Courier New"/>
                <a:cs typeface="Courier New"/>
              </a:rPr>
              <a:t>a.setTheme("Dark");</a:t>
            </a:r>
          </a:p>
          <a:p>
            <a:pPr algn="l">
              <a:buNone/>
              <a:defRPr sz="1650" b="0">
                <a:solidFill>
                  <a:srgbClr val="171717"/>
                </a:solidFill>
                <a:latin typeface="Courier New"/>
                <a:ea typeface="Courier New"/>
                <a:cs typeface="Courier New"/>
              </a:defRPr>
            </a:pPr>
            <a:r>
              <a:rPr sz="1600" b="0">
                <a:solidFill>
                  <a:srgbClr val="171717"/>
                </a:solidFill>
                <a:latin typeface="Courier New"/>
                <a:ea typeface="Courier New"/>
                <a:cs typeface="Courier New"/>
              </a:rPr>
              <a:t>System.out.println(a == b);</a:t>
            </a:r>
          </a:p>
          <a:p>
            <a:pPr algn="l">
              <a:buNone/>
              <a:defRPr sz="1650" b="0">
                <a:solidFill>
                  <a:srgbClr val="171717"/>
                </a:solidFill>
                <a:latin typeface="Courier New"/>
                <a:ea typeface="Courier New"/>
                <a:cs typeface="Courier New"/>
              </a:defRPr>
            </a:pPr>
            <a:r>
              <a:rPr sz="1600" b="0">
                <a:solidFill>
                  <a:srgbClr val="171717"/>
                </a:solidFill>
                <a:latin typeface="Courier New"/>
                <a:ea typeface="Courier New"/>
                <a:cs typeface="Courier New"/>
              </a:rPr>
              <a:t>System.out.println(b.getTheme());</a:t>
            </a:r>
          </a:p>
        </p:txBody>
      </p:sp>
      <p:sp>
        <p:nvSpPr>
          <p:cNvPr id="7" name="Rectangle 6">
            <a:extLst>
              <a:ext uri="{FF2B5EF4-FFF2-40B4-BE49-F238E27FC236}">
                <a16:creationId xmlns:a16="http://schemas.microsoft.com/office/drawing/2014/main" id="{61CACA0B-9D02-4C6A-BC52-F494B7FF2EEC}"/>
              </a:ext>
            </a:extLst>
          </p:cNvPr>
          <p:cNvSpPr>
            <a:spLocks noGrp="1"/>
          </p:cNvSpPr>
          <p:nvPr/>
        </p:nvSpPr>
        <p:spPr>
          <a:xfrm>
            <a:off x="628650" y="3638550"/>
            <a:ext cx="5057775" cy="2095500"/>
          </a:xfrm>
          <a:prstGeom prst="rect">
            <a:avLst/>
          </a:prstGeom>
          <a:solidFill>
            <a:srgbClr val="DDF2D5"/>
          </a:solidFill>
          <a:ln w="0">
            <a:noFill/>
          </a:ln>
        </p:spPr>
        <p:txBody>
          <a:bodyPr/>
          <a:lstStyle/>
          <a:p>
            <a:endParaRPr lang="en-US" sz="2000"/>
          </a:p>
        </p:txBody>
      </p:sp>
      <p:sp>
        <p:nvSpPr>
          <p:cNvPr id="8" name="Rectangle 7">
            <a:extLst>
              <a:ext uri="{FF2B5EF4-FFF2-40B4-BE49-F238E27FC236}">
                <a16:creationId xmlns:a16="http://schemas.microsoft.com/office/drawing/2014/main" id="{0A9CDFC5-27B3-4513-A8B9-DE72259DD703}"/>
              </a:ext>
            </a:extLst>
          </p:cNvPr>
          <p:cNvSpPr>
            <a:spLocks noGrp="1"/>
          </p:cNvSpPr>
          <p:nvPr/>
        </p:nvSpPr>
        <p:spPr>
          <a:xfrm>
            <a:off x="800100" y="3781425"/>
            <a:ext cx="4572000" cy="295275"/>
          </a:xfrm>
          <a:prstGeom prst="rect">
            <a:avLst/>
          </a:prstGeom>
          <a:noFill/>
          <a:ln w="0">
            <a:noFill/>
          </a:ln>
        </p:spPr>
        <p:txBody>
          <a:bodyPr anchor="ctr">
            <a:noAutofit/>
          </a:bodyPr>
          <a:lstStyle>
            <a:defPPr algn="l">
              <a:defRPr sz="1346" b="1">
                <a:solidFill>
                  <a:srgbClr val="0000FF"/>
                </a:solidFill>
                <a:latin typeface="Times New Roman"/>
                <a:ea typeface="Times New Roman"/>
                <a:cs typeface="Times New Roman"/>
              </a:defRPr>
            </a:defPPr>
          </a:lstStyle>
          <a:p>
            <a:pPr algn="l">
              <a:buNone/>
              <a:defRPr sz="1346" b="1">
                <a:solidFill>
                  <a:srgbClr val="0000FF"/>
                </a:solidFill>
                <a:latin typeface="Times New Roman"/>
                <a:ea typeface="Times New Roman"/>
                <a:cs typeface="Times New Roman"/>
              </a:defRPr>
            </a:pPr>
            <a:r>
              <a:rPr sz="2000" b="1">
                <a:solidFill>
                  <a:srgbClr val="0000FF"/>
                </a:solidFill>
                <a:latin typeface="Times New Roman"/>
                <a:ea typeface="Times New Roman"/>
                <a:cs typeface="Times New Roman"/>
              </a:rPr>
              <a:t>Output</a:t>
            </a:r>
          </a:p>
        </p:txBody>
      </p:sp>
      <p:sp>
        <p:nvSpPr>
          <p:cNvPr id="9" name="Rectangle 8">
            <a:extLst>
              <a:ext uri="{FF2B5EF4-FFF2-40B4-BE49-F238E27FC236}">
                <a16:creationId xmlns:a16="http://schemas.microsoft.com/office/drawing/2014/main" id="{7933D06E-2BCC-4340-A811-20C77154985C}"/>
              </a:ext>
            </a:extLst>
          </p:cNvPr>
          <p:cNvSpPr>
            <a:spLocks noGrp="1"/>
          </p:cNvSpPr>
          <p:nvPr/>
        </p:nvSpPr>
        <p:spPr>
          <a:xfrm>
            <a:off x="809625" y="4352925"/>
            <a:ext cx="4552950" cy="866775"/>
          </a:xfrm>
          <a:prstGeom prst="rect">
            <a:avLst/>
          </a:prstGeom>
          <a:solidFill>
            <a:srgbClr val="F8FAFC"/>
          </a:solidFill>
          <a:ln w="9525">
            <a:solidFill>
              <a:srgbClr val="002060"/>
            </a:solidFill>
          </a:ln>
        </p:spPr>
        <p:txBody>
          <a:bodyPr/>
          <a:lstStyle/>
          <a:p>
            <a:endParaRPr lang="en-US" sz="2000"/>
          </a:p>
        </p:txBody>
      </p:sp>
      <p:sp>
        <p:nvSpPr>
          <p:cNvPr id="10" name="Rectangle 9">
            <a:extLst>
              <a:ext uri="{FF2B5EF4-FFF2-40B4-BE49-F238E27FC236}">
                <a16:creationId xmlns:a16="http://schemas.microsoft.com/office/drawing/2014/main" id="{45355B91-E279-4BA8-BE91-5B3DC26D1681}"/>
              </a:ext>
            </a:extLst>
          </p:cNvPr>
          <p:cNvSpPr>
            <a:spLocks noGrp="1"/>
          </p:cNvSpPr>
          <p:nvPr/>
        </p:nvSpPr>
        <p:spPr>
          <a:xfrm>
            <a:off x="981075" y="4457700"/>
            <a:ext cx="4210050" cy="657225"/>
          </a:xfrm>
          <a:prstGeom prst="rect">
            <a:avLst/>
          </a:prstGeom>
          <a:noFill/>
          <a:ln w="0">
            <a:noFill/>
          </a:ln>
        </p:spPr>
        <p:txBody>
          <a:bodyPr anchor="ctr">
            <a:noAutofit/>
          </a:bodyPr>
          <a:lstStyle>
            <a:defPPr algn="l">
              <a:defRPr sz="1575">
                <a:solidFill>
                  <a:srgbClr val="171717"/>
                </a:solidFill>
                <a:latin typeface="Courier New"/>
                <a:ea typeface="Courier New"/>
                <a:cs typeface="Courier New"/>
              </a:defRPr>
            </a:defPPr>
          </a:lstStyle>
          <a:p>
            <a:pPr algn="l">
              <a:buNone/>
              <a:defRPr sz="1575" b="0">
                <a:solidFill>
                  <a:srgbClr val="171717"/>
                </a:solidFill>
                <a:latin typeface="Courier New"/>
                <a:ea typeface="Courier New"/>
                <a:cs typeface="Courier New"/>
              </a:defRPr>
            </a:pPr>
            <a:r>
              <a:rPr sz="2000" b="0">
                <a:solidFill>
                  <a:srgbClr val="171717"/>
                </a:solidFill>
                <a:latin typeface="Courier New"/>
                <a:ea typeface="Courier New"/>
                <a:cs typeface="Courier New"/>
              </a:rPr>
              <a:t>true</a:t>
            </a:r>
          </a:p>
          <a:p>
            <a:pPr algn="l">
              <a:buNone/>
              <a:defRPr sz="1575" b="0">
                <a:solidFill>
                  <a:srgbClr val="171717"/>
                </a:solidFill>
                <a:latin typeface="Courier New"/>
                <a:ea typeface="Courier New"/>
                <a:cs typeface="Courier New"/>
              </a:defRPr>
            </a:pPr>
            <a:r>
              <a:rPr sz="2000" b="0">
                <a:solidFill>
                  <a:srgbClr val="171717"/>
                </a:solidFill>
                <a:latin typeface="Courier New"/>
                <a:ea typeface="Courier New"/>
                <a:cs typeface="Courier New"/>
              </a:rPr>
              <a:t>Dark</a:t>
            </a:r>
          </a:p>
        </p:txBody>
      </p:sp>
      <p:sp>
        <p:nvSpPr>
          <p:cNvPr id="11" name="Rectangle 10">
            <a:extLst>
              <a:ext uri="{FF2B5EF4-FFF2-40B4-BE49-F238E27FC236}">
                <a16:creationId xmlns:a16="http://schemas.microsoft.com/office/drawing/2014/main" id="{D3BEAA09-23CB-4D10-A1AA-33DDED860781}"/>
              </a:ext>
            </a:extLst>
          </p:cNvPr>
          <p:cNvSpPr>
            <a:spLocks noGrp="1"/>
          </p:cNvSpPr>
          <p:nvPr/>
        </p:nvSpPr>
        <p:spPr>
          <a:xfrm>
            <a:off x="5962650" y="3638550"/>
            <a:ext cx="5581650" cy="2095500"/>
          </a:xfrm>
          <a:prstGeom prst="rect">
            <a:avLst/>
          </a:prstGeom>
          <a:solidFill>
            <a:srgbClr val="F6C6AD"/>
          </a:solidFill>
          <a:ln w="0">
            <a:noFill/>
          </a:ln>
        </p:spPr>
        <p:txBody>
          <a:bodyPr/>
          <a:lstStyle/>
          <a:p>
            <a:endParaRPr lang="en-US" sz="2000"/>
          </a:p>
        </p:txBody>
      </p:sp>
      <p:sp>
        <p:nvSpPr>
          <p:cNvPr id="12" name="Rectangle 11">
            <a:extLst>
              <a:ext uri="{FF2B5EF4-FFF2-40B4-BE49-F238E27FC236}">
                <a16:creationId xmlns:a16="http://schemas.microsoft.com/office/drawing/2014/main" id="{230ACBD2-3F4B-4FEE-B76E-8FD5D6C85463}"/>
              </a:ext>
            </a:extLst>
          </p:cNvPr>
          <p:cNvSpPr>
            <a:spLocks noGrp="1"/>
          </p:cNvSpPr>
          <p:nvPr/>
        </p:nvSpPr>
        <p:spPr>
          <a:xfrm>
            <a:off x="6134100" y="3781425"/>
            <a:ext cx="5095875" cy="323850"/>
          </a:xfrm>
          <a:prstGeom prst="rect">
            <a:avLst/>
          </a:prstGeom>
          <a:noFill/>
          <a:ln w="0">
            <a:noFill/>
          </a:ln>
        </p:spPr>
        <p:txBody>
          <a:bodyPr anchor="ctr">
            <a:noAutofit/>
          </a:bodyPr>
          <a:lstStyle>
            <a:defPPr algn="l">
              <a:defRPr sz="1518" b="1">
                <a:solidFill>
                  <a:srgbClr val="C00000"/>
                </a:solidFill>
                <a:latin typeface="Times New Roman"/>
                <a:ea typeface="Times New Roman"/>
                <a:cs typeface="Times New Roman"/>
              </a:defRPr>
            </a:defPPr>
          </a:lstStyle>
          <a:p>
            <a:pPr algn="l">
              <a:buNone/>
              <a:defRPr sz="1518" b="1">
                <a:solidFill>
                  <a:srgbClr val="C00000"/>
                </a:solidFill>
                <a:latin typeface="Times New Roman"/>
                <a:ea typeface="Times New Roman"/>
                <a:cs typeface="Times New Roman"/>
              </a:defRPr>
            </a:pPr>
            <a:r>
              <a:rPr sz="2000" b="1">
                <a:solidFill>
                  <a:srgbClr val="C00000"/>
                </a:solidFill>
                <a:latin typeface="Times New Roman"/>
                <a:ea typeface="Times New Roman"/>
                <a:cs typeface="Times New Roman"/>
              </a:rPr>
              <a:t>What the output means</a:t>
            </a:r>
          </a:p>
        </p:txBody>
      </p:sp>
      <p:sp>
        <p:nvSpPr>
          <p:cNvPr id="13" name="Rectangle 12">
            <a:extLst>
              <a:ext uri="{FF2B5EF4-FFF2-40B4-BE49-F238E27FC236}">
                <a16:creationId xmlns:a16="http://schemas.microsoft.com/office/drawing/2014/main" id="{62A96704-608F-42C1-92AE-67BB61CD6918}"/>
              </a:ext>
            </a:extLst>
          </p:cNvPr>
          <p:cNvSpPr>
            <a:spLocks noGrp="1"/>
          </p:cNvSpPr>
          <p:nvPr/>
        </p:nvSpPr>
        <p:spPr>
          <a:xfrm>
            <a:off x="6134100" y="4305300"/>
            <a:ext cx="5095875" cy="1133475"/>
          </a:xfrm>
          <a:prstGeom prst="rect">
            <a:avLst/>
          </a:prstGeom>
          <a:noFill/>
          <a:ln w="0">
            <a:noFill/>
          </a:ln>
        </p:spPr>
        <p:txBody>
          <a:bodyPr anchor="ctr">
            <a:noAutofit/>
          </a:bodyPr>
          <a:lstStyle>
            <a:defPPr algn="l">
              <a:defRPr sz="1800">
                <a:solidFill>
                  <a:srgbClr val="171717"/>
                </a:solidFill>
                <a:latin typeface="Times New Roman"/>
                <a:ea typeface="Times New Roman"/>
                <a:cs typeface="Times New Roman"/>
              </a:defRPr>
            </a:defPPr>
          </a:lstStyle>
          <a:p>
            <a:pPr algn="l">
              <a:buNone/>
              <a:defRPr sz="1800" b="0">
                <a:solidFill>
                  <a:srgbClr val="171717"/>
                </a:solidFill>
                <a:latin typeface="Times New Roman"/>
                <a:ea typeface="Times New Roman"/>
                <a:cs typeface="Times New Roman"/>
              </a:defRPr>
            </a:pPr>
            <a:r>
              <a:rPr sz="2000" b="0">
                <a:solidFill>
                  <a:srgbClr val="171717"/>
                </a:solidFill>
                <a:latin typeface="Times New Roman"/>
                <a:ea typeface="Times New Roman"/>
                <a:cs typeface="Times New Roman"/>
              </a:rPr>
              <a:t>true means a and b refer to the same object. Dark confirms that Client B sees the setting Client A changed.</a:t>
            </a:r>
          </a:p>
        </p:txBody>
      </p:sp>
      <p:sp>
        <p:nvSpPr>
          <p:cNvPr id="14" name="Rectangle 13">
            <a:extLst>
              <a:ext uri="{FF2B5EF4-FFF2-40B4-BE49-F238E27FC236}">
                <a16:creationId xmlns:a16="http://schemas.microsoft.com/office/drawing/2014/main" id="{9100F767-8D82-4EF0-BBED-0A0D6026C332}"/>
              </a:ext>
            </a:extLst>
          </p:cNvPr>
          <p:cNvSpPr>
            <a:spLocks noGrp="1"/>
          </p:cNvSpPr>
          <p:nvPr/>
        </p:nvSpPr>
        <p:spPr>
          <a:xfrm>
            <a:off x="781050" y="5905500"/>
            <a:ext cx="10477500" cy="400050"/>
          </a:xfrm>
          <a:prstGeom prst="rect">
            <a:avLst/>
          </a:prstGeom>
          <a:noFill/>
          <a:ln w="0">
            <a:noFill/>
          </a:ln>
        </p:spPr>
        <p:txBody>
          <a:bodyPr anchor="ctr">
            <a:noAutofit/>
          </a:bodyPr>
          <a:lstStyle>
            <a:defPPr algn="l">
              <a:defRPr sz="1725" b="1">
                <a:solidFill>
                  <a:srgbClr val="002060"/>
                </a:solidFill>
                <a:latin typeface="Times New Roman"/>
                <a:ea typeface="Times New Roman"/>
                <a:cs typeface="Times New Roman"/>
              </a:defRPr>
            </a:defPPr>
          </a:lstStyle>
          <a:p>
            <a:pPr algn="l">
              <a:buNone/>
              <a:defRPr sz="1725" b="1">
                <a:solidFill>
                  <a:srgbClr val="002060"/>
                </a:solidFill>
                <a:latin typeface="Times New Roman"/>
                <a:ea typeface="Times New Roman"/>
                <a:cs typeface="Times New Roman"/>
              </a:defRPr>
            </a:pPr>
            <a:r>
              <a:rPr sz="2000" b="1">
                <a:solidFill>
                  <a:srgbClr val="002060"/>
                </a:solidFill>
                <a:latin typeface="Times New Roman"/>
                <a:ea typeface="Times New Roman"/>
                <a:cs typeface="Times New Roman"/>
              </a:rPr>
              <a:t>The same client code works with either the eager singleton or the lazy holder implementation.</a:t>
            </a:r>
          </a:p>
        </p:txBody>
      </p:sp>
    </p:spTree>
    <p:extLst>
      <p:ext uri="{BB962C8B-B14F-4D97-AF65-F5344CB8AC3E}">
        <p14:creationId xmlns:p14="http://schemas.microsoft.com/office/powerpoint/2010/main" val="1193980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AA61EFB-494E-45EE-9815-C36C3D6611EC}"/>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lang="en-US" sz="2000"/>
          </a:p>
        </p:txBody>
      </p:sp>
      <p:sp>
        <p:nvSpPr>
          <p:cNvPr id="2" name="Rectangle 1">
            <a:extLst>
              <a:ext uri="{FF2B5EF4-FFF2-40B4-BE49-F238E27FC236}">
                <a16:creationId xmlns:a16="http://schemas.microsoft.com/office/drawing/2014/main" id="{7E04037A-4FA1-4565-85A7-8B48CA294C32}"/>
              </a:ext>
            </a:extLst>
          </p:cNvPr>
          <p:cNvSpPr>
            <a:spLocks noGrp="1"/>
          </p:cNvSpPr>
          <p:nvPr/>
        </p:nvSpPr>
        <p:spPr>
          <a:xfrm>
            <a:off x="790575" y="66675"/>
            <a:ext cx="10601325" cy="495300"/>
          </a:xfrm>
          <a:prstGeom prst="rect">
            <a:avLst/>
          </a:prstGeom>
          <a:noFill/>
          <a:ln w="0">
            <a:noFill/>
          </a:ln>
        </p:spPr>
        <p:txBody>
          <a:bodyPr anchor="ctr">
            <a:noAutofit/>
          </a:bodyPr>
          <a:lstStyle>
            <a:defPPr algn="ctr">
              <a:defRPr sz="2640">
                <a:solidFill>
                  <a:srgbClr val="002060"/>
                </a:solidFill>
                <a:latin typeface="Times New Roman"/>
                <a:ea typeface="Times New Roman"/>
                <a:cs typeface="Times New Roman"/>
              </a:defRPr>
            </a:defPPr>
          </a:lstStyle>
          <a:p>
            <a:pPr algn="ctr">
              <a:buNone/>
              <a:defRPr sz="2640" b="0">
                <a:solidFill>
                  <a:srgbClr val="002060"/>
                </a:solidFill>
                <a:latin typeface="Times New Roman"/>
                <a:ea typeface="Times New Roman"/>
                <a:cs typeface="Times New Roman"/>
              </a:defRPr>
            </a:pPr>
            <a:r>
              <a:rPr sz="2640" b="0">
                <a:solidFill>
                  <a:srgbClr val="002060"/>
                </a:solidFill>
                <a:latin typeface="Times New Roman"/>
                <a:ea typeface="Times New Roman"/>
                <a:cs typeface="Times New Roman"/>
              </a:rPr>
              <a:t>Example: A Shared Service Coordinator</a:t>
            </a:r>
          </a:p>
        </p:txBody>
      </p:sp>
      <p:sp>
        <p:nvSpPr>
          <p:cNvPr id="3" name="Rectangle 2">
            <a:extLst>
              <a:ext uri="{FF2B5EF4-FFF2-40B4-BE49-F238E27FC236}">
                <a16:creationId xmlns:a16="http://schemas.microsoft.com/office/drawing/2014/main" id="{07EC4885-92B4-4E7C-A30B-E544EAD72B46}"/>
              </a:ext>
            </a:extLst>
          </p:cNvPr>
          <p:cNvSpPr>
            <a:spLocks noGrp="1"/>
          </p:cNvSpPr>
          <p:nvPr/>
        </p:nvSpPr>
        <p:spPr>
          <a:xfrm>
            <a:off x="552450" y="723900"/>
            <a:ext cx="4762500" cy="238125"/>
          </a:xfrm>
          <a:prstGeom prst="rect">
            <a:avLst/>
          </a:prstGeom>
          <a:noFill/>
          <a:ln w="0">
            <a:noFill/>
          </a:ln>
        </p:spPr>
        <p:txBody>
          <a:bodyPr anchor="ctr">
            <a:noAutofit/>
          </a:bodyPr>
          <a:lstStyle>
            <a:defPPr algn="l">
              <a:defRPr sz="956" b="1">
                <a:solidFill>
                  <a:srgbClr val="0000FF"/>
                </a:solidFill>
                <a:latin typeface="Times New Roman"/>
                <a:ea typeface="Times New Roman"/>
                <a:cs typeface="Times New Roman"/>
              </a:defRPr>
            </a:defPPr>
          </a:lstStyle>
          <a:p>
            <a:pPr algn="l">
              <a:buNone/>
              <a:defRPr sz="956" b="1">
                <a:solidFill>
                  <a:srgbClr val="0000FF"/>
                </a:solidFill>
                <a:latin typeface="Times New Roman"/>
                <a:ea typeface="Times New Roman"/>
                <a:cs typeface="Times New Roman"/>
              </a:defRPr>
            </a:pPr>
            <a:r>
              <a:rPr sz="2000" b="1">
                <a:solidFill>
                  <a:srgbClr val="0000FF"/>
                </a:solidFill>
                <a:latin typeface="Times New Roman"/>
                <a:ea typeface="Times New Roman"/>
                <a:cs typeface="Times New Roman"/>
              </a:rPr>
              <a:t>SINGLETON PATTERN</a:t>
            </a:r>
          </a:p>
        </p:txBody>
      </p:sp>
      <p:sp>
        <p:nvSpPr>
          <p:cNvPr id="4" name="Rectangle 3">
            <a:extLst>
              <a:ext uri="{FF2B5EF4-FFF2-40B4-BE49-F238E27FC236}">
                <a16:creationId xmlns:a16="http://schemas.microsoft.com/office/drawing/2014/main" id="{6DA34254-FC02-45AB-B9A0-35F7F1124BD7}"/>
              </a:ext>
            </a:extLst>
          </p:cNvPr>
          <p:cNvSpPr>
            <a:spLocks noGrp="1"/>
          </p:cNvSpPr>
          <p:nvPr/>
        </p:nvSpPr>
        <p:spPr>
          <a:xfrm>
            <a:off x="11258550" y="6486525"/>
            <a:ext cx="438150" cy="238125"/>
          </a:xfrm>
          <a:prstGeom prst="rect">
            <a:avLst/>
          </a:prstGeom>
          <a:noFill/>
          <a:ln w="0">
            <a:noFill/>
          </a:ln>
        </p:spPr>
        <p:txBody>
          <a:bodyPr anchor="ctr">
            <a:noAutofit/>
          </a:bodyPr>
          <a:lstStyle>
            <a:defPPr algn="l">
              <a:defRPr sz="968">
                <a:solidFill>
                  <a:srgbClr val="002060"/>
                </a:solidFill>
                <a:latin typeface="Times New Roman"/>
                <a:ea typeface="Times New Roman"/>
                <a:cs typeface="Times New Roman"/>
              </a:defRPr>
            </a:defPPr>
          </a:lstStyle>
          <a:p>
            <a:pPr algn="l">
              <a:buNone/>
              <a:defRPr sz="968" b="0">
                <a:solidFill>
                  <a:srgbClr val="002060"/>
                </a:solidFill>
                <a:latin typeface="Times New Roman"/>
                <a:ea typeface="Times New Roman"/>
                <a:cs typeface="Times New Roman"/>
              </a:defRPr>
            </a:pPr>
            <a:r>
              <a:rPr sz="2000" b="0">
                <a:solidFill>
                  <a:srgbClr val="002060"/>
                </a:solidFill>
                <a:latin typeface="Times New Roman"/>
                <a:ea typeface="Times New Roman"/>
                <a:cs typeface="Times New Roman"/>
              </a:rPr>
              <a:t>09</a:t>
            </a:r>
          </a:p>
        </p:txBody>
      </p:sp>
      <p:sp>
        <p:nvSpPr>
          <p:cNvPr id="5" name="Rectangle 4">
            <a:extLst>
              <a:ext uri="{FF2B5EF4-FFF2-40B4-BE49-F238E27FC236}">
                <a16:creationId xmlns:a16="http://schemas.microsoft.com/office/drawing/2014/main" id="{6C895F32-0082-4796-8FBC-130C76CA3518}"/>
              </a:ext>
            </a:extLst>
          </p:cNvPr>
          <p:cNvSpPr>
            <a:spLocks noGrp="1"/>
          </p:cNvSpPr>
          <p:nvPr/>
        </p:nvSpPr>
        <p:spPr>
          <a:xfrm>
            <a:off x="676275" y="1724025"/>
            <a:ext cx="2438400" cy="1066800"/>
          </a:xfrm>
          <a:prstGeom prst="rect">
            <a:avLst/>
          </a:prstGeom>
          <a:solidFill>
            <a:srgbClr val="DDEBF3"/>
          </a:solidFill>
          <a:ln w="9525">
            <a:solidFill>
              <a:srgbClr val="002060"/>
            </a:solidFill>
          </a:ln>
        </p:spPr>
        <p:txBody>
          <a:bodyPr/>
          <a:lstStyle/>
          <a:p>
            <a:endParaRPr lang="en-US" sz="2000"/>
          </a:p>
        </p:txBody>
      </p:sp>
      <p:sp>
        <p:nvSpPr>
          <p:cNvPr id="6" name="Rectangle 5">
            <a:extLst>
              <a:ext uri="{FF2B5EF4-FFF2-40B4-BE49-F238E27FC236}">
                <a16:creationId xmlns:a16="http://schemas.microsoft.com/office/drawing/2014/main" id="{8A409391-6233-4DF4-9698-07AE83204958}"/>
              </a:ext>
            </a:extLst>
          </p:cNvPr>
          <p:cNvSpPr>
            <a:spLocks noGrp="1"/>
          </p:cNvSpPr>
          <p:nvPr/>
        </p:nvSpPr>
        <p:spPr>
          <a:xfrm>
            <a:off x="752475" y="1781175"/>
            <a:ext cx="2286000" cy="952500"/>
          </a:xfrm>
          <a:prstGeom prst="rect">
            <a:avLst/>
          </a:prstGeom>
          <a:noFill/>
          <a:ln w="0">
            <a:noFill/>
          </a:ln>
        </p:spPr>
        <p:txBody>
          <a:bodyPr anchor="ctr">
            <a:noAutofit/>
          </a:bodyPr>
          <a:lstStyle>
            <a:defPPr algn="ctr">
              <a:defRPr sz="1650" b="1">
                <a:solidFill>
                  <a:srgbClr val="002060"/>
                </a:solidFill>
                <a:latin typeface="Times New Roman"/>
                <a:ea typeface="Times New Roman"/>
                <a:cs typeface="Times New Roman"/>
              </a:defRPr>
            </a:defPPr>
          </a:lstStyle>
          <a:p>
            <a:pPr algn="ctr">
              <a:buNone/>
              <a:defRPr sz="1650" b="1">
                <a:solidFill>
                  <a:srgbClr val="002060"/>
                </a:solidFill>
                <a:latin typeface="Times New Roman"/>
                <a:ea typeface="Times New Roman"/>
                <a:cs typeface="Times New Roman"/>
              </a:defRPr>
            </a:pPr>
            <a:r>
              <a:rPr sz="2000" b="1">
                <a:solidFill>
                  <a:srgbClr val="002060"/>
                </a:solidFill>
                <a:latin typeface="Times New Roman"/>
                <a:ea typeface="Times New Roman"/>
                <a:cs typeface="Times New Roman"/>
              </a:rPr>
              <a:t>Module A</a:t>
            </a:r>
          </a:p>
          <a:p>
            <a:pPr algn="ctr">
              <a:buNone/>
              <a:defRPr sz="1650" b="1">
                <a:solidFill>
                  <a:srgbClr val="002060"/>
                </a:solidFill>
                <a:latin typeface="Times New Roman"/>
                <a:ea typeface="Times New Roman"/>
                <a:cs typeface="Times New Roman"/>
              </a:defRPr>
            </a:pPr>
            <a:r>
              <a:rPr sz="2000" b="1">
                <a:solidFill>
                  <a:srgbClr val="002060"/>
                </a:solidFill>
                <a:latin typeface="Times New Roman"/>
                <a:ea typeface="Times New Roman"/>
                <a:cs typeface="Times New Roman"/>
              </a:rPr>
              <a:t>requests service</a:t>
            </a:r>
          </a:p>
        </p:txBody>
      </p:sp>
      <p:sp>
        <p:nvSpPr>
          <p:cNvPr id="7" name="Rectangle 6">
            <a:extLst>
              <a:ext uri="{FF2B5EF4-FFF2-40B4-BE49-F238E27FC236}">
                <a16:creationId xmlns:a16="http://schemas.microsoft.com/office/drawing/2014/main" id="{06DCDB96-FF48-48F9-8B02-49F865DF62C6}"/>
              </a:ext>
            </a:extLst>
          </p:cNvPr>
          <p:cNvSpPr>
            <a:spLocks noGrp="1"/>
          </p:cNvSpPr>
          <p:nvPr/>
        </p:nvSpPr>
        <p:spPr>
          <a:xfrm>
            <a:off x="4076700" y="1724025"/>
            <a:ext cx="2628900" cy="1066800"/>
          </a:xfrm>
          <a:prstGeom prst="rect">
            <a:avLst/>
          </a:prstGeom>
          <a:solidFill>
            <a:srgbClr val="F6C6AD"/>
          </a:solidFill>
          <a:ln w="9525">
            <a:solidFill>
              <a:srgbClr val="002060"/>
            </a:solidFill>
          </a:ln>
        </p:spPr>
        <p:txBody>
          <a:bodyPr/>
          <a:lstStyle/>
          <a:p>
            <a:endParaRPr lang="en-US" sz="2000"/>
          </a:p>
        </p:txBody>
      </p:sp>
      <p:sp>
        <p:nvSpPr>
          <p:cNvPr id="8" name="Rectangle 7">
            <a:extLst>
              <a:ext uri="{FF2B5EF4-FFF2-40B4-BE49-F238E27FC236}">
                <a16:creationId xmlns:a16="http://schemas.microsoft.com/office/drawing/2014/main" id="{35846081-182D-44BB-86F2-A4C026368EED}"/>
              </a:ext>
            </a:extLst>
          </p:cNvPr>
          <p:cNvSpPr>
            <a:spLocks noGrp="1"/>
          </p:cNvSpPr>
          <p:nvPr/>
        </p:nvSpPr>
        <p:spPr>
          <a:xfrm>
            <a:off x="4152900" y="1781175"/>
            <a:ext cx="2476500" cy="952500"/>
          </a:xfrm>
          <a:prstGeom prst="rect">
            <a:avLst/>
          </a:prstGeom>
          <a:noFill/>
          <a:ln w="0">
            <a:noFill/>
          </a:ln>
        </p:spPr>
        <p:txBody>
          <a:bodyPr anchor="ctr">
            <a:noAutofit/>
          </a:bodyPr>
          <a:lstStyle>
            <a:defPPr algn="ctr">
              <a:defRPr sz="1575" b="1">
                <a:solidFill>
                  <a:srgbClr val="002060"/>
                </a:solidFill>
                <a:latin typeface="Times New Roman"/>
                <a:ea typeface="Times New Roman"/>
                <a:cs typeface="Times New Roman"/>
              </a:defRPr>
            </a:defPPr>
          </a:lstStyle>
          <a:p>
            <a:pPr algn="ctr">
              <a:buNone/>
              <a:defRPr sz="1575" b="1">
                <a:solidFill>
                  <a:srgbClr val="002060"/>
                </a:solidFill>
                <a:latin typeface="Times New Roman"/>
                <a:ea typeface="Times New Roman"/>
                <a:cs typeface="Times New Roman"/>
              </a:defRPr>
            </a:pPr>
            <a:r>
              <a:rPr sz="2000" b="1">
                <a:solidFill>
                  <a:srgbClr val="002060"/>
                </a:solidFill>
                <a:latin typeface="Times New Roman"/>
                <a:ea typeface="Times New Roman"/>
                <a:cs typeface="Times New Roman"/>
              </a:rPr>
              <a:t>Coordinator</a:t>
            </a:r>
          </a:p>
          <a:p>
            <a:pPr algn="ctr">
              <a:buNone/>
              <a:defRPr sz="1575" b="1">
                <a:solidFill>
                  <a:srgbClr val="002060"/>
                </a:solidFill>
                <a:latin typeface="Times New Roman"/>
                <a:ea typeface="Times New Roman"/>
                <a:cs typeface="Times New Roman"/>
              </a:defRPr>
            </a:pPr>
            <a:r>
              <a:rPr sz="2000" b="1">
                <a:solidFill>
                  <a:srgbClr val="002060"/>
                </a:solidFill>
                <a:latin typeface="Times New Roman"/>
                <a:ea typeface="Times New Roman"/>
                <a:cs typeface="Times New Roman"/>
              </a:rPr>
              <a:t>shared object</a:t>
            </a:r>
          </a:p>
        </p:txBody>
      </p:sp>
      <p:sp>
        <p:nvSpPr>
          <p:cNvPr id="9" name="Rectangle 8">
            <a:extLst>
              <a:ext uri="{FF2B5EF4-FFF2-40B4-BE49-F238E27FC236}">
                <a16:creationId xmlns:a16="http://schemas.microsoft.com/office/drawing/2014/main" id="{EAC0EBEB-5E46-487B-BE58-2EBA81AD8473}"/>
              </a:ext>
            </a:extLst>
          </p:cNvPr>
          <p:cNvSpPr>
            <a:spLocks noGrp="1"/>
          </p:cNvSpPr>
          <p:nvPr/>
        </p:nvSpPr>
        <p:spPr>
          <a:xfrm>
            <a:off x="7772400" y="1724025"/>
            <a:ext cx="2981325" cy="1066800"/>
          </a:xfrm>
          <a:prstGeom prst="rect">
            <a:avLst/>
          </a:prstGeom>
          <a:solidFill>
            <a:srgbClr val="DDF2D5"/>
          </a:solidFill>
          <a:ln w="9525">
            <a:solidFill>
              <a:srgbClr val="002060"/>
            </a:solidFill>
          </a:ln>
        </p:spPr>
        <p:txBody>
          <a:bodyPr/>
          <a:lstStyle/>
          <a:p>
            <a:endParaRPr lang="en-US" sz="2000"/>
          </a:p>
        </p:txBody>
      </p:sp>
      <p:sp>
        <p:nvSpPr>
          <p:cNvPr id="10" name="Rectangle 9">
            <a:extLst>
              <a:ext uri="{FF2B5EF4-FFF2-40B4-BE49-F238E27FC236}">
                <a16:creationId xmlns:a16="http://schemas.microsoft.com/office/drawing/2014/main" id="{9C70B477-08C1-4261-BE18-AC718AE309C1}"/>
              </a:ext>
            </a:extLst>
          </p:cNvPr>
          <p:cNvSpPr>
            <a:spLocks noGrp="1"/>
          </p:cNvSpPr>
          <p:nvPr/>
        </p:nvSpPr>
        <p:spPr>
          <a:xfrm>
            <a:off x="7848600" y="1781175"/>
            <a:ext cx="2828925" cy="952500"/>
          </a:xfrm>
          <a:prstGeom prst="rect">
            <a:avLst/>
          </a:prstGeom>
          <a:noFill/>
          <a:ln w="0">
            <a:noFill/>
          </a:ln>
        </p:spPr>
        <p:txBody>
          <a:bodyPr anchor="ctr">
            <a:noAutofit/>
          </a:bodyPr>
          <a:lstStyle>
            <a:defPPr algn="ctr">
              <a:defRPr sz="1650" b="1">
                <a:solidFill>
                  <a:srgbClr val="002060"/>
                </a:solidFill>
                <a:latin typeface="Times New Roman"/>
                <a:ea typeface="Times New Roman"/>
                <a:cs typeface="Times New Roman"/>
              </a:defRPr>
            </a:defPPr>
          </a:lstStyle>
          <a:p>
            <a:pPr algn="ctr">
              <a:buNone/>
              <a:defRPr sz="1650" b="1">
                <a:solidFill>
                  <a:srgbClr val="002060"/>
                </a:solidFill>
                <a:latin typeface="Times New Roman"/>
                <a:ea typeface="Times New Roman"/>
                <a:cs typeface="Times New Roman"/>
              </a:defRPr>
            </a:pPr>
            <a:r>
              <a:rPr sz="2000" b="1">
                <a:solidFill>
                  <a:srgbClr val="002060"/>
                </a:solidFill>
                <a:latin typeface="Times New Roman"/>
                <a:ea typeface="Times New Roman"/>
                <a:cs typeface="Times New Roman"/>
              </a:rPr>
              <a:t>Module B</a:t>
            </a:r>
          </a:p>
          <a:p>
            <a:pPr algn="ctr">
              <a:buNone/>
              <a:defRPr sz="1650" b="1">
                <a:solidFill>
                  <a:srgbClr val="002060"/>
                </a:solidFill>
                <a:latin typeface="Times New Roman"/>
                <a:ea typeface="Times New Roman"/>
                <a:cs typeface="Times New Roman"/>
              </a:defRPr>
            </a:pPr>
            <a:r>
              <a:rPr sz="2000" b="1">
                <a:solidFill>
                  <a:srgbClr val="002060"/>
                </a:solidFill>
                <a:latin typeface="Times New Roman"/>
                <a:ea typeface="Times New Roman"/>
                <a:cs typeface="Times New Roman"/>
              </a:rPr>
              <a:t>requests service</a:t>
            </a:r>
          </a:p>
        </p:txBody>
      </p:sp>
      <p:sp>
        <p:nvSpPr>
          <p:cNvPr id="11" name="Rectangle 10">
            <a:extLst>
              <a:ext uri="{FF2B5EF4-FFF2-40B4-BE49-F238E27FC236}">
                <a16:creationId xmlns:a16="http://schemas.microsoft.com/office/drawing/2014/main" id="{68AA5828-D4B6-4C59-8B8B-B30170C73114}"/>
              </a:ext>
            </a:extLst>
          </p:cNvPr>
          <p:cNvSpPr>
            <a:spLocks noGrp="1"/>
          </p:cNvSpPr>
          <p:nvPr/>
        </p:nvSpPr>
        <p:spPr>
          <a:xfrm>
            <a:off x="3114675" y="2257425"/>
            <a:ext cx="962025" cy="28575"/>
          </a:xfrm>
          <a:prstGeom prst="rect">
            <a:avLst/>
          </a:prstGeom>
          <a:solidFill>
            <a:srgbClr val="002060"/>
          </a:solidFill>
          <a:ln w="0">
            <a:noFill/>
          </a:ln>
        </p:spPr>
        <p:txBody>
          <a:bodyPr/>
          <a:lstStyle/>
          <a:p>
            <a:endParaRPr lang="en-US" sz="2000"/>
          </a:p>
        </p:txBody>
      </p:sp>
      <p:sp>
        <p:nvSpPr>
          <p:cNvPr id="12" name="Rectangle 11">
            <a:extLst>
              <a:ext uri="{FF2B5EF4-FFF2-40B4-BE49-F238E27FC236}">
                <a16:creationId xmlns:a16="http://schemas.microsoft.com/office/drawing/2014/main" id="{D1BB0268-4C93-44E1-97C4-2ECFBDF69540}"/>
              </a:ext>
            </a:extLst>
          </p:cNvPr>
          <p:cNvSpPr>
            <a:spLocks noGrp="1"/>
          </p:cNvSpPr>
          <p:nvPr/>
        </p:nvSpPr>
        <p:spPr>
          <a:xfrm>
            <a:off x="6705600" y="2257425"/>
            <a:ext cx="1066800" cy="28575"/>
          </a:xfrm>
          <a:prstGeom prst="rect">
            <a:avLst/>
          </a:prstGeom>
          <a:solidFill>
            <a:srgbClr val="002060"/>
          </a:solidFill>
          <a:ln w="0">
            <a:noFill/>
          </a:ln>
        </p:spPr>
        <p:txBody>
          <a:bodyPr/>
          <a:lstStyle/>
          <a:p>
            <a:endParaRPr lang="en-US" sz="2000"/>
          </a:p>
        </p:txBody>
      </p:sp>
      <p:sp>
        <p:nvSpPr>
          <p:cNvPr id="13" name="Rectangle 12">
            <a:extLst>
              <a:ext uri="{FF2B5EF4-FFF2-40B4-BE49-F238E27FC236}">
                <a16:creationId xmlns:a16="http://schemas.microsoft.com/office/drawing/2014/main" id="{185DD00A-8921-4E36-8793-C279868789F8}"/>
              </a:ext>
            </a:extLst>
          </p:cNvPr>
          <p:cNvSpPr>
            <a:spLocks noGrp="1"/>
          </p:cNvSpPr>
          <p:nvPr/>
        </p:nvSpPr>
        <p:spPr>
          <a:xfrm>
            <a:off x="628650" y="3409950"/>
            <a:ext cx="10906125" cy="2362200"/>
          </a:xfrm>
          <a:prstGeom prst="rect">
            <a:avLst/>
          </a:prstGeom>
          <a:solidFill>
            <a:srgbClr val="DDEBF3"/>
          </a:solidFill>
          <a:ln w="0">
            <a:noFill/>
          </a:ln>
        </p:spPr>
        <p:txBody>
          <a:bodyPr/>
          <a:lstStyle/>
          <a:p>
            <a:endParaRPr lang="en-US" sz="2000"/>
          </a:p>
        </p:txBody>
      </p:sp>
      <p:sp>
        <p:nvSpPr>
          <p:cNvPr id="14" name="Rectangle 13">
            <a:extLst>
              <a:ext uri="{FF2B5EF4-FFF2-40B4-BE49-F238E27FC236}">
                <a16:creationId xmlns:a16="http://schemas.microsoft.com/office/drawing/2014/main" id="{A28FCC33-E706-4301-B614-CCDBA0D36970}"/>
              </a:ext>
            </a:extLst>
          </p:cNvPr>
          <p:cNvSpPr>
            <a:spLocks noGrp="1"/>
          </p:cNvSpPr>
          <p:nvPr/>
        </p:nvSpPr>
        <p:spPr>
          <a:xfrm>
            <a:off x="790575" y="3562350"/>
            <a:ext cx="10096500" cy="295275"/>
          </a:xfrm>
          <a:prstGeom prst="rect">
            <a:avLst/>
          </a:prstGeom>
          <a:noFill/>
          <a:ln w="0">
            <a:noFill/>
          </a:ln>
        </p:spPr>
        <p:txBody>
          <a:bodyPr anchor="ctr">
            <a:noAutofit/>
          </a:bodyPr>
          <a:lstStyle>
            <a:defPPr algn="l">
              <a:defRPr sz="1346" b="1">
                <a:solidFill>
                  <a:srgbClr val="0000FF"/>
                </a:solidFill>
                <a:latin typeface="Times New Roman"/>
                <a:ea typeface="Times New Roman"/>
                <a:cs typeface="Times New Roman"/>
              </a:defRPr>
            </a:defPPr>
          </a:lstStyle>
          <a:p>
            <a:pPr algn="l">
              <a:buNone/>
              <a:defRPr sz="1346" b="1">
                <a:solidFill>
                  <a:srgbClr val="0000FF"/>
                </a:solidFill>
                <a:latin typeface="Times New Roman"/>
                <a:ea typeface="Times New Roman"/>
                <a:cs typeface="Times New Roman"/>
              </a:defRPr>
            </a:pPr>
            <a:r>
              <a:rPr sz="2000" b="1">
                <a:solidFill>
                  <a:srgbClr val="0000FF"/>
                </a:solidFill>
                <a:latin typeface="Times New Roman"/>
                <a:ea typeface="Times New Roman"/>
                <a:cs typeface="Times New Roman"/>
              </a:rPr>
              <a:t>When one service identity is required</a:t>
            </a:r>
          </a:p>
        </p:txBody>
      </p:sp>
      <p:sp>
        <p:nvSpPr>
          <p:cNvPr id="15" name="Rectangle 14">
            <a:extLst>
              <a:ext uri="{FF2B5EF4-FFF2-40B4-BE49-F238E27FC236}">
                <a16:creationId xmlns:a16="http://schemas.microsoft.com/office/drawing/2014/main" id="{E0166B3F-59D3-4005-9FB6-9EAF7FD007A6}"/>
              </a:ext>
            </a:extLst>
          </p:cNvPr>
          <p:cNvSpPr>
            <a:spLocks noGrp="1"/>
          </p:cNvSpPr>
          <p:nvPr/>
        </p:nvSpPr>
        <p:spPr>
          <a:xfrm>
            <a:off x="790575" y="4029075"/>
            <a:ext cx="10325100" cy="1323975"/>
          </a:xfrm>
          <a:prstGeom prst="rect">
            <a:avLst/>
          </a:prstGeom>
          <a:noFill/>
          <a:ln w="0">
            <a:noFill/>
          </a:ln>
        </p:spPr>
        <p:txBody>
          <a:bodyPr anchor="ctr">
            <a:noAutofit/>
          </a:bodyPr>
          <a:lstStyle>
            <a:defPPr algn="l">
              <a:defRPr sz="1800">
                <a:solidFill>
                  <a:srgbClr val="171717"/>
                </a:solidFill>
                <a:latin typeface="Times New Roman"/>
                <a:ea typeface="Times New Roman"/>
                <a:cs typeface="Times New Roman"/>
              </a:defRPr>
            </a:defPPr>
          </a:lstStyle>
          <a:p>
            <a:pPr algn="l">
              <a:buNone/>
              <a:defRPr sz="1800" b="0">
                <a:solidFill>
                  <a:srgbClr val="171717"/>
                </a:solidFill>
                <a:latin typeface="Times New Roman"/>
                <a:ea typeface="Times New Roman"/>
                <a:cs typeface="Times New Roman"/>
              </a:defRPr>
            </a:pPr>
            <a:r>
              <a:rPr sz="2000" b="0" dirty="0">
                <a:solidFill>
                  <a:srgbClr val="171717"/>
                </a:solidFill>
                <a:latin typeface="Times New Roman"/>
                <a:ea typeface="Times New Roman"/>
                <a:cs typeface="Times New Roman"/>
              </a:rPr>
              <a:t>A shared configuration registry or logging coordinator may serve several modules. Use Singleton only when one controlled instance is required within the application’s chosen scope.</a:t>
            </a:r>
          </a:p>
        </p:txBody>
      </p:sp>
      <p:sp>
        <p:nvSpPr>
          <p:cNvPr id="16" name="Rectangle 15">
            <a:extLst>
              <a:ext uri="{FF2B5EF4-FFF2-40B4-BE49-F238E27FC236}">
                <a16:creationId xmlns:a16="http://schemas.microsoft.com/office/drawing/2014/main" id="{DF7D6436-0AC9-4D7E-82E9-2DF4AD6DFAC0}"/>
              </a:ext>
            </a:extLst>
          </p:cNvPr>
          <p:cNvSpPr>
            <a:spLocks noGrp="1"/>
          </p:cNvSpPr>
          <p:nvPr/>
        </p:nvSpPr>
        <p:spPr>
          <a:xfrm>
            <a:off x="790575" y="5181600"/>
            <a:ext cx="10334625" cy="323850"/>
          </a:xfrm>
          <a:prstGeom prst="rect">
            <a:avLst/>
          </a:prstGeom>
          <a:noFill/>
          <a:ln w="0">
            <a:noFill/>
          </a:ln>
        </p:spPr>
        <p:txBody>
          <a:bodyPr anchor="ctr">
            <a:noAutofit/>
          </a:bodyPr>
          <a:lstStyle>
            <a:defPPr algn="l">
              <a:defRPr sz="1530" b="1">
                <a:solidFill>
                  <a:srgbClr val="002060"/>
                </a:solidFill>
                <a:latin typeface="Times New Roman"/>
                <a:ea typeface="Times New Roman"/>
                <a:cs typeface="Times New Roman"/>
              </a:defRPr>
            </a:defPPr>
          </a:lstStyle>
          <a:p>
            <a:pPr algn="l">
              <a:buNone/>
              <a:defRPr sz="1530" b="1">
                <a:solidFill>
                  <a:srgbClr val="002060"/>
                </a:solidFill>
                <a:latin typeface="Times New Roman"/>
                <a:ea typeface="Times New Roman"/>
                <a:cs typeface="Times New Roman"/>
              </a:defRPr>
            </a:pPr>
            <a:r>
              <a:rPr sz="2000" b="1" dirty="0">
                <a:solidFill>
                  <a:srgbClr val="002060"/>
                </a:solidFill>
                <a:latin typeface="Times New Roman"/>
                <a:ea typeface="Times New Roman"/>
                <a:cs typeface="Times New Roman"/>
              </a:rPr>
              <a:t>A dependency injection container can also manage one shared service instance.</a:t>
            </a:r>
          </a:p>
        </p:txBody>
      </p:sp>
    </p:spTree>
    <p:extLst>
      <p:ext uri="{BB962C8B-B14F-4D97-AF65-F5344CB8AC3E}">
        <p14:creationId xmlns:p14="http://schemas.microsoft.com/office/powerpoint/2010/main" val="14980010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39D0D3A-4F58-482B-AFEC-A416728DD278}"/>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lang="en-US" sz="2400"/>
          </a:p>
        </p:txBody>
      </p:sp>
      <p:sp>
        <p:nvSpPr>
          <p:cNvPr id="2" name="Rectangle 1">
            <a:extLst>
              <a:ext uri="{FF2B5EF4-FFF2-40B4-BE49-F238E27FC236}">
                <a16:creationId xmlns:a16="http://schemas.microsoft.com/office/drawing/2014/main" id="{791F1FA3-2812-4144-960B-041E1A97A2B5}"/>
              </a:ext>
            </a:extLst>
          </p:cNvPr>
          <p:cNvSpPr>
            <a:spLocks noGrp="1"/>
          </p:cNvSpPr>
          <p:nvPr/>
        </p:nvSpPr>
        <p:spPr>
          <a:xfrm>
            <a:off x="790575" y="66675"/>
            <a:ext cx="10601325" cy="495300"/>
          </a:xfrm>
          <a:prstGeom prst="rect">
            <a:avLst/>
          </a:prstGeom>
          <a:noFill/>
          <a:ln w="0">
            <a:noFill/>
          </a:ln>
        </p:spPr>
        <p:txBody>
          <a:bodyPr anchor="ctr">
            <a:noAutofit/>
          </a:bodyPr>
          <a:lstStyle>
            <a:defPPr algn="ctr">
              <a:defRPr sz="2640">
                <a:solidFill>
                  <a:srgbClr val="002060"/>
                </a:solidFill>
                <a:latin typeface="Times New Roman"/>
                <a:ea typeface="Times New Roman"/>
                <a:cs typeface="Times New Roman"/>
              </a:defRPr>
            </a:defPPr>
          </a:lstStyle>
          <a:p>
            <a:pPr algn="ctr">
              <a:buNone/>
              <a:defRPr sz="2640" b="0">
                <a:solidFill>
                  <a:srgbClr val="002060"/>
                </a:solidFill>
                <a:latin typeface="Times New Roman"/>
                <a:ea typeface="Times New Roman"/>
                <a:cs typeface="Times New Roman"/>
              </a:defRPr>
            </a:pPr>
            <a:r>
              <a:rPr sz="2400" b="0">
                <a:solidFill>
                  <a:srgbClr val="002060"/>
                </a:solidFill>
                <a:latin typeface="Times New Roman"/>
                <a:ea typeface="Times New Roman"/>
                <a:cs typeface="Times New Roman"/>
              </a:rPr>
              <a:t>Eager Initialization and Lazy Holder</a:t>
            </a:r>
          </a:p>
        </p:txBody>
      </p:sp>
      <p:sp>
        <p:nvSpPr>
          <p:cNvPr id="3" name="Rectangle 2">
            <a:extLst>
              <a:ext uri="{FF2B5EF4-FFF2-40B4-BE49-F238E27FC236}">
                <a16:creationId xmlns:a16="http://schemas.microsoft.com/office/drawing/2014/main" id="{7CDA60FE-5E49-43A1-8F17-CD13C0BD7B3F}"/>
              </a:ext>
            </a:extLst>
          </p:cNvPr>
          <p:cNvSpPr>
            <a:spLocks noGrp="1"/>
          </p:cNvSpPr>
          <p:nvPr/>
        </p:nvSpPr>
        <p:spPr>
          <a:xfrm>
            <a:off x="552450" y="723900"/>
            <a:ext cx="4762500" cy="238125"/>
          </a:xfrm>
          <a:prstGeom prst="rect">
            <a:avLst/>
          </a:prstGeom>
          <a:noFill/>
          <a:ln w="0">
            <a:noFill/>
          </a:ln>
        </p:spPr>
        <p:txBody>
          <a:bodyPr anchor="ctr">
            <a:noAutofit/>
          </a:bodyPr>
          <a:lstStyle>
            <a:defPPr algn="l">
              <a:defRPr sz="956" b="1">
                <a:solidFill>
                  <a:srgbClr val="0000FF"/>
                </a:solidFill>
                <a:latin typeface="Times New Roman"/>
                <a:ea typeface="Times New Roman"/>
                <a:cs typeface="Times New Roman"/>
              </a:defRPr>
            </a:defPPr>
          </a:lstStyle>
          <a:p>
            <a:pPr algn="l">
              <a:buNone/>
              <a:defRPr sz="956"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SINGLETON PATTERN</a:t>
            </a:r>
          </a:p>
        </p:txBody>
      </p:sp>
      <p:sp>
        <p:nvSpPr>
          <p:cNvPr id="4" name="Rectangle 3">
            <a:extLst>
              <a:ext uri="{FF2B5EF4-FFF2-40B4-BE49-F238E27FC236}">
                <a16:creationId xmlns:a16="http://schemas.microsoft.com/office/drawing/2014/main" id="{507CF1C1-4702-49E5-90F4-EF19C096C7C0}"/>
              </a:ext>
            </a:extLst>
          </p:cNvPr>
          <p:cNvSpPr>
            <a:spLocks noGrp="1"/>
          </p:cNvSpPr>
          <p:nvPr/>
        </p:nvSpPr>
        <p:spPr>
          <a:xfrm>
            <a:off x="10846676" y="6486525"/>
            <a:ext cx="850024" cy="219075"/>
          </a:xfrm>
          <a:prstGeom prst="rect">
            <a:avLst/>
          </a:prstGeom>
          <a:noFill/>
          <a:ln w="0">
            <a:noFill/>
          </a:ln>
        </p:spPr>
        <p:txBody>
          <a:bodyPr anchor="ctr">
            <a:noAutofit/>
          </a:bodyPr>
          <a:lstStyle>
            <a:defPPr algn="l">
              <a:defRPr sz="968">
                <a:solidFill>
                  <a:srgbClr val="002060"/>
                </a:solidFill>
                <a:latin typeface="Times New Roman"/>
                <a:ea typeface="Times New Roman"/>
                <a:cs typeface="Times New Roman"/>
              </a:defRPr>
            </a:defPPr>
          </a:lstStyle>
          <a:p>
            <a:pPr algn="l">
              <a:buNone/>
              <a:defRPr sz="968" b="0">
                <a:solidFill>
                  <a:srgbClr val="002060"/>
                </a:solidFill>
                <a:latin typeface="Times New Roman"/>
                <a:ea typeface="Times New Roman"/>
                <a:cs typeface="Times New Roman"/>
              </a:defRPr>
            </a:pPr>
            <a:r>
              <a:rPr sz="2400" b="0" dirty="0">
                <a:solidFill>
                  <a:srgbClr val="002060"/>
                </a:solidFill>
                <a:latin typeface="Times New Roman"/>
                <a:ea typeface="Times New Roman"/>
                <a:cs typeface="Times New Roman"/>
              </a:rPr>
              <a:t>10</a:t>
            </a:r>
          </a:p>
        </p:txBody>
      </p:sp>
      <p:sp>
        <p:nvSpPr>
          <p:cNvPr id="5" name="Rectangle 4">
            <a:extLst>
              <a:ext uri="{FF2B5EF4-FFF2-40B4-BE49-F238E27FC236}">
                <a16:creationId xmlns:a16="http://schemas.microsoft.com/office/drawing/2014/main" id="{28086FC1-0634-4A71-96D0-00625FAACF06}"/>
              </a:ext>
            </a:extLst>
          </p:cNvPr>
          <p:cNvSpPr>
            <a:spLocks noGrp="1"/>
          </p:cNvSpPr>
          <p:nvPr/>
        </p:nvSpPr>
        <p:spPr>
          <a:xfrm>
            <a:off x="619125" y="1257300"/>
            <a:ext cx="5200650" cy="4067175"/>
          </a:xfrm>
          <a:prstGeom prst="rect">
            <a:avLst/>
          </a:prstGeom>
          <a:solidFill>
            <a:srgbClr val="DDF2D5"/>
          </a:solidFill>
          <a:ln w="0">
            <a:noFill/>
          </a:ln>
        </p:spPr>
        <p:txBody>
          <a:bodyPr/>
          <a:lstStyle/>
          <a:p>
            <a:endParaRPr lang="en-US" sz="2400"/>
          </a:p>
        </p:txBody>
      </p:sp>
      <p:sp>
        <p:nvSpPr>
          <p:cNvPr id="6" name="Rectangle 5">
            <a:extLst>
              <a:ext uri="{FF2B5EF4-FFF2-40B4-BE49-F238E27FC236}">
                <a16:creationId xmlns:a16="http://schemas.microsoft.com/office/drawing/2014/main" id="{E0A24146-3FAD-4EDA-9F9D-C90DD5E3FD18}"/>
              </a:ext>
            </a:extLst>
          </p:cNvPr>
          <p:cNvSpPr>
            <a:spLocks noGrp="1"/>
          </p:cNvSpPr>
          <p:nvPr/>
        </p:nvSpPr>
        <p:spPr>
          <a:xfrm>
            <a:off x="781050" y="1409700"/>
            <a:ext cx="4857750" cy="295275"/>
          </a:xfrm>
          <a:prstGeom prst="rect">
            <a:avLst/>
          </a:prstGeom>
          <a:noFill/>
          <a:ln w="0">
            <a:noFill/>
          </a:ln>
        </p:spPr>
        <p:txBody>
          <a:bodyPr anchor="ctr">
            <a:noAutofit/>
          </a:bodyPr>
          <a:lstStyle>
            <a:defPPr algn="l">
              <a:defRPr sz="1346" b="1">
                <a:solidFill>
                  <a:srgbClr val="0000FF"/>
                </a:solidFill>
                <a:latin typeface="Times New Roman"/>
                <a:ea typeface="Times New Roman"/>
                <a:cs typeface="Times New Roman"/>
              </a:defRPr>
            </a:defPPr>
          </a:lstStyle>
          <a:p>
            <a:pPr algn="l">
              <a:buNone/>
              <a:defRPr sz="1346"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Eager initialization</a:t>
            </a:r>
          </a:p>
        </p:txBody>
      </p:sp>
      <p:sp>
        <p:nvSpPr>
          <p:cNvPr id="7" name="Rectangle 6">
            <a:extLst>
              <a:ext uri="{FF2B5EF4-FFF2-40B4-BE49-F238E27FC236}">
                <a16:creationId xmlns:a16="http://schemas.microsoft.com/office/drawing/2014/main" id="{797AAA26-DDD8-4E47-A8C3-63616BFD1D72}"/>
              </a:ext>
            </a:extLst>
          </p:cNvPr>
          <p:cNvSpPr>
            <a:spLocks noGrp="1"/>
          </p:cNvSpPr>
          <p:nvPr/>
        </p:nvSpPr>
        <p:spPr>
          <a:xfrm>
            <a:off x="781050" y="1990725"/>
            <a:ext cx="4829175" cy="2600325"/>
          </a:xfrm>
          <a:prstGeom prst="rect">
            <a:avLst/>
          </a:prstGeom>
          <a:noFill/>
          <a:ln w="0">
            <a:noFill/>
          </a:ln>
        </p:spPr>
        <p:txBody>
          <a:bodyPr anchor="ctr">
            <a:noAutofit/>
          </a:bodyPr>
          <a:lstStyle>
            <a:defPPr algn="l">
              <a:defRPr sz="1725">
                <a:solidFill>
                  <a:srgbClr val="171717"/>
                </a:solidFill>
                <a:latin typeface="Times New Roman"/>
                <a:ea typeface="Times New Roman"/>
                <a:cs typeface="Times New Roman"/>
              </a:defRPr>
            </a:defPPr>
          </a:lstStyle>
          <a:p>
            <a:pPr algn="l">
              <a:buNone/>
              <a:defRPr sz="1725" b="0">
                <a:solidFill>
                  <a:srgbClr val="171717"/>
                </a:solidFill>
                <a:latin typeface="Times New Roman"/>
                <a:ea typeface="Times New Roman"/>
                <a:cs typeface="Times New Roman"/>
              </a:defRPr>
            </a:pPr>
            <a:r>
              <a:rPr sz="2400" b="0">
                <a:solidFill>
                  <a:srgbClr val="171717"/>
                </a:solidFill>
                <a:latin typeface="Times New Roman"/>
                <a:ea typeface="Times New Roman"/>
                <a:cs typeface="Times New Roman"/>
              </a:rPr>
              <a:t>• Static field stores the instance</a:t>
            </a:r>
          </a:p>
          <a:p>
            <a:pPr algn="l">
              <a:buNone/>
              <a:defRPr sz="1725" b="0">
                <a:solidFill>
                  <a:srgbClr val="171717"/>
                </a:solidFill>
                <a:latin typeface="Times New Roman"/>
                <a:ea typeface="Times New Roman"/>
                <a:cs typeface="Times New Roman"/>
              </a:defRPr>
            </a:pPr>
            <a:r>
              <a:rPr sz="2400" b="0">
                <a:solidFill>
                  <a:srgbClr val="171717"/>
                </a:solidFill>
                <a:latin typeface="Times New Roman"/>
                <a:ea typeface="Times New Roman"/>
                <a:cs typeface="Times New Roman"/>
              </a:rPr>
              <a:t>• Creation occurs at class initialization</a:t>
            </a:r>
          </a:p>
          <a:p>
            <a:pPr algn="l">
              <a:buNone/>
              <a:defRPr sz="1725" b="0">
                <a:solidFill>
                  <a:srgbClr val="171717"/>
                </a:solidFill>
                <a:latin typeface="Times New Roman"/>
                <a:ea typeface="Times New Roman"/>
                <a:cs typeface="Times New Roman"/>
              </a:defRPr>
            </a:pPr>
            <a:r>
              <a:rPr sz="2400" b="0">
                <a:solidFill>
                  <a:srgbClr val="171717"/>
                </a:solidFill>
                <a:latin typeface="Times New Roman"/>
                <a:ea typeface="Times New Roman"/>
                <a:cs typeface="Times New Roman"/>
              </a:rPr>
              <a:t>• Implementation is straightforward</a:t>
            </a:r>
          </a:p>
          <a:p>
            <a:pPr algn="l">
              <a:buNone/>
              <a:defRPr sz="1725" b="0">
                <a:solidFill>
                  <a:srgbClr val="171717"/>
                </a:solidFill>
                <a:latin typeface="Times New Roman"/>
                <a:ea typeface="Times New Roman"/>
                <a:cs typeface="Times New Roman"/>
              </a:defRPr>
            </a:pPr>
            <a:r>
              <a:rPr sz="2400" b="0">
                <a:solidFill>
                  <a:srgbClr val="171717"/>
                </a:solidFill>
                <a:latin typeface="Times New Roman"/>
                <a:ea typeface="Times New Roman"/>
                <a:cs typeface="Times New Roman"/>
              </a:rPr>
              <a:t>• Setup may precede the first use</a:t>
            </a:r>
          </a:p>
        </p:txBody>
      </p:sp>
      <p:sp>
        <p:nvSpPr>
          <p:cNvPr id="8" name="Rectangle 7">
            <a:extLst>
              <a:ext uri="{FF2B5EF4-FFF2-40B4-BE49-F238E27FC236}">
                <a16:creationId xmlns:a16="http://schemas.microsoft.com/office/drawing/2014/main" id="{B7DA3146-C2BD-4F24-A8AC-D00F4C0C2CE2}"/>
              </a:ext>
            </a:extLst>
          </p:cNvPr>
          <p:cNvSpPr>
            <a:spLocks noGrp="1"/>
          </p:cNvSpPr>
          <p:nvPr/>
        </p:nvSpPr>
        <p:spPr>
          <a:xfrm>
            <a:off x="6086475" y="1257300"/>
            <a:ext cx="5467350" cy="4067175"/>
          </a:xfrm>
          <a:prstGeom prst="rect">
            <a:avLst/>
          </a:prstGeom>
          <a:solidFill>
            <a:srgbClr val="F6C6AD"/>
          </a:solidFill>
          <a:ln w="0">
            <a:noFill/>
          </a:ln>
        </p:spPr>
        <p:txBody>
          <a:bodyPr/>
          <a:lstStyle/>
          <a:p>
            <a:endParaRPr lang="en-US" sz="2400"/>
          </a:p>
        </p:txBody>
      </p:sp>
      <p:sp>
        <p:nvSpPr>
          <p:cNvPr id="9" name="Rectangle 8">
            <a:extLst>
              <a:ext uri="{FF2B5EF4-FFF2-40B4-BE49-F238E27FC236}">
                <a16:creationId xmlns:a16="http://schemas.microsoft.com/office/drawing/2014/main" id="{38A8B40E-0EB3-4362-A35B-F97C18E7D776}"/>
              </a:ext>
            </a:extLst>
          </p:cNvPr>
          <p:cNvSpPr>
            <a:spLocks noGrp="1"/>
          </p:cNvSpPr>
          <p:nvPr/>
        </p:nvSpPr>
        <p:spPr>
          <a:xfrm>
            <a:off x="6248400" y="1409700"/>
            <a:ext cx="5038725" cy="314325"/>
          </a:xfrm>
          <a:prstGeom prst="rect">
            <a:avLst/>
          </a:prstGeom>
          <a:noFill/>
          <a:ln w="0">
            <a:noFill/>
          </a:ln>
        </p:spPr>
        <p:txBody>
          <a:bodyPr anchor="ctr">
            <a:noAutofit/>
          </a:bodyPr>
          <a:lstStyle>
            <a:defPPr algn="l">
              <a:defRPr sz="1466" b="1">
                <a:solidFill>
                  <a:srgbClr val="C00000"/>
                </a:solidFill>
                <a:latin typeface="Times New Roman"/>
                <a:ea typeface="Times New Roman"/>
                <a:cs typeface="Times New Roman"/>
              </a:defRPr>
            </a:defPPr>
          </a:lstStyle>
          <a:p>
            <a:pPr algn="l">
              <a:buNone/>
              <a:defRPr sz="1466" b="1">
                <a:solidFill>
                  <a:srgbClr val="C00000"/>
                </a:solidFill>
                <a:latin typeface="Times New Roman"/>
                <a:ea typeface="Times New Roman"/>
                <a:cs typeface="Times New Roman"/>
              </a:defRPr>
            </a:pPr>
            <a:r>
              <a:rPr sz="2400" b="1">
                <a:solidFill>
                  <a:srgbClr val="C00000"/>
                </a:solidFill>
                <a:latin typeface="Times New Roman"/>
                <a:ea typeface="Times New Roman"/>
                <a:cs typeface="Times New Roman"/>
              </a:rPr>
              <a:t>Lazy holder</a:t>
            </a:r>
          </a:p>
        </p:txBody>
      </p:sp>
      <p:sp>
        <p:nvSpPr>
          <p:cNvPr id="10" name="Rectangle 9">
            <a:extLst>
              <a:ext uri="{FF2B5EF4-FFF2-40B4-BE49-F238E27FC236}">
                <a16:creationId xmlns:a16="http://schemas.microsoft.com/office/drawing/2014/main" id="{41E3D569-D2C9-4672-A8DD-6F52933FCFBC}"/>
              </a:ext>
            </a:extLst>
          </p:cNvPr>
          <p:cNvSpPr>
            <a:spLocks noGrp="1"/>
          </p:cNvSpPr>
          <p:nvPr/>
        </p:nvSpPr>
        <p:spPr>
          <a:xfrm>
            <a:off x="6248400" y="1990725"/>
            <a:ext cx="5029200" cy="2600325"/>
          </a:xfrm>
          <a:prstGeom prst="rect">
            <a:avLst/>
          </a:prstGeom>
          <a:noFill/>
          <a:ln w="0">
            <a:noFill/>
          </a:ln>
        </p:spPr>
        <p:txBody>
          <a:bodyPr anchor="ctr">
            <a:noAutofit/>
          </a:bodyPr>
          <a:lstStyle>
            <a:defPPr algn="l">
              <a:defRPr sz="1725">
                <a:solidFill>
                  <a:srgbClr val="171717"/>
                </a:solidFill>
                <a:latin typeface="Times New Roman"/>
                <a:ea typeface="Times New Roman"/>
                <a:cs typeface="Times New Roman"/>
              </a:defRPr>
            </a:defPPr>
          </a:lstStyle>
          <a:p>
            <a:pPr algn="l">
              <a:buNone/>
              <a:defRPr sz="1725" b="0">
                <a:solidFill>
                  <a:srgbClr val="171717"/>
                </a:solidFill>
                <a:latin typeface="Times New Roman"/>
                <a:ea typeface="Times New Roman"/>
                <a:cs typeface="Times New Roman"/>
              </a:defRPr>
            </a:pPr>
            <a:r>
              <a:rPr sz="2400" b="0">
                <a:solidFill>
                  <a:srgbClr val="171717"/>
                </a:solidFill>
                <a:latin typeface="Times New Roman"/>
                <a:ea typeface="Times New Roman"/>
                <a:cs typeface="Times New Roman"/>
              </a:rPr>
              <a:t>• Nested class stores the instance</a:t>
            </a:r>
          </a:p>
          <a:p>
            <a:pPr algn="l">
              <a:buNone/>
              <a:defRPr sz="1725" b="0">
                <a:solidFill>
                  <a:srgbClr val="171717"/>
                </a:solidFill>
                <a:latin typeface="Times New Roman"/>
                <a:ea typeface="Times New Roman"/>
                <a:cs typeface="Times New Roman"/>
              </a:defRPr>
            </a:pPr>
            <a:r>
              <a:rPr sz="2400" b="0">
                <a:solidFill>
                  <a:srgbClr val="171717"/>
                </a:solidFill>
                <a:latin typeface="Times New Roman"/>
                <a:ea typeface="Times New Roman"/>
                <a:cs typeface="Times New Roman"/>
              </a:rPr>
              <a:t>• First access initializes the holder</a:t>
            </a:r>
          </a:p>
          <a:p>
            <a:pPr algn="l">
              <a:buNone/>
              <a:defRPr sz="1725" b="0">
                <a:solidFill>
                  <a:srgbClr val="171717"/>
                </a:solidFill>
                <a:latin typeface="Times New Roman"/>
                <a:ea typeface="Times New Roman"/>
                <a:cs typeface="Times New Roman"/>
              </a:defRPr>
            </a:pPr>
            <a:r>
              <a:rPr sz="2400" b="0">
                <a:solidFill>
                  <a:srgbClr val="171717"/>
                </a:solidFill>
                <a:latin typeface="Times New Roman"/>
                <a:ea typeface="Times New Roman"/>
                <a:cs typeface="Times New Roman"/>
              </a:rPr>
              <a:t>• Java safely publishes the instance</a:t>
            </a:r>
          </a:p>
          <a:p>
            <a:pPr algn="l">
              <a:buNone/>
              <a:defRPr sz="1725" b="0">
                <a:solidFill>
                  <a:srgbClr val="171717"/>
                </a:solidFill>
                <a:latin typeface="Times New Roman"/>
                <a:ea typeface="Times New Roman"/>
                <a:cs typeface="Times New Roman"/>
              </a:defRPr>
            </a:pPr>
            <a:r>
              <a:rPr sz="2400" b="0">
                <a:solidFill>
                  <a:srgbClr val="171717"/>
                </a:solidFill>
                <a:latin typeface="Times New Roman"/>
                <a:ea typeface="Times New Roman"/>
                <a:cs typeface="Times New Roman"/>
              </a:rPr>
              <a:t>• Delays setup until the service is used</a:t>
            </a:r>
          </a:p>
        </p:txBody>
      </p:sp>
      <p:sp>
        <p:nvSpPr>
          <p:cNvPr id="11" name="Rectangle 10">
            <a:extLst>
              <a:ext uri="{FF2B5EF4-FFF2-40B4-BE49-F238E27FC236}">
                <a16:creationId xmlns:a16="http://schemas.microsoft.com/office/drawing/2014/main" id="{6AE9ACF9-287E-4EE5-9484-D8C9DFFCC1C5}"/>
              </a:ext>
            </a:extLst>
          </p:cNvPr>
          <p:cNvSpPr>
            <a:spLocks noGrp="1"/>
          </p:cNvSpPr>
          <p:nvPr/>
        </p:nvSpPr>
        <p:spPr>
          <a:xfrm>
            <a:off x="742950" y="5629275"/>
            <a:ext cx="11160016" cy="600075"/>
          </a:xfrm>
          <a:prstGeom prst="rect">
            <a:avLst/>
          </a:prstGeom>
          <a:noFill/>
          <a:ln w="0">
            <a:noFill/>
          </a:ln>
        </p:spPr>
        <p:txBody>
          <a:bodyPr anchor="ctr">
            <a:noAutofit/>
          </a:bodyPr>
          <a:lstStyle>
            <a:defPPr algn="l">
              <a:defRPr sz="1800" b="1">
                <a:solidFill>
                  <a:srgbClr val="002060"/>
                </a:solidFill>
                <a:latin typeface="Times New Roman"/>
                <a:ea typeface="Times New Roman"/>
                <a:cs typeface="Times New Roman"/>
              </a:defRPr>
            </a:defPPr>
          </a:lstStyle>
          <a:p>
            <a:pPr algn="l">
              <a:buNone/>
              <a:defRPr sz="1800" b="1">
                <a:solidFill>
                  <a:srgbClr val="002060"/>
                </a:solidFill>
                <a:latin typeface="Times New Roman"/>
                <a:ea typeface="Times New Roman"/>
                <a:cs typeface="Times New Roman"/>
              </a:defRPr>
            </a:pPr>
            <a:r>
              <a:rPr sz="2400" b="1" dirty="0">
                <a:solidFill>
                  <a:srgbClr val="002060"/>
                </a:solidFill>
                <a:latin typeface="Times New Roman"/>
                <a:ea typeface="Times New Roman"/>
                <a:cs typeface="Times New Roman"/>
              </a:rPr>
              <a:t>Both rely on Java class initialization. Mutable shared state still needs concurrency protection.</a:t>
            </a:r>
          </a:p>
        </p:txBody>
      </p:sp>
    </p:spTree>
    <p:extLst>
      <p:ext uri="{BB962C8B-B14F-4D97-AF65-F5344CB8AC3E}">
        <p14:creationId xmlns:p14="http://schemas.microsoft.com/office/powerpoint/2010/main" val="222968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C16FA00-D5E8-42B6-ACCF-D550A27498AA}"/>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lang="en-US" sz="2400"/>
          </a:p>
        </p:txBody>
      </p:sp>
      <p:sp>
        <p:nvSpPr>
          <p:cNvPr id="2" name="Rectangle 1">
            <a:extLst>
              <a:ext uri="{FF2B5EF4-FFF2-40B4-BE49-F238E27FC236}">
                <a16:creationId xmlns:a16="http://schemas.microsoft.com/office/drawing/2014/main" id="{4840CB62-7A0B-4516-9BF3-1194D4D1AD1F}"/>
              </a:ext>
            </a:extLst>
          </p:cNvPr>
          <p:cNvSpPr>
            <a:spLocks noGrp="1"/>
          </p:cNvSpPr>
          <p:nvPr/>
        </p:nvSpPr>
        <p:spPr>
          <a:xfrm>
            <a:off x="790575" y="66675"/>
            <a:ext cx="10601325" cy="495300"/>
          </a:xfrm>
          <a:prstGeom prst="rect">
            <a:avLst/>
          </a:prstGeom>
          <a:noFill/>
          <a:ln w="0">
            <a:noFill/>
          </a:ln>
        </p:spPr>
        <p:txBody>
          <a:bodyPr anchor="ctr">
            <a:noAutofit/>
          </a:bodyPr>
          <a:lstStyle>
            <a:defPPr algn="ctr">
              <a:defRPr sz="2640">
                <a:solidFill>
                  <a:srgbClr val="002060"/>
                </a:solidFill>
                <a:latin typeface="Times New Roman"/>
                <a:ea typeface="Times New Roman"/>
                <a:cs typeface="Times New Roman"/>
              </a:defRPr>
            </a:defPPr>
          </a:lstStyle>
          <a:p>
            <a:pPr algn="ctr">
              <a:buNone/>
              <a:defRPr sz="2640" b="0">
                <a:solidFill>
                  <a:srgbClr val="002060"/>
                </a:solidFill>
                <a:latin typeface="Times New Roman"/>
                <a:ea typeface="Times New Roman"/>
                <a:cs typeface="Times New Roman"/>
              </a:defRPr>
            </a:pPr>
            <a:r>
              <a:rPr sz="2400" b="0">
                <a:solidFill>
                  <a:srgbClr val="002060"/>
                </a:solidFill>
                <a:latin typeface="Times New Roman"/>
                <a:ea typeface="Times New Roman"/>
                <a:cs typeface="Times New Roman"/>
              </a:rPr>
              <a:t>Applicability and Consequences</a:t>
            </a:r>
          </a:p>
        </p:txBody>
      </p:sp>
      <p:sp>
        <p:nvSpPr>
          <p:cNvPr id="3" name="Rectangle 2">
            <a:extLst>
              <a:ext uri="{FF2B5EF4-FFF2-40B4-BE49-F238E27FC236}">
                <a16:creationId xmlns:a16="http://schemas.microsoft.com/office/drawing/2014/main" id="{D3389B9F-0B3F-4538-9219-CA6ED4CFAE3F}"/>
              </a:ext>
            </a:extLst>
          </p:cNvPr>
          <p:cNvSpPr>
            <a:spLocks noGrp="1"/>
          </p:cNvSpPr>
          <p:nvPr/>
        </p:nvSpPr>
        <p:spPr>
          <a:xfrm>
            <a:off x="552450" y="723900"/>
            <a:ext cx="4762500" cy="238125"/>
          </a:xfrm>
          <a:prstGeom prst="rect">
            <a:avLst/>
          </a:prstGeom>
          <a:noFill/>
          <a:ln w="0">
            <a:noFill/>
          </a:ln>
        </p:spPr>
        <p:txBody>
          <a:bodyPr anchor="ctr">
            <a:noAutofit/>
          </a:bodyPr>
          <a:lstStyle>
            <a:defPPr algn="l">
              <a:defRPr sz="956" b="1">
                <a:solidFill>
                  <a:srgbClr val="0000FF"/>
                </a:solidFill>
                <a:latin typeface="Times New Roman"/>
                <a:ea typeface="Times New Roman"/>
                <a:cs typeface="Times New Roman"/>
              </a:defRPr>
            </a:defPPr>
          </a:lstStyle>
          <a:p>
            <a:pPr algn="l">
              <a:buNone/>
              <a:defRPr sz="956"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SINGLETON PATTERN</a:t>
            </a:r>
          </a:p>
        </p:txBody>
      </p:sp>
      <p:sp>
        <p:nvSpPr>
          <p:cNvPr id="4" name="Rectangle 3">
            <a:extLst>
              <a:ext uri="{FF2B5EF4-FFF2-40B4-BE49-F238E27FC236}">
                <a16:creationId xmlns:a16="http://schemas.microsoft.com/office/drawing/2014/main" id="{C98D84E9-E435-4C51-ABB9-7A2076AD7EFF}"/>
              </a:ext>
            </a:extLst>
          </p:cNvPr>
          <p:cNvSpPr>
            <a:spLocks noGrp="1"/>
          </p:cNvSpPr>
          <p:nvPr/>
        </p:nvSpPr>
        <p:spPr>
          <a:xfrm>
            <a:off x="11258550" y="6486525"/>
            <a:ext cx="438150" cy="238125"/>
          </a:xfrm>
          <a:prstGeom prst="rect">
            <a:avLst/>
          </a:prstGeom>
          <a:noFill/>
          <a:ln w="0">
            <a:noFill/>
          </a:ln>
        </p:spPr>
        <p:txBody>
          <a:bodyPr anchor="ctr">
            <a:noAutofit/>
          </a:bodyPr>
          <a:lstStyle>
            <a:defPPr algn="l">
              <a:defRPr sz="968">
                <a:solidFill>
                  <a:srgbClr val="002060"/>
                </a:solidFill>
                <a:latin typeface="Times New Roman"/>
                <a:ea typeface="Times New Roman"/>
                <a:cs typeface="Times New Roman"/>
              </a:defRPr>
            </a:defPPr>
          </a:lstStyle>
          <a:p>
            <a:pPr algn="l">
              <a:buNone/>
              <a:defRPr sz="968" b="0">
                <a:solidFill>
                  <a:srgbClr val="002060"/>
                </a:solidFill>
                <a:latin typeface="Times New Roman"/>
                <a:ea typeface="Times New Roman"/>
                <a:cs typeface="Times New Roman"/>
              </a:defRPr>
            </a:pPr>
            <a:r>
              <a:rPr sz="2400" b="0">
                <a:solidFill>
                  <a:srgbClr val="002060"/>
                </a:solidFill>
                <a:latin typeface="Times New Roman"/>
                <a:ea typeface="Times New Roman"/>
                <a:cs typeface="Times New Roman"/>
              </a:rPr>
              <a:t>12</a:t>
            </a:r>
          </a:p>
        </p:txBody>
      </p:sp>
      <p:sp>
        <p:nvSpPr>
          <p:cNvPr id="5" name="Rectangle 4">
            <a:extLst>
              <a:ext uri="{FF2B5EF4-FFF2-40B4-BE49-F238E27FC236}">
                <a16:creationId xmlns:a16="http://schemas.microsoft.com/office/drawing/2014/main" id="{9B4096E9-6BBE-4F9D-80BF-F2E0E1D1DB9F}"/>
              </a:ext>
            </a:extLst>
          </p:cNvPr>
          <p:cNvSpPr>
            <a:spLocks noGrp="1"/>
          </p:cNvSpPr>
          <p:nvPr/>
        </p:nvSpPr>
        <p:spPr>
          <a:xfrm>
            <a:off x="619125" y="1238250"/>
            <a:ext cx="5219700" cy="3276600"/>
          </a:xfrm>
          <a:prstGeom prst="rect">
            <a:avLst/>
          </a:prstGeom>
          <a:solidFill>
            <a:srgbClr val="DDF2D5"/>
          </a:solidFill>
          <a:ln w="0">
            <a:noFill/>
          </a:ln>
        </p:spPr>
        <p:txBody>
          <a:bodyPr/>
          <a:lstStyle/>
          <a:p>
            <a:endParaRPr lang="en-US" sz="2400"/>
          </a:p>
        </p:txBody>
      </p:sp>
      <p:sp>
        <p:nvSpPr>
          <p:cNvPr id="6" name="Rectangle 5">
            <a:extLst>
              <a:ext uri="{FF2B5EF4-FFF2-40B4-BE49-F238E27FC236}">
                <a16:creationId xmlns:a16="http://schemas.microsoft.com/office/drawing/2014/main" id="{8C5FA1FB-7B82-450C-ACCE-B37E6E53A4EC}"/>
              </a:ext>
            </a:extLst>
          </p:cNvPr>
          <p:cNvSpPr>
            <a:spLocks noGrp="1"/>
          </p:cNvSpPr>
          <p:nvPr/>
        </p:nvSpPr>
        <p:spPr>
          <a:xfrm>
            <a:off x="771525" y="1390650"/>
            <a:ext cx="4857750" cy="295275"/>
          </a:xfrm>
          <a:prstGeom prst="rect">
            <a:avLst/>
          </a:prstGeom>
          <a:noFill/>
          <a:ln w="0">
            <a:noFill/>
          </a:ln>
        </p:spPr>
        <p:txBody>
          <a:bodyPr anchor="ctr">
            <a:noAutofit/>
          </a:bodyPr>
          <a:lstStyle>
            <a:defPPr algn="l">
              <a:defRPr sz="1346" b="1">
                <a:solidFill>
                  <a:srgbClr val="0000FF"/>
                </a:solidFill>
                <a:latin typeface="Times New Roman"/>
                <a:ea typeface="Times New Roman"/>
                <a:cs typeface="Times New Roman"/>
              </a:defRPr>
            </a:defPPr>
          </a:lstStyle>
          <a:p>
            <a:pPr algn="l">
              <a:buNone/>
              <a:defRPr sz="1346"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Use Singleton when</a:t>
            </a:r>
          </a:p>
        </p:txBody>
      </p:sp>
      <p:sp>
        <p:nvSpPr>
          <p:cNvPr id="7" name="Rectangle 6">
            <a:extLst>
              <a:ext uri="{FF2B5EF4-FFF2-40B4-BE49-F238E27FC236}">
                <a16:creationId xmlns:a16="http://schemas.microsoft.com/office/drawing/2014/main" id="{4E94A388-5012-436E-9A11-4341D8699D68}"/>
              </a:ext>
            </a:extLst>
          </p:cNvPr>
          <p:cNvSpPr>
            <a:spLocks noGrp="1"/>
          </p:cNvSpPr>
          <p:nvPr/>
        </p:nvSpPr>
        <p:spPr>
          <a:xfrm>
            <a:off x="771525" y="1876425"/>
            <a:ext cx="4857750" cy="2324100"/>
          </a:xfrm>
          <a:prstGeom prst="rect">
            <a:avLst/>
          </a:prstGeom>
          <a:noFill/>
          <a:ln w="0">
            <a:noFill/>
          </a:ln>
        </p:spPr>
        <p:txBody>
          <a:bodyPr anchor="ctr">
            <a:noAutofit/>
          </a:bodyPr>
          <a:lstStyle>
            <a:defPPr algn="l">
              <a:defRPr sz="1650">
                <a:solidFill>
                  <a:srgbClr val="171717"/>
                </a:solidFill>
                <a:latin typeface="Times New Roman"/>
                <a:ea typeface="Times New Roman"/>
                <a:cs typeface="Times New Roman"/>
              </a:defRPr>
            </a:defPPr>
          </a:lstStyle>
          <a:p>
            <a:pPr algn="l">
              <a:buNone/>
              <a:defRPr sz="1650" b="0">
                <a:solidFill>
                  <a:srgbClr val="171717"/>
                </a:solidFill>
                <a:latin typeface="Times New Roman"/>
                <a:ea typeface="Times New Roman"/>
                <a:cs typeface="Times New Roman"/>
              </a:defRPr>
            </a:pPr>
            <a:r>
              <a:rPr sz="2400" b="0">
                <a:solidFill>
                  <a:srgbClr val="171717"/>
                </a:solidFill>
                <a:latin typeface="Times New Roman"/>
                <a:ea typeface="Times New Roman"/>
                <a:cs typeface="Times New Roman"/>
              </a:rPr>
              <a:t>• One shared instance is required</a:t>
            </a:r>
          </a:p>
          <a:p>
            <a:pPr algn="l">
              <a:buNone/>
              <a:defRPr sz="1650" b="0">
                <a:solidFill>
                  <a:srgbClr val="171717"/>
                </a:solidFill>
                <a:latin typeface="Times New Roman"/>
                <a:ea typeface="Times New Roman"/>
                <a:cs typeface="Times New Roman"/>
              </a:defRPr>
            </a:pPr>
            <a:r>
              <a:rPr sz="2400" b="0">
                <a:solidFill>
                  <a:srgbClr val="171717"/>
                </a:solidFill>
                <a:latin typeface="Times New Roman"/>
                <a:ea typeface="Times New Roman"/>
                <a:cs typeface="Times New Roman"/>
              </a:rPr>
              <a:t>• Clients need the same service identity</a:t>
            </a:r>
          </a:p>
          <a:p>
            <a:pPr algn="l">
              <a:buNone/>
              <a:defRPr sz="1650" b="0">
                <a:solidFill>
                  <a:srgbClr val="171717"/>
                </a:solidFill>
                <a:latin typeface="Times New Roman"/>
                <a:ea typeface="Times New Roman"/>
                <a:cs typeface="Times New Roman"/>
              </a:defRPr>
            </a:pPr>
            <a:r>
              <a:rPr sz="2400" b="0">
                <a:solidFill>
                  <a:srgbClr val="171717"/>
                </a:solidFill>
                <a:latin typeface="Times New Roman"/>
                <a:ea typeface="Times New Roman"/>
                <a:cs typeface="Times New Roman"/>
              </a:rPr>
              <a:t>• The instance scope is clearly defined</a:t>
            </a:r>
          </a:p>
          <a:p>
            <a:pPr algn="l">
              <a:buNone/>
              <a:defRPr sz="1650" b="0">
                <a:solidFill>
                  <a:srgbClr val="171717"/>
                </a:solidFill>
                <a:latin typeface="Times New Roman"/>
                <a:ea typeface="Times New Roman"/>
                <a:cs typeface="Times New Roman"/>
              </a:defRPr>
            </a:pPr>
            <a:r>
              <a:rPr sz="2400" b="0">
                <a:solidFill>
                  <a:srgbClr val="171717"/>
                </a:solidFill>
                <a:latin typeface="Times New Roman"/>
                <a:ea typeface="Times New Roman"/>
                <a:cs typeface="Times New Roman"/>
              </a:rPr>
              <a:t>• The class must control construction</a:t>
            </a:r>
          </a:p>
        </p:txBody>
      </p:sp>
      <p:sp>
        <p:nvSpPr>
          <p:cNvPr id="8" name="Rectangle 7">
            <a:extLst>
              <a:ext uri="{FF2B5EF4-FFF2-40B4-BE49-F238E27FC236}">
                <a16:creationId xmlns:a16="http://schemas.microsoft.com/office/drawing/2014/main" id="{3F0B3552-E130-449C-A97F-19783A7E7254}"/>
              </a:ext>
            </a:extLst>
          </p:cNvPr>
          <p:cNvSpPr>
            <a:spLocks noGrp="1"/>
          </p:cNvSpPr>
          <p:nvPr/>
        </p:nvSpPr>
        <p:spPr>
          <a:xfrm>
            <a:off x="6105525" y="1238250"/>
            <a:ext cx="5438775" cy="3276600"/>
          </a:xfrm>
          <a:prstGeom prst="rect">
            <a:avLst/>
          </a:prstGeom>
          <a:solidFill>
            <a:srgbClr val="F6C6AD"/>
          </a:solidFill>
          <a:ln w="0">
            <a:noFill/>
          </a:ln>
        </p:spPr>
        <p:txBody>
          <a:bodyPr/>
          <a:lstStyle/>
          <a:p>
            <a:endParaRPr lang="en-US" sz="2400"/>
          </a:p>
        </p:txBody>
      </p:sp>
      <p:sp>
        <p:nvSpPr>
          <p:cNvPr id="9" name="Rectangle 8">
            <a:extLst>
              <a:ext uri="{FF2B5EF4-FFF2-40B4-BE49-F238E27FC236}">
                <a16:creationId xmlns:a16="http://schemas.microsoft.com/office/drawing/2014/main" id="{070CA2FA-D551-4DCF-ACE0-4E2E55E123EC}"/>
              </a:ext>
            </a:extLst>
          </p:cNvPr>
          <p:cNvSpPr>
            <a:spLocks noGrp="1"/>
          </p:cNvSpPr>
          <p:nvPr/>
        </p:nvSpPr>
        <p:spPr>
          <a:xfrm>
            <a:off x="6257925" y="1390650"/>
            <a:ext cx="5048250" cy="314325"/>
          </a:xfrm>
          <a:prstGeom prst="rect">
            <a:avLst/>
          </a:prstGeom>
          <a:noFill/>
          <a:ln w="0">
            <a:noFill/>
          </a:ln>
        </p:spPr>
        <p:txBody>
          <a:bodyPr anchor="ctr">
            <a:noAutofit/>
          </a:bodyPr>
          <a:lstStyle>
            <a:defPPr algn="l">
              <a:defRPr sz="1466" b="1">
                <a:solidFill>
                  <a:srgbClr val="C00000"/>
                </a:solidFill>
                <a:latin typeface="Times New Roman"/>
                <a:ea typeface="Times New Roman"/>
                <a:cs typeface="Times New Roman"/>
              </a:defRPr>
            </a:defPPr>
          </a:lstStyle>
          <a:p>
            <a:pPr algn="l">
              <a:buNone/>
              <a:defRPr sz="1466" b="1">
                <a:solidFill>
                  <a:srgbClr val="C00000"/>
                </a:solidFill>
                <a:latin typeface="Times New Roman"/>
                <a:ea typeface="Times New Roman"/>
                <a:cs typeface="Times New Roman"/>
              </a:defRPr>
            </a:pPr>
            <a:r>
              <a:rPr sz="2400" b="1">
                <a:solidFill>
                  <a:srgbClr val="C00000"/>
                </a:solidFill>
                <a:latin typeface="Times New Roman"/>
                <a:ea typeface="Times New Roman"/>
                <a:cs typeface="Times New Roman"/>
              </a:rPr>
              <a:t>Benefits and limits</a:t>
            </a:r>
          </a:p>
        </p:txBody>
      </p:sp>
      <p:sp>
        <p:nvSpPr>
          <p:cNvPr id="10" name="Rectangle 9">
            <a:extLst>
              <a:ext uri="{FF2B5EF4-FFF2-40B4-BE49-F238E27FC236}">
                <a16:creationId xmlns:a16="http://schemas.microsoft.com/office/drawing/2014/main" id="{980C7A8D-0213-4C68-A0B3-C4F779F56CF0}"/>
              </a:ext>
            </a:extLst>
          </p:cNvPr>
          <p:cNvSpPr>
            <a:spLocks noGrp="1"/>
          </p:cNvSpPr>
          <p:nvPr/>
        </p:nvSpPr>
        <p:spPr>
          <a:xfrm>
            <a:off x="6257925" y="1876425"/>
            <a:ext cx="5048250" cy="2324100"/>
          </a:xfrm>
          <a:prstGeom prst="rect">
            <a:avLst/>
          </a:prstGeom>
          <a:noFill/>
          <a:ln w="0">
            <a:noFill/>
          </a:ln>
        </p:spPr>
        <p:txBody>
          <a:bodyPr anchor="ctr">
            <a:noAutofit/>
          </a:bodyPr>
          <a:lstStyle>
            <a:defPPr algn="l">
              <a:defRPr sz="1650">
                <a:solidFill>
                  <a:srgbClr val="171717"/>
                </a:solidFill>
                <a:latin typeface="Times New Roman"/>
                <a:ea typeface="Times New Roman"/>
                <a:cs typeface="Times New Roman"/>
              </a:defRPr>
            </a:defPPr>
          </a:lstStyle>
          <a:p>
            <a:pPr algn="l">
              <a:buNone/>
              <a:defRPr sz="1650" b="0">
                <a:solidFill>
                  <a:srgbClr val="171717"/>
                </a:solidFill>
                <a:latin typeface="Times New Roman"/>
                <a:ea typeface="Times New Roman"/>
                <a:cs typeface="Times New Roman"/>
              </a:defRPr>
            </a:pPr>
            <a:r>
              <a:rPr sz="2400" b="0">
                <a:solidFill>
                  <a:srgbClr val="171717"/>
                </a:solidFill>
                <a:latin typeface="Times New Roman"/>
                <a:ea typeface="Times New Roman"/>
                <a:cs typeface="Times New Roman"/>
              </a:rPr>
              <a:t>• Provides a common service reference</a:t>
            </a:r>
          </a:p>
          <a:p>
            <a:pPr algn="l">
              <a:buNone/>
              <a:defRPr sz="1650" b="0">
                <a:solidFill>
                  <a:srgbClr val="171717"/>
                </a:solidFill>
                <a:latin typeface="Times New Roman"/>
                <a:ea typeface="Times New Roman"/>
                <a:cs typeface="Times New Roman"/>
              </a:defRPr>
            </a:pPr>
            <a:r>
              <a:rPr sz="2400" b="0">
                <a:solidFill>
                  <a:srgbClr val="171717"/>
                </a:solidFill>
                <a:latin typeface="Times New Roman"/>
                <a:ea typeface="Times New Roman"/>
                <a:cs typeface="Times New Roman"/>
              </a:rPr>
              <a:t>• Avoids duplicate service setup</a:t>
            </a:r>
          </a:p>
          <a:p>
            <a:pPr algn="l">
              <a:buNone/>
              <a:defRPr sz="1650" b="0">
                <a:solidFill>
                  <a:srgbClr val="171717"/>
                </a:solidFill>
                <a:latin typeface="Times New Roman"/>
                <a:ea typeface="Times New Roman"/>
                <a:cs typeface="Times New Roman"/>
              </a:defRPr>
            </a:pPr>
            <a:r>
              <a:rPr sz="2400" b="0">
                <a:solidFill>
                  <a:srgbClr val="171717"/>
                </a:solidFill>
                <a:latin typeface="Times New Roman"/>
                <a:ea typeface="Times New Roman"/>
                <a:cs typeface="Times New Roman"/>
              </a:rPr>
              <a:t>• Shared state complicates isolated tests</a:t>
            </a:r>
          </a:p>
          <a:p>
            <a:pPr algn="l">
              <a:buNone/>
              <a:defRPr sz="1650" b="0">
                <a:solidFill>
                  <a:srgbClr val="171717"/>
                </a:solidFill>
                <a:latin typeface="Times New Roman"/>
                <a:ea typeface="Times New Roman"/>
                <a:cs typeface="Times New Roman"/>
              </a:defRPr>
            </a:pPr>
            <a:r>
              <a:rPr sz="2400" b="0">
                <a:solidFill>
                  <a:srgbClr val="171717"/>
                </a:solidFill>
                <a:latin typeface="Times New Roman"/>
                <a:ea typeface="Times New Roman"/>
                <a:cs typeface="Times New Roman"/>
              </a:rPr>
              <a:t>• Reflection and serialization need care</a:t>
            </a:r>
          </a:p>
        </p:txBody>
      </p:sp>
      <p:sp>
        <p:nvSpPr>
          <p:cNvPr id="11" name="Rectangle 10">
            <a:extLst>
              <a:ext uri="{FF2B5EF4-FFF2-40B4-BE49-F238E27FC236}">
                <a16:creationId xmlns:a16="http://schemas.microsoft.com/office/drawing/2014/main" id="{96EA6417-EADB-418D-A136-6AC2840D1221}"/>
              </a:ext>
            </a:extLst>
          </p:cNvPr>
          <p:cNvSpPr>
            <a:spLocks noGrp="1"/>
          </p:cNvSpPr>
          <p:nvPr/>
        </p:nvSpPr>
        <p:spPr>
          <a:xfrm>
            <a:off x="639801" y="4752975"/>
            <a:ext cx="10915650" cy="1826245"/>
          </a:xfrm>
          <a:prstGeom prst="rect">
            <a:avLst/>
          </a:prstGeom>
          <a:solidFill>
            <a:srgbClr val="DDEBF3"/>
          </a:solidFill>
          <a:ln w="0">
            <a:noFill/>
          </a:ln>
        </p:spPr>
        <p:txBody>
          <a:bodyPr/>
          <a:lstStyle/>
          <a:p>
            <a:endParaRPr lang="en-US" sz="2400"/>
          </a:p>
        </p:txBody>
      </p:sp>
      <p:sp>
        <p:nvSpPr>
          <p:cNvPr id="12" name="Rectangle 11">
            <a:extLst>
              <a:ext uri="{FF2B5EF4-FFF2-40B4-BE49-F238E27FC236}">
                <a16:creationId xmlns:a16="http://schemas.microsoft.com/office/drawing/2014/main" id="{1CFBB369-DFF7-4B7D-BACA-9D30A5CD4349}"/>
              </a:ext>
            </a:extLst>
          </p:cNvPr>
          <p:cNvSpPr>
            <a:spLocks noGrp="1"/>
          </p:cNvSpPr>
          <p:nvPr/>
        </p:nvSpPr>
        <p:spPr>
          <a:xfrm>
            <a:off x="790575" y="4876800"/>
            <a:ext cx="10191750" cy="295275"/>
          </a:xfrm>
          <a:prstGeom prst="rect">
            <a:avLst/>
          </a:prstGeom>
          <a:noFill/>
          <a:ln w="0">
            <a:noFill/>
          </a:ln>
        </p:spPr>
        <p:txBody>
          <a:bodyPr anchor="ctr">
            <a:noAutofit/>
          </a:bodyPr>
          <a:lstStyle>
            <a:defPPr algn="l">
              <a:defRPr sz="1346" b="1">
                <a:solidFill>
                  <a:srgbClr val="0000FF"/>
                </a:solidFill>
                <a:latin typeface="Times New Roman"/>
                <a:ea typeface="Times New Roman"/>
                <a:cs typeface="Times New Roman"/>
              </a:defRPr>
            </a:defPPr>
          </a:lstStyle>
          <a:p>
            <a:pPr algn="l">
              <a:buNone/>
              <a:defRPr sz="1346"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Key lesson</a:t>
            </a:r>
          </a:p>
        </p:txBody>
      </p:sp>
      <p:sp>
        <p:nvSpPr>
          <p:cNvPr id="13" name="Rectangle 12">
            <a:extLst>
              <a:ext uri="{FF2B5EF4-FFF2-40B4-BE49-F238E27FC236}">
                <a16:creationId xmlns:a16="http://schemas.microsoft.com/office/drawing/2014/main" id="{66EC5AF5-8B20-4E5D-9C71-86DFE47B7537}"/>
              </a:ext>
            </a:extLst>
          </p:cNvPr>
          <p:cNvSpPr>
            <a:spLocks noGrp="1"/>
          </p:cNvSpPr>
          <p:nvPr/>
        </p:nvSpPr>
        <p:spPr>
          <a:xfrm>
            <a:off x="790575" y="5257800"/>
            <a:ext cx="10363200" cy="733425"/>
          </a:xfrm>
          <a:prstGeom prst="rect">
            <a:avLst/>
          </a:prstGeom>
          <a:noFill/>
          <a:ln w="0">
            <a:noFill/>
          </a:ln>
        </p:spPr>
        <p:txBody>
          <a:bodyPr anchor="ctr">
            <a:noAutofit/>
          </a:bodyPr>
          <a:lstStyle>
            <a:defPPr algn="l">
              <a:defRPr sz="1800">
                <a:solidFill>
                  <a:srgbClr val="171717"/>
                </a:solidFill>
                <a:latin typeface="Times New Roman"/>
                <a:ea typeface="Times New Roman"/>
                <a:cs typeface="Times New Roman"/>
              </a:defRPr>
            </a:defPPr>
          </a:lstStyle>
          <a:p>
            <a:pPr algn="l">
              <a:buNone/>
              <a:defRPr sz="1800" b="0">
                <a:solidFill>
                  <a:srgbClr val="171717"/>
                </a:solidFill>
                <a:latin typeface="Times New Roman"/>
                <a:ea typeface="Times New Roman"/>
                <a:cs typeface="Times New Roman"/>
              </a:defRPr>
            </a:pPr>
            <a:r>
              <a:rPr sz="2400" b="0" dirty="0" err="1">
                <a:solidFill>
                  <a:srgbClr val="171717"/>
                </a:solidFill>
                <a:latin typeface="Times New Roman"/>
                <a:ea typeface="Times New Roman"/>
                <a:cs typeface="Times New Roman"/>
              </a:rPr>
              <a:t>getInstance</a:t>
            </a:r>
            <a:r>
              <a:rPr sz="2400" b="0" dirty="0">
                <a:solidFill>
                  <a:srgbClr val="171717"/>
                </a:solidFill>
                <a:latin typeface="Times New Roman"/>
                <a:ea typeface="Times New Roman"/>
                <a:cs typeface="Times New Roman"/>
              </a:rPr>
              <a:t>() returns a shared reference. Singleton controls ordinary creation within a defined scope. It does not guarantee one instance across separate class loaders or processes.</a:t>
            </a:r>
          </a:p>
        </p:txBody>
      </p:sp>
    </p:spTree>
    <p:extLst>
      <p:ext uri="{BB962C8B-B14F-4D97-AF65-F5344CB8AC3E}">
        <p14:creationId xmlns:p14="http://schemas.microsoft.com/office/powerpoint/2010/main" val="66086543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217</TotalTime>
  <Words>1494</Words>
  <Application>Microsoft Macintosh PowerPoint</Application>
  <DocSecurity>0</DocSecurity>
  <PresentationFormat>Widescreen</PresentationFormat>
  <Paragraphs>195</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Courier New</vt:lpstr>
      <vt:lpstr>Times New Roman</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Aswathy Mohan</cp:lastModifiedBy>
  <cp:revision>12</cp:revision>
  <dcterms:created xsi:type="dcterms:W3CDTF">2026-10-08T05:15:56Z</dcterms:created>
  <dcterms:modified xsi:type="dcterms:W3CDTF">2026-10-14T09:16:27Z</dcterms:modified>
</cp:coreProperties>
</file>