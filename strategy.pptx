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80" r:id="rId3"/>
    <p:sldId id="282" r:id="rId4"/>
    <p:sldId id="281" r:id="rId5"/>
    <p:sldId id="283" r:id="rId6"/>
    <p:sldId id="291" r:id="rId7"/>
    <p:sldId id="284" r:id="rId8"/>
    <p:sldId id="288" r:id="rId9"/>
    <p:sldId id="29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73DA15-EFB1-4275-90E9-FA654C967E30}" v="111" dt="2026-08-06T08:58:14.876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wathy Mohan" userId="8ec7b060-ec9d-4a76-a81c-f80212d9386c" providerId="ADAL" clId="{148F012C-E039-419C-A523-3EB066B9FD4E}"/>
    <pc:docChg chg="modSld">
      <pc:chgData name="Aswathy Mohan" userId="8ec7b060-ec9d-4a76-a81c-f80212d9386c" providerId="ADAL" clId="{148F012C-E039-419C-A523-3EB066B9FD4E}" dt="2026-08-06T08:58:14.876" v="110"/>
      <pc:docMkLst>
        <pc:docMk/>
      </pc:docMkLst>
      <pc:sldChg chg="modSp">
        <pc:chgData name="Aswathy Mohan" userId="8ec7b060-ec9d-4a76-a81c-f80212d9386c" providerId="ADAL" clId="{148F012C-E039-419C-A523-3EB066B9FD4E}" dt="2026-08-06T06:40:03.069" v="69" actId="207"/>
        <pc:sldMkLst>
          <pc:docMk/>
          <pc:sldMk cId="3246638297" sldId="280"/>
        </pc:sldMkLst>
        <pc:spChg chg="mod">
          <ac:chgData name="Aswathy Mohan" userId="8ec7b060-ec9d-4a76-a81c-f80212d9386c" providerId="ADAL" clId="{148F012C-E039-419C-A523-3EB066B9FD4E}" dt="2026-08-06T06:40:03.069" v="69" actId="207"/>
          <ac:spMkLst>
            <pc:docMk/>
            <pc:sldMk cId="3246638297" sldId="280"/>
            <ac:spMk id="4" creationId="{0DB47515-A2D2-AE92-1A8C-525B99B6A81B}"/>
          </ac:spMkLst>
        </pc:spChg>
        <pc:spChg chg="mod">
          <ac:chgData name="Aswathy Mohan" userId="8ec7b060-ec9d-4a76-a81c-f80212d9386c" providerId="ADAL" clId="{148F012C-E039-419C-A523-3EB066B9FD4E}" dt="2026-08-06T06:39:38.419" v="67" actId="113"/>
          <ac:spMkLst>
            <pc:docMk/>
            <pc:sldMk cId="3246638297" sldId="280"/>
            <ac:spMk id="5" creationId="{68BF1AFB-340D-917A-D7FE-B07A352AC5CB}"/>
          </ac:spMkLst>
        </pc:spChg>
        <pc:spChg chg="mod">
          <ac:chgData name="Aswathy Mohan" userId="8ec7b060-ec9d-4a76-a81c-f80212d9386c" providerId="ADAL" clId="{148F012C-E039-419C-A523-3EB066B9FD4E}" dt="2026-08-06T06:30:06.005" v="29" actId="20577"/>
          <ac:spMkLst>
            <pc:docMk/>
            <pc:sldMk cId="3246638297" sldId="280"/>
            <ac:spMk id="15" creationId="{64257252-631F-96C2-385B-2124DBFBFC66}"/>
          </ac:spMkLst>
        </pc:spChg>
        <pc:spChg chg="mod">
          <ac:chgData name="Aswathy Mohan" userId="8ec7b060-ec9d-4a76-a81c-f80212d9386c" providerId="ADAL" clId="{148F012C-E039-419C-A523-3EB066B9FD4E}" dt="2026-08-06T06:37:59.306" v="62" actId="255"/>
          <ac:spMkLst>
            <pc:docMk/>
            <pc:sldMk cId="3246638297" sldId="280"/>
            <ac:spMk id="16" creationId="{2A3383B2-596D-537A-B81D-20D73D3178FD}"/>
          </ac:spMkLst>
        </pc:spChg>
        <pc:spChg chg="mod">
          <ac:chgData name="Aswathy Mohan" userId="8ec7b060-ec9d-4a76-a81c-f80212d9386c" providerId="ADAL" clId="{148F012C-E039-419C-A523-3EB066B9FD4E}" dt="2026-08-06T06:39:27.856" v="66" actId="255"/>
          <ac:spMkLst>
            <pc:docMk/>
            <pc:sldMk cId="3246638297" sldId="280"/>
            <ac:spMk id="17" creationId="{23CE17E5-70C7-6381-671D-B3DD17BD3DB2}"/>
          </ac:spMkLst>
        </pc:spChg>
      </pc:sldChg>
      <pc:sldChg chg="modSp">
        <pc:chgData name="Aswathy Mohan" userId="8ec7b060-ec9d-4a76-a81c-f80212d9386c" providerId="ADAL" clId="{148F012C-E039-419C-A523-3EB066B9FD4E}" dt="2026-08-06T06:45:36.044" v="86"/>
        <pc:sldMkLst>
          <pc:docMk/>
          <pc:sldMk cId="2751905883" sldId="281"/>
        </pc:sldMkLst>
        <pc:spChg chg="mod">
          <ac:chgData name="Aswathy Mohan" userId="8ec7b060-ec9d-4a76-a81c-f80212d9386c" providerId="ADAL" clId="{148F012C-E039-419C-A523-3EB066B9FD4E}" dt="2026-08-06T06:45:36.044" v="86"/>
          <ac:spMkLst>
            <pc:docMk/>
            <pc:sldMk cId="2751905883" sldId="281"/>
            <ac:spMk id="4" creationId="{F8FF3AE4-8FB0-64C0-A985-340A252F2DC0}"/>
          </ac:spMkLst>
        </pc:spChg>
        <pc:spChg chg="mod">
          <ac:chgData name="Aswathy Mohan" userId="8ec7b060-ec9d-4a76-a81c-f80212d9386c" providerId="ADAL" clId="{148F012C-E039-419C-A523-3EB066B9FD4E}" dt="2026-08-06T06:45:07.060" v="85" actId="207"/>
          <ac:spMkLst>
            <pc:docMk/>
            <pc:sldMk cId="2751905883" sldId="281"/>
            <ac:spMk id="5" creationId="{C562FA31-9FAD-B5DA-B86A-A434764F53CE}"/>
          </ac:spMkLst>
        </pc:spChg>
      </pc:sldChg>
      <pc:sldChg chg="addSp modSp">
        <pc:chgData name="Aswathy Mohan" userId="8ec7b060-ec9d-4a76-a81c-f80212d9386c" providerId="ADAL" clId="{148F012C-E039-419C-A523-3EB066B9FD4E}" dt="2026-08-06T06:43:29.835" v="83" actId="20577"/>
        <pc:sldMkLst>
          <pc:docMk/>
          <pc:sldMk cId="876332490" sldId="282"/>
        </pc:sldMkLst>
        <pc:spChg chg="add mod">
          <ac:chgData name="Aswathy Mohan" userId="8ec7b060-ec9d-4a76-a81c-f80212d9386c" providerId="ADAL" clId="{148F012C-E039-419C-A523-3EB066B9FD4E}" dt="2026-08-06T06:42:37.700" v="71" actId="767"/>
          <ac:spMkLst>
            <pc:docMk/>
            <pc:sldMk cId="876332490" sldId="282"/>
            <ac:spMk id="6" creationId="{6B4BC263-28DE-9D01-3CA7-6347811A0B42}"/>
          </ac:spMkLst>
        </pc:spChg>
        <pc:spChg chg="mod">
          <ac:chgData name="Aswathy Mohan" userId="8ec7b060-ec9d-4a76-a81c-f80212d9386c" providerId="ADAL" clId="{148F012C-E039-419C-A523-3EB066B9FD4E}" dt="2026-08-06T06:41:08.180" v="70"/>
          <ac:spMkLst>
            <pc:docMk/>
            <pc:sldMk cId="876332490" sldId="282"/>
            <ac:spMk id="7" creationId="{88B8161F-7B1E-DBF9-F5C2-66D736DF48A4}"/>
          </ac:spMkLst>
        </pc:spChg>
        <pc:spChg chg="mod">
          <ac:chgData name="Aswathy Mohan" userId="8ec7b060-ec9d-4a76-a81c-f80212d9386c" providerId="ADAL" clId="{148F012C-E039-419C-A523-3EB066B9FD4E}" dt="2026-08-06T06:43:29.835" v="83" actId="20577"/>
          <ac:spMkLst>
            <pc:docMk/>
            <pc:sldMk cId="876332490" sldId="282"/>
            <ac:spMk id="9" creationId="{94FEFDF0-4E95-AEB1-FD86-67BAB8CF40C3}"/>
          </ac:spMkLst>
        </pc:spChg>
      </pc:sldChg>
      <pc:sldChg chg="modSp">
        <pc:chgData name="Aswathy Mohan" userId="8ec7b060-ec9d-4a76-a81c-f80212d9386c" providerId="ADAL" clId="{148F012C-E039-419C-A523-3EB066B9FD4E}" dt="2026-08-06T08:56:17.885" v="108" actId="20577"/>
        <pc:sldMkLst>
          <pc:docMk/>
          <pc:sldMk cId="1577159192" sldId="283"/>
        </pc:sldMkLst>
        <pc:spChg chg="mod">
          <ac:chgData name="Aswathy Mohan" userId="8ec7b060-ec9d-4a76-a81c-f80212d9386c" providerId="ADAL" clId="{148F012C-E039-419C-A523-3EB066B9FD4E}" dt="2026-08-06T08:56:17.885" v="108" actId="20577"/>
          <ac:spMkLst>
            <pc:docMk/>
            <pc:sldMk cId="1577159192" sldId="283"/>
            <ac:spMk id="28" creationId="{06FCB12D-2483-7EF8-46B7-22BBC786AF25}"/>
          </ac:spMkLst>
        </pc:spChg>
        <pc:spChg chg="mod">
          <ac:chgData name="Aswathy Mohan" userId="8ec7b060-ec9d-4a76-a81c-f80212d9386c" providerId="ADAL" clId="{148F012C-E039-419C-A523-3EB066B9FD4E}" dt="2026-08-06T08:24:05.086" v="105" actId="207"/>
          <ac:spMkLst>
            <pc:docMk/>
            <pc:sldMk cId="1577159192" sldId="283"/>
            <ac:spMk id="30" creationId="{276F3555-DCF3-0277-E819-6A1FB66270DE}"/>
          </ac:spMkLst>
        </pc:spChg>
        <pc:spChg chg="mod">
          <ac:chgData name="Aswathy Mohan" userId="8ec7b060-ec9d-4a76-a81c-f80212d9386c" providerId="ADAL" clId="{148F012C-E039-419C-A523-3EB066B9FD4E}" dt="2026-08-06T08:23:38.128" v="101" actId="207"/>
          <ac:spMkLst>
            <pc:docMk/>
            <pc:sldMk cId="1577159192" sldId="283"/>
            <ac:spMk id="32" creationId="{1C9BA730-8BB5-0D51-6E27-01087EDB59C0}"/>
          </ac:spMkLst>
        </pc:spChg>
      </pc:sldChg>
      <pc:sldChg chg="modSp">
        <pc:chgData name="Aswathy Mohan" userId="8ec7b060-ec9d-4a76-a81c-f80212d9386c" providerId="ADAL" clId="{148F012C-E039-419C-A523-3EB066B9FD4E}" dt="2026-08-06T08:58:14.876" v="110"/>
        <pc:sldMkLst>
          <pc:docMk/>
          <pc:sldMk cId="1524712040" sldId="288"/>
        </pc:sldMkLst>
        <pc:spChg chg="mod">
          <ac:chgData name="Aswathy Mohan" userId="8ec7b060-ec9d-4a76-a81c-f80212d9386c" providerId="ADAL" clId="{148F012C-E039-419C-A523-3EB066B9FD4E}" dt="2026-08-06T08:57:33.664" v="109"/>
          <ac:spMkLst>
            <pc:docMk/>
            <pc:sldMk cId="1524712040" sldId="288"/>
            <ac:spMk id="5" creationId="{333F9DD5-2CE5-43D4-ACD4-D0B720D621C9}"/>
          </ac:spMkLst>
        </pc:spChg>
        <pc:spChg chg="mod">
          <ac:chgData name="Aswathy Mohan" userId="8ec7b060-ec9d-4a76-a81c-f80212d9386c" providerId="ADAL" clId="{148F012C-E039-419C-A523-3EB066B9FD4E}" dt="2026-08-06T08:58:14.876" v="110"/>
          <ac:spMkLst>
            <pc:docMk/>
            <pc:sldMk cId="1524712040" sldId="288"/>
            <ac:spMk id="7" creationId="{C6129986-54FB-75EF-3992-7123FBC00FC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9428A-3A03-4227-9EA7-84153AE9114D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58E48-07D9-44FE-BF50-0B6DED07A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204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58E48-07D9-44FE-BF50-0B6DED07AAC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47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172C1-D92A-A663-512E-C1623ECE1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7677A1-009E-C1FB-256F-AC166DAE2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5EF450-B2F4-6C4B-5262-92524384B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84E73-7937-08FC-9DC5-3B746C5553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58E48-07D9-44FE-BF50-0B6DED07AAC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328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6D50E-8E20-EFA2-1149-688E67A23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1C3B9-E138-739C-19A9-557CC6E1E3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2ABD5-8847-69C7-C47C-8BE56DE7C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DF812-A2CF-EA17-FB3C-64E3B5DD3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BD320-DF2F-BEA1-D65C-2E6D4989B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261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AB26A-949F-EB7A-CE2F-08D0BA849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01368-1BB4-B892-0714-9BC62CEC3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D3239-5138-08FC-25BF-DA4A2930F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08937-89E7-91F2-9AFC-76B9B0060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2B9CF-2FF5-DD05-3B6D-1FAFC0CC0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284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6201E-EA97-D171-C1C5-E8664963D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4D71B-7236-09D9-4867-2BF10F80D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9FF35-C865-65A6-3738-C642D7B82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1EAAF-1728-B9BD-0A30-4F13916AA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F767C-E162-C3A6-BB9A-FE5238ADE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2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69A74-B3B8-7CFB-50AF-EA0350106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C6E78-40E9-0774-8399-8A2F7807F5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7520A-AF9A-C3B0-552B-43DAB6CF1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63167-C054-DE4E-26CF-4A861BEEF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A8635-867B-5DA3-4CFD-7916D0522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6883D-CEC4-DDCB-E8A0-881798CFE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888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4EDFC-92FD-1A37-98A9-6F42C02D2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7615F-A53A-07FA-F86F-0F7FAF8D7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64C15-E9C2-4BC3-9A5E-A94108A4E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5ED87E-6AE9-383D-DA0B-D69A419D3E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67D293-16C3-8735-398C-9DED95203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E1EE8D-4206-1155-2AEC-C2B9CCBD7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C8137D-C031-7C74-F298-B11EEC584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87CDD6-3EDD-6261-3F0D-02C93E12F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662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6BED5-A5B4-04E6-0F6F-2CB0A3074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9C9B22-080C-FCAE-9CDC-4A27BE6F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E50EF7-159F-5E01-FC81-5844CAF75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087436-2A2E-AA54-E1CE-AEEB696C9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875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39BDEC-C940-3662-3CCF-79AE467CB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7BF807-77D3-E51F-CFC6-C7793D29E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D18E2-8536-3693-51BF-F4407D2C6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33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9E684-6CD3-7976-4A77-1FA0B4794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86A9F-D286-6228-2FBF-CE0C7ABB6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90FF5-768B-5654-3DDF-38772A38E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50E00-2A77-2346-AE85-F62F1F7CF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C8DDBA-D980-7BC4-1BE0-12A66B5A3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15833-D22D-06C4-206C-55B783477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309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033BF-FDA8-7ABC-2682-6822285AA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45E0E9-946D-7E1F-DC3B-546725E09C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A3C527-8A2C-0C02-F35E-88A9D4E19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74F218-EBDF-85B4-D149-7D4123DE1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1634E-A4AD-B5F9-CB0B-5E82EA1C2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EEAF1E-F5A6-1979-80A8-E2A2EE783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983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F1836-EF2A-0B0C-C013-106226A6C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93721A-61BB-1FA1-15FB-80B143BCA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07C35-73B0-CA79-4D58-150DE92F0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8357E-B243-6510-B9D0-4DD3F382F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3BAB0-7C8C-60BE-B060-3DA92A606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6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FF9BA0-C545-968F-BCAA-647187DF35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AB8D74-6B43-C76A-5342-1536C04166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2C8A-EA96-A085-AC49-DC1AF3CEE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68C25-8194-B0D6-7ADE-BA2564016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2D670-0FAC-9E81-D623-4D989453D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812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FCE95B-17F5-800C-2862-D00AB6E52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2C6E0-F8A8-7567-9DFB-4FB7243D2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24FB3-3BD5-29A6-BB33-5C72E603F9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7404F4-E83F-4F3B-8B96-5F8B5AFF9E34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F83A8-2813-8423-7294-15120A33C1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78D66-805B-189C-A908-8D3CE6AAFA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579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70E4E1-E091-C721-6F2C-882F22F29387}"/>
              </a:ext>
            </a:extLst>
          </p:cNvPr>
          <p:cNvSpPr txBox="1"/>
          <p:nvPr/>
        </p:nvSpPr>
        <p:spPr>
          <a:xfrm>
            <a:off x="2349910" y="2684206"/>
            <a:ext cx="9842090" cy="76944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rgbClr val="FF0000"/>
                </a:solidFill>
              </a:rPr>
              <a:t>Unit 2</a:t>
            </a:r>
          </a:p>
        </p:txBody>
      </p:sp>
    </p:spTree>
    <p:extLst>
      <p:ext uri="{BB962C8B-B14F-4D97-AF65-F5344CB8AC3E}">
        <p14:creationId xmlns:p14="http://schemas.microsoft.com/office/powerpoint/2010/main" val="1533526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94A6AF-F69A-DB2A-704F-4F8B2EC64C1D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Strategy Design Pattern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BF1AFB-340D-917A-D7FE-B07A352AC5CB}"/>
              </a:ext>
            </a:extLst>
          </p:cNvPr>
          <p:cNvSpPr txBox="1"/>
          <p:nvPr/>
        </p:nvSpPr>
        <p:spPr>
          <a:xfrm>
            <a:off x="206476" y="679724"/>
            <a:ext cx="11464414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</a:rPr>
              <a:t>According to the Gang of Four (GoF)</a:t>
            </a:r>
          </a:p>
          <a:p>
            <a:r>
              <a:rPr lang="en-IN" sz="2400" b="1" dirty="0">
                <a:solidFill>
                  <a:srgbClr val="0000FF"/>
                </a:solidFill>
              </a:rPr>
              <a:t>Define a family of algorithms, encapsulate each one, and make them interchangeable. Strategy lets the algorithm vary independently from clients that use it. </a:t>
            </a:r>
          </a:p>
          <a:p>
            <a:r>
              <a:rPr lang="en-IN" sz="2400" b="1" dirty="0">
                <a:solidFill>
                  <a:srgbClr val="002060"/>
                </a:solidFill>
              </a:rPr>
              <a:t>Simple Definitions:</a:t>
            </a:r>
          </a:p>
          <a:p>
            <a:r>
              <a:rPr lang="en-IN" sz="2400" dirty="0"/>
              <a:t>The </a:t>
            </a:r>
            <a:r>
              <a:rPr lang="en-IN" sz="2400" b="1" dirty="0"/>
              <a:t>Strategy Pattern</a:t>
            </a:r>
            <a:r>
              <a:rPr lang="en-IN" sz="2400" dirty="0"/>
              <a:t> allows selecting one of several algorithms at </a:t>
            </a:r>
            <a:r>
              <a:rPr lang="en-IN" sz="2400" b="1" dirty="0"/>
              <a:t>runtime</a:t>
            </a:r>
            <a:r>
              <a:rPr lang="en-IN" sz="2400" dirty="0"/>
              <a:t> without changing the client or context class. </a:t>
            </a:r>
            <a:endParaRPr lang="en-IN" sz="2400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47515-A2D2-AE92-1A8C-525B99B6A81B}"/>
              </a:ext>
            </a:extLst>
          </p:cNvPr>
          <p:cNvSpPr txBox="1"/>
          <p:nvPr/>
        </p:nvSpPr>
        <p:spPr>
          <a:xfrm>
            <a:off x="2222089" y="5024734"/>
            <a:ext cx="7590505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Real-Life Examples</a:t>
            </a:r>
          </a:p>
          <a:p>
            <a:pPr lvl="0"/>
            <a:r>
              <a:rPr lang="en-IN" b="1" dirty="0"/>
              <a:t>Google Maps</a:t>
            </a:r>
            <a:r>
              <a:rPr lang="en-IN" dirty="0"/>
              <a:t> → Fastest Route, Shortest Route, Avoid Toll </a:t>
            </a:r>
          </a:p>
          <a:p>
            <a:pPr lvl="0"/>
            <a:r>
              <a:rPr lang="en-IN" b="1" dirty="0"/>
              <a:t>Payment Gateway</a:t>
            </a:r>
            <a:r>
              <a:rPr lang="en-IN" dirty="0"/>
              <a:t> → Credit Card, UPI, PayPal </a:t>
            </a:r>
          </a:p>
          <a:p>
            <a:pPr lvl="0"/>
            <a:r>
              <a:rPr lang="en-IN" b="1" dirty="0"/>
              <a:t>Sorting Algorithms</a:t>
            </a:r>
            <a:r>
              <a:rPr lang="en-IN" dirty="0"/>
              <a:t> → Quick Sort, Merge Sort, Bubble Sort </a:t>
            </a:r>
          </a:p>
          <a:p>
            <a:pPr lvl="0"/>
            <a:r>
              <a:rPr lang="en-IN" b="1" dirty="0"/>
              <a:t>Data Compression</a:t>
            </a:r>
            <a:r>
              <a:rPr lang="en-IN" dirty="0"/>
              <a:t> → ZIP, RAR, 7-ZIP </a:t>
            </a:r>
          </a:p>
          <a:p>
            <a:pPr lvl="0"/>
            <a:r>
              <a:rPr lang="en-IN" b="1" dirty="0"/>
              <a:t>Authentication Methods</a:t>
            </a:r>
            <a:r>
              <a:rPr lang="en-IN" dirty="0"/>
              <a:t> → Password, OTP, OAuth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257252-631F-96C2-385B-2124DBFBFC66}"/>
              </a:ext>
            </a:extLst>
          </p:cNvPr>
          <p:cNvSpPr txBox="1"/>
          <p:nvPr/>
        </p:nvSpPr>
        <p:spPr>
          <a:xfrm>
            <a:off x="550608" y="3422923"/>
            <a:ext cx="2723536" cy="76944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sz="2200" b="1" dirty="0"/>
              <a:t>Pattern Name</a:t>
            </a:r>
          </a:p>
          <a:p>
            <a:r>
              <a:rPr lang="en-IN" sz="2200" dirty="0"/>
              <a:t>Strategy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3383B2-596D-537A-B81D-20D73D3178FD}"/>
              </a:ext>
            </a:extLst>
          </p:cNvPr>
          <p:cNvSpPr txBox="1"/>
          <p:nvPr/>
        </p:nvSpPr>
        <p:spPr>
          <a:xfrm>
            <a:off x="3362633" y="3245940"/>
            <a:ext cx="8829367" cy="1015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2000" b="1" dirty="0"/>
              <a:t>Intent</a:t>
            </a:r>
          </a:p>
          <a:p>
            <a:r>
              <a:rPr lang="en-IN" sz="2000" dirty="0"/>
              <a:t>Select one algorithm from a family of interchangeable algorithms and execute it dynamically at runtime.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CE17E5-70C7-6381-671D-B3DD17BD3DB2}"/>
              </a:ext>
            </a:extLst>
          </p:cNvPr>
          <p:cNvSpPr txBox="1"/>
          <p:nvPr/>
        </p:nvSpPr>
        <p:spPr>
          <a:xfrm>
            <a:off x="245809" y="4258664"/>
            <a:ext cx="11621728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Motivation</a:t>
            </a:r>
          </a:p>
          <a:p>
            <a:pPr>
              <a:buNone/>
            </a:pPr>
            <a:r>
              <a:rPr lang="en-IN" sz="2000" dirty="0"/>
              <a:t>Same Task → Multiple Algorithms → Client Chooses One Algorithm → Different Behaviour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246638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 animBg="1"/>
      <p:bldP spid="15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26BB3-AE90-3281-D93D-4EDF5A9DA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CF349A-BC17-69BC-1415-B6B447833C00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Why the Existing Design Fails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FEFDF0-4E95-AEB1-FD86-67BAB8CF40C3}"/>
              </a:ext>
            </a:extLst>
          </p:cNvPr>
          <p:cNvSpPr txBox="1"/>
          <p:nvPr/>
        </p:nvSpPr>
        <p:spPr>
          <a:xfrm>
            <a:off x="6244482" y="2072810"/>
            <a:ext cx="5436239" cy="25545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</a:rPr>
              <a:t>Problems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Too many </a:t>
            </a:r>
            <a:r>
              <a:rPr lang="en-IN" sz="2000" b="1" dirty="0"/>
              <a:t>if-else</a:t>
            </a:r>
            <a:r>
              <a:rPr lang="en-IN" sz="2000" dirty="0"/>
              <a:t> statements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Difficult to maintain and extend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Violates the </a:t>
            </a:r>
            <a:r>
              <a:rPr lang="en-IN" sz="2000" b="1" dirty="0"/>
              <a:t>Open-Closed Principle (OCP)</a:t>
            </a:r>
            <a:r>
              <a:rPr lang="en-IN" sz="2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High Coupling between payment methods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Difficult to test individual algorithms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Every new payment method requires modifying existing code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8161F-7B1E-DBF9-F5C2-66D736DF48A4}"/>
              </a:ext>
            </a:extLst>
          </p:cNvPr>
          <p:cNvSpPr txBox="1"/>
          <p:nvPr/>
        </p:nvSpPr>
        <p:spPr>
          <a:xfrm>
            <a:off x="628427" y="910927"/>
            <a:ext cx="75520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FF"/>
                </a:solidFill>
              </a:rPr>
              <a:t>A naive implementation A </a:t>
            </a:r>
            <a:r>
              <a:rPr lang="en-IN" sz="2400" b="1" dirty="0">
                <a:solidFill>
                  <a:srgbClr val="0000FF"/>
                </a:solidFill>
              </a:rPr>
              <a:t>Online shopping application</a:t>
            </a:r>
            <a:endParaRPr lang="en-IN" sz="2400" dirty="0">
              <a:solidFill>
                <a:srgbClr val="0000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23EE94-DD86-94AD-1599-CA73EEF72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48" y="2612239"/>
            <a:ext cx="5271820" cy="31003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4BC263-28DE-9D01-3CA7-6347811A0B42}"/>
              </a:ext>
            </a:extLst>
          </p:cNvPr>
          <p:cNvSpPr txBox="1"/>
          <p:nvPr/>
        </p:nvSpPr>
        <p:spPr>
          <a:xfrm>
            <a:off x="383459" y="1927123"/>
            <a:ext cx="33036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0000FF"/>
                </a:solidFill>
              </a:rPr>
              <a:t>Without Strategy Pattern</a:t>
            </a:r>
          </a:p>
        </p:txBody>
      </p:sp>
    </p:spTree>
    <p:extLst>
      <p:ext uri="{BB962C8B-B14F-4D97-AF65-F5344CB8AC3E}">
        <p14:creationId xmlns:p14="http://schemas.microsoft.com/office/powerpoint/2010/main" val="87633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412E6E-E51A-CDBC-C642-D9CC87EFAC98}"/>
              </a:ext>
            </a:extLst>
          </p:cNvPr>
          <p:cNvSpPr txBox="1"/>
          <p:nvPr/>
        </p:nvSpPr>
        <p:spPr>
          <a:xfrm>
            <a:off x="511278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Applicability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2FA31-9FAD-B5DA-B86A-A434764F53CE}"/>
              </a:ext>
            </a:extLst>
          </p:cNvPr>
          <p:cNvSpPr txBox="1"/>
          <p:nvPr/>
        </p:nvSpPr>
        <p:spPr>
          <a:xfrm>
            <a:off x="511277" y="845177"/>
            <a:ext cx="10628671" cy="26468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FF"/>
                </a:solidFill>
              </a:rPr>
              <a:t>When should we use the Strategy Pattern?</a:t>
            </a:r>
          </a:p>
          <a:p>
            <a:pPr lvl="0"/>
            <a:r>
              <a:rPr lang="en-IN" sz="2400" dirty="0"/>
              <a:t>✔ Multiple algorithms perform the same task. </a:t>
            </a:r>
          </a:p>
          <a:p>
            <a:pPr lvl="0"/>
            <a:r>
              <a:rPr lang="en-IN" sz="2400" dirty="0"/>
              <a:t>✔ The algorithm needs to be selected at </a:t>
            </a:r>
            <a:r>
              <a:rPr lang="en-IN" sz="2400" b="1" dirty="0"/>
              <a:t>runtime</a:t>
            </a:r>
            <a:r>
              <a:rPr lang="en-IN" sz="2400" dirty="0"/>
              <a:t>. </a:t>
            </a:r>
          </a:p>
          <a:p>
            <a:pPr lvl="0"/>
            <a:r>
              <a:rPr lang="en-IN" sz="2400" dirty="0"/>
              <a:t>✔ Large </a:t>
            </a:r>
            <a:r>
              <a:rPr lang="en-IN" sz="2400" b="1" dirty="0"/>
              <a:t>if-else</a:t>
            </a:r>
            <a:r>
              <a:rPr lang="en-IN" sz="2400" dirty="0"/>
              <a:t> or </a:t>
            </a:r>
            <a:r>
              <a:rPr lang="en-IN" sz="2400" b="1" dirty="0"/>
              <a:t>switch</a:t>
            </a:r>
            <a:r>
              <a:rPr lang="en-IN" sz="2400" dirty="0"/>
              <a:t> statements should be avoided. </a:t>
            </a:r>
          </a:p>
          <a:p>
            <a:pPr lvl="0"/>
            <a:r>
              <a:rPr lang="en-IN" sz="2400" dirty="0"/>
              <a:t>✔ Similar operations have different implementations. </a:t>
            </a:r>
          </a:p>
          <a:p>
            <a:pPr lvl="0"/>
            <a:r>
              <a:rPr lang="en-IN" sz="2400" dirty="0"/>
              <a:t>✔ New algorithms may be added frequently without modifying existing code.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solidFill>
                <a:srgbClr val="0000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FF3AE4-8FB0-64C0-A985-340A252F2DC0}"/>
              </a:ext>
            </a:extLst>
          </p:cNvPr>
          <p:cNvSpPr txBox="1"/>
          <p:nvPr/>
        </p:nvSpPr>
        <p:spPr>
          <a:xfrm>
            <a:off x="511278" y="3980819"/>
            <a:ext cx="6096000" cy="17851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0000FF"/>
                </a:solidFill>
              </a:rPr>
              <a:t>When NOT to Use Strategy Pattern</a:t>
            </a:r>
          </a:p>
          <a:p>
            <a:pPr lvl="0"/>
            <a:r>
              <a:rPr lang="en-IN" sz="2200" dirty="0"/>
              <a:t>✘ Only one algorithm exists. </a:t>
            </a:r>
          </a:p>
          <a:p>
            <a:pPr lvl="0"/>
            <a:r>
              <a:rPr lang="en-IN" sz="2200" dirty="0"/>
              <a:t>✘ Algorithms never change. </a:t>
            </a:r>
          </a:p>
          <a:p>
            <a:pPr lvl="0"/>
            <a:r>
              <a:rPr lang="en-IN" sz="2200" dirty="0"/>
              <a:t>✘ Runtime selection is unnecessary. </a:t>
            </a:r>
          </a:p>
          <a:p>
            <a:pPr lvl="0"/>
            <a:r>
              <a:rPr lang="en-IN" sz="2200" dirty="0"/>
              <a:t>✘ A simple method is sufficient. </a:t>
            </a:r>
          </a:p>
        </p:txBody>
      </p:sp>
    </p:spTree>
    <p:extLst>
      <p:ext uri="{BB962C8B-B14F-4D97-AF65-F5344CB8AC3E}">
        <p14:creationId xmlns:p14="http://schemas.microsoft.com/office/powerpoint/2010/main" val="2751905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D077D0-B26D-DBE1-B357-A71A29A48252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The Strategy Pattern- Structure &amp; Participants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FCB12D-2483-7EF8-46B7-22BBC786AF25}"/>
              </a:ext>
            </a:extLst>
          </p:cNvPr>
          <p:cNvSpPr txBox="1"/>
          <p:nvPr/>
        </p:nvSpPr>
        <p:spPr>
          <a:xfrm>
            <a:off x="6912077" y="578492"/>
            <a:ext cx="5063615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002060"/>
                </a:solidFill>
              </a:rPr>
              <a:t>Participant Responsibilities</a:t>
            </a:r>
          </a:p>
          <a:p>
            <a:r>
              <a:rPr lang="en-IN" sz="2000" b="1" dirty="0">
                <a:solidFill>
                  <a:srgbClr val="0000FF"/>
                </a:solidFill>
              </a:rPr>
              <a:t>Context</a:t>
            </a:r>
          </a:p>
          <a:p>
            <a:pPr lvl="0"/>
            <a:r>
              <a:rPr lang="en-IN" sz="2000" dirty="0"/>
              <a:t>Maintains a reference to the current strategy. </a:t>
            </a:r>
          </a:p>
          <a:p>
            <a:pPr lvl="0"/>
            <a:r>
              <a:rPr lang="en-IN" sz="2000" dirty="0"/>
              <a:t>Delegates the request to the selected strategy. </a:t>
            </a:r>
          </a:p>
          <a:p>
            <a:pPr lvl="0"/>
            <a:r>
              <a:rPr lang="en-IN" sz="2000" dirty="0"/>
              <a:t>Does </a:t>
            </a:r>
            <a:r>
              <a:rPr lang="en-IN" sz="2000" b="1" dirty="0"/>
              <a:t>not</a:t>
            </a:r>
            <a:r>
              <a:rPr lang="en-IN" sz="2000" dirty="0"/>
              <a:t> know the implementation details. </a:t>
            </a:r>
          </a:p>
          <a:p>
            <a:pPr lvl="0"/>
            <a:r>
              <a:rPr lang="en-IN" sz="2000" b="1" dirty="0"/>
              <a:t>Example:</a:t>
            </a:r>
            <a:r>
              <a:rPr lang="en-IN" sz="2000" dirty="0"/>
              <a:t> </a:t>
            </a:r>
            <a:r>
              <a:rPr lang="en-IN" dirty="0" err="1"/>
              <a:t>PaymentContext</a:t>
            </a:r>
            <a:endParaRPr lang="en-IN" sz="2000" dirty="0"/>
          </a:p>
          <a:p>
            <a:pPr>
              <a:buNone/>
            </a:pPr>
            <a:endParaRPr lang="en-IN" sz="2000" dirty="0"/>
          </a:p>
          <a:p>
            <a:r>
              <a:rPr lang="en-IN" sz="2000" b="1" dirty="0">
                <a:solidFill>
                  <a:srgbClr val="0000FF"/>
                </a:solidFill>
              </a:rPr>
              <a:t>Strategy (Interface)</a:t>
            </a:r>
          </a:p>
          <a:p>
            <a:pPr lvl="0"/>
            <a:r>
              <a:rPr lang="en-IN" sz="2000" dirty="0"/>
              <a:t>Defines the common operation that all strategies implement. </a:t>
            </a:r>
          </a:p>
          <a:p>
            <a:pPr lvl="0"/>
            <a:r>
              <a:rPr lang="en-IN" sz="2000" b="1" dirty="0"/>
              <a:t>Example:</a:t>
            </a:r>
            <a:r>
              <a:rPr lang="en-IN" sz="2000" dirty="0"/>
              <a:t> </a:t>
            </a:r>
            <a:r>
              <a:rPr lang="en-IN" dirty="0"/>
              <a:t>pay(int amount)</a:t>
            </a:r>
            <a:endParaRPr lang="en-IN" sz="2000" dirty="0"/>
          </a:p>
          <a:p>
            <a:r>
              <a:rPr lang="en-IN" sz="2000" b="1" dirty="0">
                <a:solidFill>
                  <a:srgbClr val="0000FF"/>
                </a:solidFill>
              </a:rPr>
              <a:t>Concrete Strategy</a:t>
            </a:r>
          </a:p>
          <a:p>
            <a:pPr lvl="0"/>
            <a:r>
              <a:rPr lang="en-IN" dirty="0"/>
              <a:t>Implements a specific algorithm. </a:t>
            </a:r>
          </a:p>
          <a:p>
            <a:pPr lvl="0"/>
            <a:r>
              <a:rPr lang="en-IN" b="1" dirty="0"/>
              <a:t>Examples:</a:t>
            </a:r>
            <a:r>
              <a:rPr lang="en-IN" dirty="0"/>
              <a:t> </a:t>
            </a:r>
          </a:p>
          <a:p>
            <a:pPr lvl="1"/>
            <a:r>
              <a:rPr lang="en-IN" dirty="0" err="1"/>
              <a:t>CreditCardPayment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UPIPayment </a:t>
            </a:r>
          </a:p>
          <a:p>
            <a:pPr lvl="1"/>
            <a:r>
              <a:rPr lang="en-IN" dirty="0"/>
              <a:t>PayPalPayment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6F3555-DCF3-0277-E819-6A1FB66270DE}"/>
              </a:ext>
            </a:extLst>
          </p:cNvPr>
          <p:cNvSpPr txBox="1"/>
          <p:nvPr/>
        </p:nvSpPr>
        <p:spPr>
          <a:xfrm>
            <a:off x="530942" y="4503076"/>
            <a:ext cx="383458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00FF"/>
                </a:solidFill>
              </a:rPr>
              <a:t>Client</a:t>
            </a:r>
          </a:p>
          <a:p>
            <a:pPr lvl="0"/>
            <a:r>
              <a:rPr lang="en-IN" sz="2000" dirty="0"/>
              <a:t>Creates the </a:t>
            </a:r>
            <a:r>
              <a:rPr lang="en-IN" dirty="0" err="1"/>
              <a:t>PaymentContext</a:t>
            </a:r>
            <a:r>
              <a:rPr lang="en-IN" sz="2000" dirty="0"/>
              <a:t>. </a:t>
            </a:r>
          </a:p>
          <a:p>
            <a:pPr lvl="0"/>
            <a:r>
              <a:rPr lang="en-IN" sz="2000" dirty="0"/>
              <a:t>Chooses the required strategy. </a:t>
            </a:r>
          </a:p>
          <a:p>
            <a:pPr lvl="0"/>
            <a:r>
              <a:rPr lang="en-IN" sz="2000" dirty="0"/>
              <a:t>Sets the strategy at runtime. </a:t>
            </a:r>
          </a:p>
          <a:p>
            <a:pPr lvl="0"/>
            <a:r>
              <a:rPr lang="en-IN" sz="2000" dirty="0"/>
              <a:t>Invokes the payment operation.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9BA730-8BB5-0D51-6E27-01087EDB59C0}"/>
              </a:ext>
            </a:extLst>
          </p:cNvPr>
          <p:cNvSpPr txBox="1"/>
          <p:nvPr/>
        </p:nvSpPr>
        <p:spPr>
          <a:xfrm>
            <a:off x="632289" y="6111186"/>
            <a:ext cx="106419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The Context does NOT know how the payment is processed. It simply delegates the request to the selected strategy using </a:t>
            </a:r>
            <a:r>
              <a:rPr lang="en-IN" dirty="0" err="1">
                <a:solidFill>
                  <a:srgbClr val="FF0000"/>
                </a:solidFill>
              </a:rPr>
              <a:t>strategy.pay</a:t>
            </a:r>
            <a:r>
              <a:rPr lang="en-IN" dirty="0">
                <a:solidFill>
                  <a:srgbClr val="FF0000"/>
                </a:solidFill>
              </a:rPr>
              <a:t>(amount). This is called </a:t>
            </a:r>
            <a:r>
              <a:rPr lang="en-IN" i="1" dirty="0">
                <a:solidFill>
                  <a:srgbClr val="0000FF"/>
                </a:solidFill>
              </a:rPr>
              <a:t>Delegation</a:t>
            </a:r>
            <a:r>
              <a:rPr lang="en-IN" dirty="0">
                <a:solidFill>
                  <a:srgbClr val="FF0000"/>
                </a:solidFill>
              </a:rPr>
              <a:t>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E0138C-FF9E-7C65-33F9-D5E75E1A1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80" y="744635"/>
            <a:ext cx="6748857" cy="365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159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10DFD-DC91-E578-3B79-E128DEBE0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CADD96-CD0B-184D-7075-9FCFA459174D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The Strategy Pattern- Structure &amp; Participants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CE8416-3D3E-E0DC-052E-CB71329C78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389" y="707923"/>
            <a:ext cx="8989142" cy="599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17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61B7DA-703B-3070-1492-400B0762E3EF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Strategy Pattern – Java Implementation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CEA28E-2F5F-4A0B-891B-F0D558306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096" y="713710"/>
            <a:ext cx="9095852" cy="606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750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08DE04-3D00-D463-0928-0E846934995F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State Pattern – Consequences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3F9DD5-2CE5-43D4-ACD4-D0B720D621C9}"/>
              </a:ext>
            </a:extLst>
          </p:cNvPr>
          <p:cNvSpPr txBox="1"/>
          <p:nvPr/>
        </p:nvSpPr>
        <p:spPr>
          <a:xfrm>
            <a:off x="668593" y="1203036"/>
            <a:ext cx="4011562" cy="230832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✓ Advantages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Eliminates large </a:t>
            </a:r>
            <a:r>
              <a:rPr lang="en-IN" b="1" dirty="0"/>
              <a:t>if–else</a:t>
            </a:r>
            <a:r>
              <a:rPr lang="en-IN" dirty="0"/>
              <a:t> statements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Runtime Algorithm Selection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Loose Coupling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Open–Closed Principle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High Cohesion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Easy Testing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Reusable Algorithms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129986-54FB-75EF-3992-7123FBC00FC5}"/>
              </a:ext>
            </a:extLst>
          </p:cNvPr>
          <p:cNvSpPr txBox="1"/>
          <p:nvPr/>
        </p:nvSpPr>
        <p:spPr>
          <a:xfrm>
            <a:off x="5584722" y="1263729"/>
            <a:ext cx="5820697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✗ Disadvantages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More Classes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Client must choose the Strategy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More Objects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Initial Complexity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Beginners often confuse </a:t>
            </a:r>
            <a:r>
              <a:rPr lang="en-IN" b="1" dirty="0"/>
              <a:t>State</a:t>
            </a:r>
            <a:r>
              <a:rPr lang="en-IN" dirty="0"/>
              <a:t> and </a:t>
            </a:r>
            <a:r>
              <a:rPr lang="en-IN" b="1" dirty="0"/>
              <a:t>Strategy</a:t>
            </a:r>
            <a:r>
              <a:rPr lang="en-IN" dirty="0"/>
              <a:t> because their UML diagrams are similar.</a:t>
            </a:r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4712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BD652-31DD-7FCF-4F6E-E6D1C2952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E8571A-E351-7E39-22AF-A2066B3DCF5B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State Pattern Vs Strategy Pattern</a:t>
            </a:r>
            <a:endParaRPr lang="en-IN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2B35EF-B793-0058-7980-888710BE979A}"/>
              </a:ext>
            </a:extLst>
          </p:cNvPr>
          <p:cNvSpPr txBox="1"/>
          <p:nvPr/>
        </p:nvSpPr>
        <p:spPr>
          <a:xfrm>
            <a:off x="501444" y="848908"/>
            <a:ext cx="108843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FF"/>
                </a:solidFill>
              </a:rPr>
              <a:t>Both patterns share </a:t>
            </a:r>
            <a:r>
              <a:rPr lang="en-IN" sz="2400" b="1" dirty="0">
                <a:solidFill>
                  <a:srgbClr val="0000FF"/>
                </a:solidFill>
              </a:rPr>
              <a:t>identical UML structure</a:t>
            </a:r>
            <a:r>
              <a:rPr lang="en-IN" sz="2400" dirty="0">
                <a:solidFill>
                  <a:srgbClr val="0000FF"/>
                </a:solidFill>
              </a:rPr>
              <a:t> (composition + delegation), but their </a:t>
            </a:r>
            <a:r>
              <a:rPr lang="en-IN" sz="2400" b="1" dirty="0">
                <a:solidFill>
                  <a:srgbClr val="0000FF"/>
                </a:solidFill>
              </a:rPr>
              <a:t>intent</a:t>
            </a:r>
            <a:r>
              <a:rPr lang="en-IN" sz="2400" dirty="0">
                <a:solidFill>
                  <a:srgbClr val="0000FF"/>
                </a:solidFill>
              </a:rPr>
              <a:t> is completely different. </a:t>
            </a:r>
            <a:r>
              <a:rPr lang="en-IN" sz="2400" i="1" dirty="0">
                <a:solidFill>
                  <a:srgbClr val="0000FF"/>
                </a:solidFill>
              </a:rPr>
              <a:t>Never identify a pattern by UML alone.</a:t>
            </a:r>
            <a:endParaRPr lang="en-IN" sz="2400" dirty="0">
              <a:solidFill>
                <a:srgbClr val="0000FF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13981F2-AE25-62B3-C62E-A2DB9F732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335232"/>
              </p:ext>
            </p:extLst>
          </p:nvPr>
        </p:nvGraphicFramePr>
        <p:xfrm>
          <a:off x="808703" y="1867694"/>
          <a:ext cx="10515600" cy="365760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20549980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8075269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430316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State Pattern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Strategy Pattern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2609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Intent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Change behavior when internal state changes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Select one algorithm among interchangeable options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1622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Decision Maker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Context / State (automatic)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Client (manual selection)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5827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State Transition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 — states transition automatically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— strategies are independent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5709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Object Behavior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Changes — object appears to become another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Remains same — only algorithm changes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4097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Real Example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Traffic Signal, ATM, Media Player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Payment Gateway, Google Maps routes, Sorting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5465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Memory Trick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"How should I behave now?"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"Which algorithm should I use?"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742010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924CD1A-A665-874E-716D-EED6A524C145}"/>
              </a:ext>
            </a:extLst>
          </p:cNvPr>
          <p:cNvSpPr txBox="1"/>
          <p:nvPr/>
        </p:nvSpPr>
        <p:spPr>
          <a:xfrm>
            <a:off x="1002891" y="5693327"/>
            <a:ext cx="7492180" cy="9233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If behaviour changes due to </a:t>
            </a:r>
            <a:r>
              <a:rPr lang="en-IN" b="1" dirty="0"/>
              <a:t>current condition</a:t>
            </a:r>
            <a:r>
              <a:rPr lang="en-IN" dirty="0"/>
              <a:t> →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If behaviour changes because </a:t>
            </a:r>
            <a:r>
              <a:rPr lang="en-IN" b="1" dirty="0"/>
              <a:t>user chooses</a:t>
            </a:r>
            <a:r>
              <a:rPr lang="en-IN" dirty="0"/>
              <a:t> an algorithm → Strategy.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Both use composition, but purpose differs entirely.</a:t>
            </a:r>
          </a:p>
        </p:txBody>
      </p:sp>
    </p:spTree>
    <p:extLst>
      <p:ext uri="{BB962C8B-B14F-4D97-AF65-F5344CB8AC3E}">
        <p14:creationId xmlns:p14="http://schemas.microsoft.com/office/powerpoint/2010/main" val="4062774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620</Words>
  <Application>Microsoft Office PowerPoint</Application>
  <PresentationFormat>Widescreen</PresentationFormat>
  <Paragraphs>108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Aswathy Mohan</dc:creator>
  <cp:lastModifiedBy>Aswathy Mohan</cp:lastModifiedBy>
  <cp:revision>1</cp:revision>
  <dcterms:created xsi:type="dcterms:W3CDTF">2026-08-03T05:04:47Z</dcterms:created>
  <dcterms:modified xsi:type="dcterms:W3CDTF">2026-08-06T10:11:54Z</dcterms:modified>
</cp:coreProperties>
</file>