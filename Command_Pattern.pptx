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46DF2-19D1-1C4D-B37B-3A3A4C012D19}" v="4" dt="2026-09-08T08:03:53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custSel modSld">
      <pc:chgData name="Aswathy Mohan" userId="8ec7b060-ec9d-4a76-a81c-f80212d9386c" providerId="ADAL" clId="{A2D8F3F3-AB79-5800-97AF-2AFE679C11CA}" dt="2026-09-08T08:08:00.821" v="444" actId="1036"/>
      <pc:docMkLst>
        <pc:docMk/>
      </pc:docMkLst>
      <pc:sldChg chg="modSp mod">
        <pc:chgData name="Aswathy Mohan" userId="8ec7b060-ec9d-4a76-a81c-f80212d9386c" providerId="ADAL" clId="{A2D8F3F3-AB79-5800-97AF-2AFE679C11CA}" dt="2026-09-08T05:53:44.828" v="1" actId="1038"/>
        <pc:sldMkLst>
          <pc:docMk/>
          <pc:sldMk cId="0" sldId="256"/>
        </pc:sldMkLst>
        <pc:spChg chg="mod">
          <ac:chgData name="Aswathy Mohan" userId="8ec7b060-ec9d-4a76-a81c-f80212d9386c" providerId="ADAL" clId="{A2D8F3F3-AB79-5800-97AF-2AFE679C11CA}" dt="2026-09-08T05:53:44.828" v="1" actId="1038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swathy Mohan" userId="8ec7b060-ec9d-4a76-a81c-f80212d9386c" providerId="ADAL" clId="{A2D8F3F3-AB79-5800-97AF-2AFE679C11CA}" dt="2026-09-08T05:54:23.788" v="6" actId="255"/>
        <pc:sldMkLst>
          <pc:docMk/>
          <pc:sldMk cId="0" sldId="257"/>
        </pc:sldMkLst>
        <pc:spChg chg="mod">
          <ac:chgData name="Aswathy Mohan" userId="8ec7b060-ec9d-4a76-a81c-f80212d9386c" providerId="ADAL" clId="{A2D8F3F3-AB79-5800-97AF-2AFE679C11CA}" dt="2026-09-08T05:54:23.788" v="6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5:54:18.521" v="5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5:54:00.024" v="2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5:54:05.210" v="3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5:54:13.099" v="4" actId="255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Aswathy Mohan" userId="8ec7b060-ec9d-4a76-a81c-f80212d9386c" providerId="ADAL" clId="{A2D8F3F3-AB79-5800-97AF-2AFE679C11CA}" dt="2026-09-08T05:55:37.941" v="7" actId="255"/>
        <pc:sldMkLst>
          <pc:docMk/>
          <pc:sldMk cId="0" sldId="258"/>
        </pc:sldMkLst>
        <pc:spChg chg="mod">
          <ac:chgData name="Aswathy Mohan" userId="8ec7b060-ec9d-4a76-a81c-f80212d9386c" providerId="ADAL" clId="{A2D8F3F3-AB79-5800-97AF-2AFE679C11CA}" dt="2026-09-08T05:55:37.941" v="7" actId="255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Aswathy Mohan" userId="8ec7b060-ec9d-4a76-a81c-f80212d9386c" providerId="ADAL" clId="{A2D8F3F3-AB79-5800-97AF-2AFE679C11CA}" dt="2026-09-08T06:12:04.608" v="13" actId="478"/>
        <pc:sldMkLst>
          <pc:docMk/>
          <pc:sldMk cId="0" sldId="259"/>
        </pc:sldMkLst>
        <pc:spChg chg="del">
          <ac:chgData name="Aswathy Mohan" userId="8ec7b060-ec9d-4a76-a81c-f80212d9386c" providerId="ADAL" clId="{A2D8F3F3-AB79-5800-97AF-2AFE679C11CA}" dt="2026-09-08T06:12:04.608" v="13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5:56:25.555" v="12" actId="255"/>
          <ac:spMkLst>
            <pc:docMk/>
            <pc:sldMk cId="0" sldId="259"/>
            <ac:spMk id="9" creationId="{00000000-0000-0000-0000-000000000000}"/>
          </ac:spMkLst>
        </pc:spChg>
      </pc:sldChg>
      <pc:sldChg chg="addSp delSp modSp mod">
        <pc:chgData name="Aswathy Mohan" userId="8ec7b060-ec9d-4a76-a81c-f80212d9386c" providerId="ADAL" clId="{A2D8F3F3-AB79-5800-97AF-2AFE679C11CA}" dt="2026-09-08T06:22:43.426" v="66" actId="1035"/>
        <pc:sldMkLst>
          <pc:docMk/>
          <pc:sldMk cId="0" sldId="260"/>
        </pc:sldMkLst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6:22:28.414" v="51" actId="1036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Aswathy Mohan" userId="8ec7b060-ec9d-4a76-a81c-f80212d9386c" providerId="ADAL" clId="{A2D8F3F3-AB79-5800-97AF-2AFE679C11CA}" dt="2026-09-08T06:22:20.504" v="14" actId="478"/>
          <ac:spMkLst>
            <pc:docMk/>
            <pc:sldMk cId="0" sldId="260"/>
            <ac:spMk id="34" creationId="{00000000-0000-0000-0000-000000000000}"/>
          </ac:spMkLst>
        </pc:spChg>
        <pc:picChg chg="add mod">
          <ac:chgData name="Aswathy Mohan" userId="8ec7b060-ec9d-4a76-a81c-f80212d9386c" providerId="ADAL" clId="{A2D8F3F3-AB79-5800-97AF-2AFE679C11CA}" dt="2026-09-08T06:22:43.426" v="66" actId="1035"/>
          <ac:picMkLst>
            <pc:docMk/>
            <pc:sldMk cId="0" sldId="260"/>
            <ac:picMk id="40" creationId="{FBA8D259-D6FB-4361-7052-82EFE2476928}"/>
          </ac:picMkLst>
        </pc:picChg>
      </pc:sldChg>
      <pc:sldChg chg="addSp delSp modSp mod">
        <pc:chgData name="Aswathy Mohan" userId="8ec7b060-ec9d-4a76-a81c-f80212d9386c" providerId="ADAL" clId="{A2D8F3F3-AB79-5800-97AF-2AFE679C11CA}" dt="2026-09-08T08:05:47.687" v="420" actId="1035"/>
        <pc:sldMkLst>
          <pc:docMk/>
          <pc:sldMk cId="0" sldId="263"/>
        </pc:sldMkLst>
        <pc:spChg chg="mod">
          <ac:chgData name="Aswathy Mohan" userId="8ec7b060-ec9d-4a76-a81c-f80212d9386c" providerId="ADAL" clId="{A2D8F3F3-AB79-5800-97AF-2AFE679C11CA}" dt="2026-09-08T08:05:38.966" v="414" actId="10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0:45.479" v="235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0:42.612" v="234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0:25.050" v="232" actId="103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1:06.710" v="236" actId="113"/>
          <ac:spMkLst>
            <pc:docMk/>
            <pc:sldMk cId="0" sldId="263"/>
            <ac:spMk id="9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09.480" v="132" actId="103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15.812" v="157" actId="103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09.480" v="132" actId="103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1:10.693" v="237" actId="11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5:47.687" v="420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5:47.687" v="420" actId="103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5:47.687" v="420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5:20.023" v="395" actId="103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2:06.487" v="239" actId="1410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0:02.042" v="209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49.724" v="188" actId="10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49.724" v="188" actId="10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2:21.893" v="266" actId="103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2:21.893" v="266" actId="103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2:21.893" v="266" actId="103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2:33.420" v="289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12.712" v="326" actId="103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16.990" v="327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12.712" v="326" actId="103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12.712" v="326" actId="103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36.352" v="372" actId="1037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36.352" v="372" actId="103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36.352" v="372" actId="103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3:36.352" v="372" actId="103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7:59:26.771" v="158" actId="1076"/>
          <ac:spMkLst>
            <pc:docMk/>
            <pc:sldMk cId="0" sldId="263"/>
            <ac:spMk id="34" creationId="{00000000-0000-0000-0000-000000000000}"/>
          </ac:spMkLst>
        </pc:spChg>
        <pc:spChg chg="add del mod">
          <ac:chgData name="Aswathy Mohan" userId="8ec7b060-ec9d-4a76-a81c-f80212d9386c" providerId="ADAL" clId="{A2D8F3F3-AB79-5800-97AF-2AFE679C11CA}" dt="2026-09-08T08:03:29.787" v="333"/>
          <ac:spMkLst>
            <pc:docMk/>
            <pc:sldMk cId="0" sldId="263"/>
            <ac:spMk id="35" creationId="{A52C93DD-0F7A-3616-8B94-F05178784874}"/>
          </ac:spMkLst>
        </pc:spChg>
        <pc:graphicFrameChg chg="add mod modGraphic">
          <ac:chgData name="Aswathy Mohan" userId="8ec7b060-ec9d-4a76-a81c-f80212d9386c" providerId="ADAL" clId="{A2D8F3F3-AB79-5800-97AF-2AFE679C11CA}" dt="2026-09-08T08:05:47.687" v="420" actId="1035"/>
          <ac:graphicFrameMkLst>
            <pc:docMk/>
            <pc:sldMk cId="0" sldId="263"/>
            <ac:graphicFrameMk id="36" creationId="{27F95D3A-A075-3906-F750-2528CC5555E4}"/>
          </ac:graphicFrameMkLst>
        </pc:graphicFrameChg>
      </pc:sldChg>
      <pc:sldChg chg="modSp mod">
        <pc:chgData name="Aswathy Mohan" userId="8ec7b060-ec9d-4a76-a81c-f80212d9386c" providerId="ADAL" clId="{A2D8F3F3-AB79-5800-97AF-2AFE679C11CA}" dt="2026-09-08T08:08:00.821" v="444" actId="1036"/>
        <pc:sldMkLst>
          <pc:docMk/>
          <pc:sldMk cId="0" sldId="264"/>
        </pc:sldMkLst>
        <pc:spChg chg="mod">
          <ac:chgData name="Aswathy Mohan" userId="8ec7b060-ec9d-4a76-a81c-f80212d9386c" providerId="ADAL" clId="{A2D8F3F3-AB79-5800-97AF-2AFE679C11CA}" dt="2026-09-08T08:07:56.228" v="431" actId="103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swathy Mohan" userId="8ec7b060-ec9d-4a76-a81c-f80212d9386c" providerId="ADAL" clId="{A2D8F3F3-AB79-5800-97AF-2AFE679C11CA}" dt="2026-09-08T08:08:00.821" v="444" actId="1036"/>
          <ac:spMkLst>
            <pc:docMk/>
            <pc:sldMk cId="0" sldId="264"/>
            <ac:spMk id="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82880"/>
            <a:ext cx="11384280" cy="868680"/>
          </a:xfrm>
          <a:prstGeom prst="rect">
            <a:avLst/>
          </a:prstGeom>
          <a:solidFill>
            <a:srgbClr val="FFFFFF"/>
          </a:solidFill>
          <a:ln w="1651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38328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500" b="1">
                <a:solidFill>
                  <a:srgbClr val="143069"/>
                </a:solidFill>
                <a:latin typeface="Aptos"/>
              </a:rPr>
              <a:t>COMMAND DESIGN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23D2"/>
                </a:solidFill>
                <a:latin typeface="Aptos"/>
              </a:rPr>
              <a:t>According to the Gang of Four (GoF)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69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 dirty="0">
                <a:solidFill>
                  <a:srgbClr val="191919"/>
                </a:solidFill>
                <a:latin typeface="Aptos"/>
              </a:rPr>
              <a:t>Encapsulate a request as an object so it can be parameterized, queued, logged, or undone.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2057400" cy="914400"/>
          </a:xfrm>
          <a:prstGeom prst="roundRect">
            <a:avLst/>
          </a:prstGeom>
          <a:solidFill>
            <a:srgbClr val="E17D1E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410712"/>
            <a:ext cx="19110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2057400" cy="914400"/>
          </a:xfrm>
          <a:prstGeom prst="roundRect">
            <a:avLst/>
          </a:prstGeom>
          <a:solidFill>
            <a:srgbClr val="5A37A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3410712"/>
            <a:ext cx="19110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54680"/>
            <a:ext cx="2057400" cy="914400"/>
          </a:xfrm>
          <a:prstGeom prst="roundRect">
            <a:avLst/>
          </a:prstGeom>
          <a:solidFill>
            <a:srgbClr val="0023D2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410712"/>
            <a:ext cx="19110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INVOKER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154680"/>
            <a:ext cx="2057400" cy="914400"/>
          </a:xfrm>
          <a:prstGeom prst="roundRect">
            <a:avLst/>
          </a:prstGeom>
          <a:solidFill>
            <a:srgbClr val="37914B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17152" y="3410712"/>
            <a:ext cx="19110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3611880"/>
            <a:ext cx="594360" cy="0"/>
          </a:xfrm>
          <a:prstGeom prst="line">
            <a:avLst/>
          </a:prstGeom>
          <a:ln w="2540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15000" y="3611880"/>
            <a:ext cx="594360" cy="0"/>
          </a:xfrm>
          <a:prstGeom prst="line">
            <a:avLst/>
          </a:prstGeom>
          <a:ln w="2540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58200" y="3611880"/>
            <a:ext cx="594360" cy="0"/>
          </a:xfrm>
          <a:prstGeom prst="line">
            <a:avLst/>
          </a:prstGeom>
          <a:ln w="2540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63040" y="4617720"/>
            <a:ext cx="928116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91640" y="4846320"/>
            <a:ext cx="8823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43069"/>
                </a:solidFill>
                <a:latin typeface="Aptos"/>
              </a:rPr>
              <a:t>Memory trick: “What operation should I execute?” →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11247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F646E"/>
                </a:solidFill>
                <a:latin typeface="Aptos"/>
              </a:rPr>
              <a:t>Unit 2  |  Design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Design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23D2"/>
                </a:solidFill>
                <a:latin typeface="Aptos"/>
              </a:rPr>
              <a:t>• Capture a request and turn it into an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292840" cy="13258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0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35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43069"/>
                </a:solidFill>
                <a:latin typeface="Aptos"/>
              </a:rPr>
              <a:t>Intent
Encapsulate a request as an object, allowing the request to be stored, passed around, parameterized, queued, logged, or undone.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34640"/>
            <a:ext cx="5486400" cy="269748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3017520"/>
            <a:ext cx="150876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49524"/>
            <a:ext cx="14173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3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• Client creates a command object.</a:t>
            </a:r>
          </a:p>
          <a:p>
            <a:pPr>
              <a:spcAft>
                <a:spcPts val="400"/>
              </a:spcAft>
              <a:defRPr sz="153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• Invoker stores and triggers the command.</a:t>
            </a:r>
          </a:p>
          <a:p>
            <a:pPr>
              <a:spcAft>
                <a:spcPts val="400"/>
              </a:spcAft>
              <a:defRPr sz="153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• Command calls the Receiver’s real operation.</a:t>
            </a:r>
          </a:p>
          <a:p>
            <a:pPr>
              <a:spcAft>
                <a:spcPts val="400"/>
              </a:spcAft>
              <a:defRPr sz="153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• Client and Invoker stay independent of device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34640"/>
            <a:ext cx="5532120" cy="269748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3017520"/>
            <a:ext cx="1645920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049524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Real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17D1E"/>
                </a:solidFill>
                <a:latin typeface="Aptos"/>
              </a:rPr>
              <a:t>Smart Home Remote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33418"/>
            <a:ext cx="4800600" cy="8771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91919"/>
                </a:solidFill>
                <a:latin typeface="Aptos"/>
              </a:rPr>
              <a:t>Press “ON” → Remote does not know how a light works.
It only asks the stored Command to execute().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97880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023D2"/>
                </a:solidFill>
                <a:latin typeface="Aptos"/>
              </a:rPr>
              <a:t>Command separates the object that asks for work from the object that performs the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Why the Existing Design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A remote full of device-specific if/else logic becomes tightly coupled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532120" cy="461772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874519" cy="301752"/>
          </a:xfrm>
          <a:prstGeom prst="roundRect">
            <a:avLst/>
          </a:prstGeom>
          <a:solidFill>
            <a:srgbClr val="BE3737"/>
          </a:solidFill>
          <a:ln w="63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9324"/>
            <a:ext cx="1783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Naive Remote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166360" cy="242316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" y="1892807"/>
            <a:ext cx="1292961" cy="301752"/>
          </a:xfrm>
          <a:prstGeom prst="roundRect">
            <a:avLst/>
          </a:prstGeom>
          <a:solidFill>
            <a:srgbClr val="BE3737"/>
          </a:solidFill>
          <a:ln w="63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924812"/>
            <a:ext cx="120152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Problem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58568"/>
            <a:ext cx="441659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>
                <a:solidFill>
                  <a:srgbClr val="191919"/>
                </a:solidFill>
                <a:latin typeface="Consolas"/>
              </a:rPr>
              <a:t>class RemoteControl {
    void press(int slot) {
        if (slot == 1) </a:t>
            </a:r>
            <a:r>
              <a:rPr sz="1500" dirty="0" err="1">
                <a:solidFill>
                  <a:srgbClr val="191919"/>
                </a:solidFill>
                <a:latin typeface="Consolas"/>
              </a:rPr>
              <a:t>light.on</a:t>
            </a:r>
            <a:r>
              <a:rPr sz="1500" dirty="0">
                <a:solidFill>
                  <a:srgbClr val="191919"/>
                </a:solidFill>
                <a:latin typeface="Consolas"/>
              </a:rPr>
              <a:t>();
        else if (slot == 2) </a:t>
            </a:r>
            <a:r>
              <a:rPr sz="1500" dirty="0" err="1">
                <a:solidFill>
                  <a:srgbClr val="191919"/>
                </a:solidFill>
                <a:latin typeface="Consolas"/>
              </a:rPr>
              <a:t>fan.high</a:t>
            </a:r>
            <a:r>
              <a:rPr sz="1500" dirty="0">
                <a:solidFill>
                  <a:srgbClr val="191919"/>
                </a:solidFill>
                <a:latin typeface="Consolas"/>
              </a:rPr>
              <a:t>();
        else if (slot == 3) </a:t>
            </a:r>
            <a:r>
              <a:rPr sz="1500" dirty="0" err="1">
                <a:solidFill>
                  <a:srgbClr val="191919"/>
                </a:solidFill>
                <a:latin typeface="Consolas"/>
              </a:rPr>
              <a:t>stereo.on</a:t>
            </a:r>
            <a:r>
              <a:rPr sz="1500" dirty="0">
                <a:solidFill>
                  <a:srgbClr val="191919"/>
                </a:solidFill>
                <a:latin typeface="Consolas"/>
              </a:rPr>
              <a:t>();
        else if (slot == 4) </a:t>
            </a:r>
            <a:r>
              <a:rPr sz="1500" dirty="0" err="1">
                <a:solidFill>
                  <a:srgbClr val="191919"/>
                </a:solidFill>
                <a:latin typeface="Consolas"/>
              </a:rPr>
              <a:t>garage.up</a:t>
            </a:r>
            <a:r>
              <a:rPr sz="1500" dirty="0">
                <a:solidFill>
                  <a:srgbClr val="191919"/>
                </a:solidFill>
                <a:latin typeface="Consolas"/>
              </a:rPr>
              <a:t>();
    }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30">
                <a:solidFill>
                  <a:srgbClr val="191919"/>
                </a:solidFill>
                <a:latin typeface="Aptos"/>
              </a:defRPr>
            </a:pPr>
            <a:r>
              <a:t>• Remote knows concrete receiver classes.</a:t>
            </a:r>
          </a:p>
          <a:p>
            <a:pPr>
              <a:spcAft>
                <a:spcPts val="400"/>
              </a:spcAft>
              <a:defRPr sz="1430">
                <a:solidFill>
                  <a:srgbClr val="191919"/>
                </a:solidFill>
                <a:latin typeface="Aptos"/>
              </a:defRPr>
            </a:pPr>
            <a:r>
              <a:t>• Every new device adds another condition.</a:t>
            </a:r>
          </a:p>
          <a:p>
            <a:pPr>
              <a:spcAft>
                <a:spcPts val="400"/>
              </a:spcAft>
              <a:defRPr sz="1430">
                <a:solidFill>
                  <a:srgbClr val="191919"/>
                </a:solidFill>
                <a:latin typeface="Aptos"/>
              </a:defRPr>
            </a:pPr>
            <a:r>
              <a:t>• Changing a device can force remote changes.</a:t>
            </a:r>
          </a:p>
          <a:p>
            <a:pPr>
              <a:spcAft>
                <a:spcPts val="400"/>
              </a:spcAft>
              <a:defRPr sz="1430">
                <a:solidFill>
                  <a:srgbClr val="191919"/>
                </a:solidFill>
                <a:latin typeface="Aptos"/>
              </a:defRPr>
            </a:pPr>
            <a:r>
              <a:t>• Testing becomes harder as branches grow.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40"/>
            <a:ext cx="5623560" cy="461772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201168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49324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Command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3069"/>
                </a:solidFill>
                <a:latin typeface="Aptos"/>
              </a:rPr>
              <a:t>Remote only knows: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14600"/>
            <a:ext cx="2880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2688336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A37AF"/>
                </a:solidFill>
                <a:latin typeface="Aptos"/>
              </a:rPr>
              <a:t>Command → execute()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42832" y="3337560"/>
            <a:ext cx="0" cy="429768"/>
          </a:xfrm>
          <a:prstGeom prst="line">
            <a:avLst/>
          </a:prstGeom>
          <a:ln w="25400">
            <a:solidFill>
              <a:srgbClr val="5A3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9400" y="38862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4096512"/>
            <a:ext cx="4251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7914B"/>
                </a:solidFill>
                <a:latin typeface="Aptos"/>
              </a:rPr>
              <a:t>Each ConcreteCommand knows which Receiver action to perform.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2180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20" b="1">
                <a:solidFill>
                  <a:srgbClr val="143069"/>
                </a:solidFill>
                <a:latin typeface="Aptos"/>
              </a:rPr>
              <a:t>Add a new command — not another branch in the remote.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Applicability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32120" cy="461772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05740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9324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✔ Use Command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92040" cy="1975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Different requests should share a common execute() interface.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Operations must be queued or scheduled.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Undo / redo is required.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Requests need to be logged or replayed.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Macro operations should combine several commands.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rPr dirty="0"/>
              <a:t>• The Invoker should not depend on Receiver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532120" cy="461772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057400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9324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✘ Avoid Command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892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t>• The operation is tiny and will never vary.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t>• No decoupling, queueing, logging, or undo is needed.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t>• Adding command classes would be more complexity than value.</a:t>
            </a:r>
          </a:p>
          <a:p>
            <a:pPr>
              <a:spcAft>
                <a:spcPts val="400"/>
              </a:spcAft>
              <a:defRPr sz="1510">
                <a:solidFill>
                  <a:srgbClr val="191919"/>
                </a:solidFill>
                <a:latin typeface="Aptos"/>
              </a:defRPr>
            </a:pPr>
            <a:r>
              <a:t>• A direct method call is already clear and maintainable.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52628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069"/>
                </a:solidFill>
                <a:latin typeface="Aptos"/>
              </a:rPr>
              <a:t>Typical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983480"/>
            <a:ext cx="4892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191919"/>
                </a:solidFill>
                <a:latin typeface="Aptos"/>
              </a:rPr>
              <a:t>Smart home • GUI actions • Job queues • Transactions • Remote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The Command Pattern – Structure &amp;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Each participant has one clear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06005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4215498"/>
            <a:ext cx="1143000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24750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4636121"/>
            <a:ext cx="208483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70" b="0">
                <a:solidFill>
                  <a:srgbClr val="191919"/>
                </a:solidFill>
                <a:latin typeface="Aptos"/>
              </a:rPr>
              <a:t>Creates ConcreteCommand
and supplies Receiver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06005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0440" y="4215498"/>
            <a:ext cx="1143000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424750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Invoker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636121"/>
            <a:ext cx="208483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70" b="0">
                <a:solidFill>
                  <a:srgbClr val="191919"/>
                </a:solidFill>
                <a:latin typeface="Aptos"/>
              </a:rPr>
              <a:t>Stores command
and calls execute()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06005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92240" y="4215498"/>
            <a:ext cx="1143000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424750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636121"/>
            <a:ext cx="208483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70" b="0">
                <a:solidFill>
                  <a:srgbClr val="191919"/>
                </a:solidFill>
                <a:latin typeface="Aptos"/>
              </a:rPr>
              <a:t>Common interface
execute() / undo()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06005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64040" y="4215498"/>
            <a:ext cx="114300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424750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4636121"/>
            <a:ext cx="2084831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70" b="0">
                <a:solidFill>
                  <a:srgbClr val="191919"/>
                </a:solidFill>
                <a:latin typeface="Aptos"/>
              </a:rPr>
              <a:t>Performs the actual
business/device action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672698"/>
            <a:ext cx="50292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06440" y="4672698"/>
            <a:ext cx="50292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4672698"/>
            <a:ext cx="50292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5800" y="5760720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43069"/>
                </a:solidFill>
                <a:latin typeface="Aptos"/>
              </a:rPr>
              <a:t>The Invoker does not need to know whether it is controlling a Light, Fan, Stereo, Garage Door, or another Receiver.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BA8D259-D6FB-4361-7052-82EFE247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62176"/>
            <a:ext cx="6126480" cy="2882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The Command Pattern – Collaborations &amp;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The sequence of interactions when a smart-home button is pressed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240280" cy="114300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17D1E"/>
                </a:solidFill>
                <a:latin typeface="Aptos"/>
              </a:rPr>
              <a:t>1.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91919"/>
                </a:solidFill>
                <a:latin typeface="Aptos"/>
              </a:rPr>
              <a:t>Client creates
ConcreteCommand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25880"/>
            <a:ext cx="2240280" cy="11430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23D2"/>
                </a:solidFill>
                <a:latin typeface="Aptos"/>
              </a:rPr>
              <a:t>2.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91919"/>
                </a:solidFill>
                <a:latin typeface="Aptos"/>
              </a:rPr>
              <a:t>Invoker stores
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25880"/>
            <a:ext cx="2240280" cy="1143000"/>
          </a:xfrm>
          <a:prstGeom prst="roundRect">
            <a:avLst/>
          </a:prstGeom>
          <a:solidFill>
            <a:srgbClr val="F3EDFD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59" y="14630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A37AF"/>
                </a:solidFill>
                <a:latin typeface="Aptos"/>
              </a:rPr>
              <a:t>3. 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82880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91919"/>
                </a:solidFill>
                <a:latin typeface="Aptos"/>
              </a:rPr>
              <a:t>Client asks
Invoker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25880"/>
            <a:ext cx="2240280" cy="114300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14630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914B"/>
                </a:solidFill>
                <a:latin typeface="Aptos"/>
              </a:rPr>
              <a:t>4.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82880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191919"/>
                </a:solidFill>
                <a:latin typeface="Aptos"/>
              </a:rPr>
              <a:t>Command calls
Receiver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1901952"/>
            <a:ext cx="384048" cy="0"/>
          </a:xfrm>
          <a:prstGeom prst="line">
            <a:avLst/>
          </a:prstGeom>
          <a:ln w="2032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32120" y="1901952"/>
            <a:ext cx="384048" cy="0"/>
          </a:xfrm>
          <a:prstGeom prst="line">
            <a:avLst/>
          </a:prstGeom>
          <a:ln w="2032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75320" y="1901952"/>
            <a:ext cx="384048" cy="0"/>
          </a:xfrm>
          <a:prstGeom prst="line">
            <a:avLst/>
          </a:prstGeom>
          <a:ln w="2032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2834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069"/>
                </a:solidFill>
                <a:latin typeface="Aptos"/>
              </a:rPr>
              <a:t>Example: “Turn the living-room light ON”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3756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5661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17D1E"/>
                </a:solidFill>
                <a:latin typeface="Aptos"/>
              </a:rPr>
              <a:t>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319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191919"/>
                </a:solidFill>
                <a:latin typeface="Aptos"/>
              </a:rPr>
              <a:t>new LightOnCommand(light)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333756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58768" y="35661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0023D2"/>
                </a:solidFill>
                <a:latin typeface="Aptos"/>
              </a:rPr>
              <a:t>RemoteControl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39319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191919"/>
                </a:solidFill>
                <a:latin typeface="Aptos"/>
              </a:rPr>
              <a:t>setCommand(0, lightOn)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33756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13448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A37AF"/>
                </a:solidFill>
                <a:latin typeface="Aptos"/>
              </a:rPr>
              <a:t>Command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393192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execute()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33375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36608" y="35661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914B"/>
                </a:solidFill>
                <a:latin typeface="Aptos"/>
              </a:rPr>
              <a:t>Light (Receiver)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393192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on()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91840" y="4050791"/>
            <a:ext cx="36576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92240" y="4050791"/>
            <a:ext cx="36576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61120" y="4050791"/>
            <a:ext cx="320040" cy="0"/>
          </a:xfrm>
          <a:prstGeom prst="line">
            <a:avLst/>
          </a:prstGeom>
          <a:ln w="19050">
            <a:solidFill>
              <a:srgbClr val="143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02920" y="5166360"/>
            <a:ext cx="11155680" cy="68580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330952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7914B"/>
                </a:solidFill>
                <a:latin typeface="Aptos"/>
              </a:rPr>
              <a:t>Key idea: the request travels through a Command object before reaching the Receiver.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Java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Smart Home Remote Control: Light ON /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743200" cy="196596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3192" y="1207008"/>
            <a:ext cx="1819656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39012"/>
            <a:ext cx="172821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1. Command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572768"/>
            <a:ext cx="2487168" cy="1453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>
                <a:solidFill>
                  <a:srgbClr val="191919"/>
                </a:solidFill>
                <a:latin typeface="Consolas"/>
              </a:rPr>
              <a:t>interface Command {
    void execute();
    void undo();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43000"/>
            <a:ext cx="3154680" cy="274320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19272" y="1207008"/>
            <a:ext cx="1687982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1" y="1239012"/>
            <a:ext cx="159654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2. ConcreteCommand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572768"/>
            <a:ext cx="2898648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80">
                <a:solidFill>
                  <a:srgbClr val="191919"/>
                </a:solidFill>
                <a:latin typeface="Consolas"/>
              </a:rPr>
              <a:t>class LightOnCommand implements Command {
    private Light light;
    LightOnCommand(Light light) {
        this.light = light;
    }
    public void execute() {
        light.on();
    }
    public void undo() {
        light.off();
   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143000"/>
            <a:ext cx="2606040" cy="251460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56832" y="1207008"/>
            <a:ext cx="1227124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1239012"/>
            <a:ext cx="113568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3. Receiver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1572768"/>
            <a:ext cx="2350008" cy="2002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>
                <a:solidFill>
                  <a:srgbClr val="191919"/>
                </a:solidFill>
                <a:latin typeface="Consolas"/>
              </a:rPr>
              <a:t>class Light {
    private String location;
    Light(String location) {
        this.location = location;
    }
    void on() {
        System.out.println(location + " light ON");
    }
    void off() {
        System.out.println(location + " light OFF");
    }
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143000"/>
            <a:ext cx="2514600" cy="251460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45752" y="1207008"/>
            <a:ext cx="1161288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239012"/>
            <a:ext cx="10698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4. Invoker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6" y="1572768"/>
            <a:ext cx="2258568" cy="2002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" dirty="0">
                <a:solidFill>
                  <a:srgbClr val="191919"/>
                </a:solidFill>
                <a:latin typeface="Consolas"/>
              </a:rPr>
              <a:t>class RemoteControl {
    private Command command;
    void </a:t>
            </a:r>
            <a:r>
              <a:rPr sz="960" dirty="0" err="1">
                <a:solidFill>
                  <a:srgbClr val="191919"/>
                </a:solidFill>
                <a:latin typeface="Consolas"/>
              </a:rPr>
              <a:t>setCommand</a:t>
            </a:r>
            <a:r>
              <a:rPr sz="960" dirty="0">
                <a:solidFill>
                  <a:srgbClr val="191919"/>
                </a:solidFill>
                <a:latin typeface="Consolas"/>
              </a:rPr>
              <a:t>(Command c) {
        command = c;
    }
    void press() {
        </a:t>
            </a:r>
            <a:r>
              <a:rPr sz="960" dirty="0" err="1">
                <a:solidFill>
                  <a:srgbClr val="191919"/>
                </a:solidFill>
                <a:latin typeface="Consolas"/>
              </a:rPr>
              <a:t>command.execute</a:t>
            </a:r>
            <a:r>
              <a:rPr sz="960" dirty="0">
                <a:solidFill>
                  <a:srgbClr val="191919"/>
                </a:solidFill>
                <a:latin typeface="Consolas"/>
              </a:rPr>
              <a:t>();
    }
    void undo() {
        </a:t>
            </a:r>
            <a:r>
              <a:rPr sz="960" dirty="0" err="1">
                <a:solidFill>
                  <a:srgbClr val="191919"/>
                </a:solidFill>
                <a:latin typeface="Consolas"/>
              </a:rPr>
              <a:t>command.undo</a:t>
            </a:r>
            <a:r>
              <a:rPr sz="960" dirty="0">
                <a:solidFill>
                  <a:srgbClr val="191919"/>
                </a:solidFill>
                <a:latin typeface="Consolas"/>
              </a:rPr>
              <a:t>();
    }
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69080"/>
            <a:ext cx="5577840" cy="178308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3192" y="4133088"/>
            <a:ext cx="1556308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4165092"/>
            <a:ext cx="14648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5. Client / 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4498848"/>
            <a:ext cx="5321807" cy="1271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191919"/>
                </a:solidFill>
                <a:latin typeface="Consolas"/>
              </a:rPr>
              <a:t>Light 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livingRoom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 = new Light("Living Room");
RemoteControl remote = new RemoteControl();
Command on = new 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LightOnCommand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livingRoom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);
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remote.setCommand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(on);
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remote.press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();
</a:t>
            </a:r>
            <a:r>
              <a:rPr sz="1100" dirty="0" err="1">
                <a:solidFill>
                  <a:srgbClr val="191919"/>
                </a:solidFill>
                <a:latin typeface="Consolas"/>
              </a:rPr>
              <a:t>remote.undo</a:t>
            </a:r>
            <a:r>
              <a:rPr sz="1100" dirty="0">
                <a:solidFill>
                  <a:srgbClr val="191919"/>
                </a:solidFill>
                <a:latin typeface="Consolas"/>
              </a:rPr>
              <a:t>();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069080"/>
            <a:ext cx="5760720" cy="1783080"/>
          </a:xfrm>
          <a:prstGeom prst="roundRect">
            <a:avLst/>
          </a:prstGeom>
          <a:solidFill>
            <a:srgbClr val="F9F9FC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4233672"/>
            <a:ext cx="1234440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265676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736592"/>
            <a:ext cx="5257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Living Room light ON
Living Room light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167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 dirty="0">
                <a:solidFill>
                  <a:srgbClr val="0023D2"/>
                </a:solidFill>
                <a:latin typeface="Aptos"/>
              </a:rPr>
              <a:t>The same RemoteControl can now accept a different Command without changing its own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Full Smart-Home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3776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 dirty="0">
                <a:solidFill>
                  <a:srgbClr val="0023D2"/>
                </a:solidFill>
                <a:latin typeface="Aptos"/>
              </a:rPr>
              <a:t>• One remote controls different devices through interchangeable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79"/>
            <a:ext cx="3518748" cy="4196179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400" y="1037109"/>
            <a:ext cx="1227124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545" y="1057824"/>
            <a:ext cx="113568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Aptos"/>
              </a:rPr>
              <a:t>1.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683" y="1166607"/>
            <a:ext cx="2877767" cy="447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 b="1" dirty="0">
                <a:solidFill>
                  <a:srgbClr val="191919"/>
                </a:solidFill>
                <a:latin typeface="Consolas"/>
              </a:rPr>
              <a:t>class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FanHighCommand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 implements Command {
    Fan fan;
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FanHighCommand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(Fan fan) {
    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this.fan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 = fan;
    }
    public void execute() {
    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fan.high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();
    }
    public void undo() {
    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fan.off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();
    }
}
class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GarageOpenCommand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 implements Command {
    Garage garage;
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GarageOpenCommand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(Garage g) {
        garage = g;
    }
    public void execute() {
    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garage.up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();
    }
    public void undo() {
        </a:t>
            </a:r>
            <a:r>
              <a:rPr sz="890" b="1" dirty="0" err="1">
                <a:solidFill>
                  <a:srgbClr val="191919"/>
                </a:solidFill>
                <a:latin typeface="Consolas"/>
              </a:rPr>
              <a:t>garage.down</a:t>
            </a:r>
            <a:r>
              <a:rPr sz="890" b="1" dirty="0">
                <a:solidFill>
                  <a:srgbClr val="191919"/>
                </a:solidFill>
                <a:latin typeface="Consolas"/>
              </a:rPr>
              <a:t>();
  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1953" y="1097280"/>
            <a:ext cx="2834640" cy="2971800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19282" y="1161288"/>
            <a:ext cx="1143000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0825" y="1193292"/>
            <a:ext cx="1051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2. Remote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68" y="1527048"/>
            <a:ext cx="26434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191919"/>
                </a:solidFill>
                <a:latin typeface="Consolas"/>
              </a:rPr>
              <a:t>class RemoteControl {
    Command[] </a:t>
            </a:r>
            <a:r>
              <a:rPr sz="1000" b="1" dirty="0" err="1">
                <a:solidFill>
                  <a:srgbClr val="191919"/>
                </a:solidFill>
                <a:latin typeface="Consolas"/>
              </a:rPr>
              <a:t>onCommands</a:t>
            </a:r>
            <a:r>
              <a:rPr sz="1000" b="1" dirty="0">
                <a:solidFill>
                  <a:srgbClr val="191919"/>
                </a:solidFill>
                <a:latin typeface="Consolas"/>
              </a:rPr>
              <a:t> =
        new Command[7];
    void </a:t>
            </a:r>
            <a:r>
              <a:rPr sz="1000" b="1" dirty="0" err="1">
                <a:solidFill>
                  <a:srgbClr val="191919"/>
                </a:solidFill>
                <a:latin typeface="Consolas"/>
              </a:rPr>
              <a:t>setCommand</a:t>
            </a:r>
            <a:r>
              <a:rPr sz="1000" b="1" dirty="0">
                <a:solidFill>
                  <a:srgbClr val="191919"/>
                </a:solidFill>
                <a:latin typeface="Consolas"/>
              </a:rPr>
              <a:t>(int slot, Command c) {
        </a:t>
            </a:r>
            <a:r>
              <a:rPr sz="1000" b="1" dirty="0" err="1">
                <a:solidFill>
                  <a:srgbClr val="191919"/>
                </a:solidFill>
                <a:latin typeface="Consolas"/>
              </a:rPr>
              <a:t>onCommands</a:t>
            </a:r>
            <a:r>
              <a:rPr sz="1000" b="1" dirty="0">
                <a:solidFill>
                  <a:srgbClr val="191919"/>
                </a:solidFill>
                <a:latin typeface="Consolas"/>
              </a:rPr>
              <a:t>[slot] = c;
    }
    void </a:t>
            </a:r>
            <a:r>
              <a:rPr sz="1000" b="1" dirty="0" err="1">
                <a:solidFill>
                  <a:srgbClr val="191919"/>
                </a:solidFill>
                <a:latin typeface="Consolas"/>
              </a:rPr>
              <a:t>onButtonWasPushed</a:t>
            </a:r>
            <a:r>
              <a:rPr sz="1000" b="1" dirty="0">
                <a:solidFill>
                  <a:srgbClr val="191919"/>
                </a:solidFill>
                <a:latin typeface="Consolas"/>
              </a:rPr>
              <a:t>(int slot) {
        </a:t>
            </a:r>
            <a:r>
              <a:rPr sz="1000" b="1" dirty="0" err="1">
                <a:solidFill>
                  <a:srgbClr val="191919"/>
                </a:solidFill>
                <a:latin typeface="Consolas"/>
              </a:rPr>
              <a:t>onCommands</a:t>
            </a:r>
            <a:r>
              <a:rPr sz="1000" b="1" dirty="0">
                <a:solidFill>
                  <a:srgbClr val="191919"/>
                </a:solidFill>
                <a:latin typeface="Consolas"/>
              </a:rPr>
              <a:t>[slot].execute();
   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356" y="939234"/>
            <a:ext cx="4526844" cy="2830338"/>
          </a:xfrm>
          <a:prstGeom prst="roundRect">
            <a:avLst/>
          </a:prstGeom>
          <a:solidFill>
            <a:srgbClr val="FBFBFD"/>
          </a:solidFill>
          <a:ln w="12700"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60979" y="958086"/>
            <a:ext cx="1556308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51699" y="923598"/>
            <a:ext cx="14648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Aptos"/>
              </a:rPr>
              <a:t>3. Client Wiring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300" y="1246857"/>
            <a:ext cx="3200399" cy="260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1" dirty="0">
                <a:solidFill>
                  <a:srgbClr val="191919"/>
                </a:solidFill>
                <a:latin typeface="Consolas"/>
              </a:rPr>
              <a:t>Light living = new Light("Living Room");
Fan fan = new Fan("Bedroom");
Garage garage = new Garage("Garage");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remote.setCommand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(0,
    new 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LightOnCommand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(living));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remote.setCommand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(1,
    new 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FanHighCommand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(fan));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remote.setCommand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(2,
    new 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GarageOpenCommand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(garage));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remote.onButtonWasPushed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(0);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remote.onButtonWasPushed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(1);
</a:t>
            </a:r>
            <a:r>
              <a:rPr sz="1019" b="1" dirty="0" err="1">
                <a:solidFill>
                  <a:srgbClr val="191919"/>
                </a:solidFill>
                <a:latin typeface="Consolas"/>
              </a:rPr>
              <a:t>remote.onButtonWasPushed</a:t>
            </a:r>
            <a:r>
              <a:rPr sz="1019" b="1" dirty="0">
                <a:solidFill>
                  <a:srgbClr val="191919"/>
                </a:solidFill>
                <a:latin typeface="Consolas"/>
              </a:rPr>
              <a:t>(2);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614" y="5532780"/>
            <a:ext cx="1660142" cy="8801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5543974"/>
            <a:ext cx="749808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553402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Slot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88715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>
                <a:solidFill>
                  <a:srgbClr val="191919"/>
                </a:solidFill>
                <a:latin typeface="Aptos"/>
              </a:rPr>
              <a:t>Light → on()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7025" y="5510204"/>
            <a:ext cx="1660142" cy="8567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66753" y="5543974"/>
            <a:ext cx="749808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12473" y="5553402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Slot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732" y="5909734"/>
            <a:ext cx="1629435" cy="2970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 dirty="0">
                <a:solidFill>
                  <a:srgbClr val="191919"/>
                </a:solidFill>
                <a:latin typeface="Aptos"/>
              </a:rPr>
              <a:t>Fan → high()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399" y="5384238"/>
            <a:ext cx="1741311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19282" y="5532780"/>
            <a:ext cx="749808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7" y="5553402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Slot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5887158"/>
            <a:ext cx="1379051" cy="2970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>
                <a:solidFill>
                  <a:srgbClr val="191919"/>
                </a:solidFill>
                <a:latin typeface="Aptos"/>
              </a:rPr>
              <a:t>Garage → up()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1373" y="5384238"/>
            <a:ext cx="143538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41099" y="5543974"/>
            <a:ext cx="749808" cy="301752"/>
          </a:xfrm>
          <a:prstGeom prst="roundRect">
            <a:avLst/>
          </a:prstGeom>
          <a:solidFill>
            <a:srgbClr val="5A37AF"/>
          </a:solidFill>
          <a:ln w="635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6820" y="5553402"/>
            <a:ext cx="6583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Slot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1099" y="5887158"/>
            <a:ext cx="1325655" cy="2970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 dirty="0">
                <a:solidFill>
                  <a:srgbClr val="191919"/>
                </a:solidFill>
                <a:latin typeface="Aptos"/>
              </a:rPr>
              <a:t>Stereo → on()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5" y="64008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43069"/>
                </a:solidFill>
                <a:latin typeface="Aptos"/>
              </a:rPr>
              <a:t>Same Invoker • different Commands • different Receivers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7F95D3A-A075-3906-F750-2528CC555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493"/>
              </p:ext>
            </p:extLst>
          </p:nvPr>
        </p:nvGraphicFramePr>
        <p:xfrm>
          <a:off x="8248922" y="3791202"/>
          <a:ext cx="3681249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684">
                  <a:extLst>
                    <a:ext uri="{9D8B030D-6E8A-4147-A177-3AD203B41FA5}">
                      <a16:colId xmlns:a16="http://schemas.microsoft.com/office/drawing/2014/main" val="2275514762"/>
                    </a:ext>
                  </a:extLst>
                </a:gridCol>
                <a:gridCol w="1151466">
                  <a:extLst>
                    <a:ext uri="{9D8B030D-6E8A-4147-A177-3AD203B41FA5}">
                      <a16:colId xmlns:a16="http://schemas.microsoft.com/office/drawing/2014/main" val="2777766341"/>
                    </a:ext>
                  </a:extLst>
                </a:gridCol>
                <a:gridCol w="1495099">
                  <a:extLst>
                    <a:ext uri="{9D8B030D-6E8A-4147-A177-3AD203B41FA5}">
                      <a16:colId xmlns:a16="http://schemas.microsoft.com/office/drawing/2014/main" val="2821284861"/>
                    </a:ext>
                  </a:extLst>
                </a:gridCol>
              </a:tblGrid>
              <a:tr h="31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Design Pattern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Your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080695"/>
                  </a:ext>
                </a:extLst>
              </a:tr>
              <a:tr h="36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Receiver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Light, Fan, Garage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These classes actually perform the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703557"/>
                  </a:ext>
                </a:extLst>
              </a:tr>
              <a:tr h="330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Command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Defines execute() and undo()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36479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Concrete 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LightOnCommand, FanHighCommand, GarageOpenCommand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Connects a request to a specific Receiver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66788"/>
                  </a:ext>
                </a:extLst>
              </a:tr>
              <a:tr h="265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Invoker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RemoteControl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Stores commands and triggers them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08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Creates Receivers, Commands, and connects them to the Invoker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7918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Collaborations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The sequence of interactions when a remote-control button is pressed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1508760" cy="411480"/>
          </a:xfrm>
          <a:prstGeom prst="roundRect">
            <a:avLst/>
          </a:prstGeom>
          <a:solidFill>
            <a:srgbClr val="E17D1E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5" y="1289304"/>
            <a:ext cx="143560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Client
(Main)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4419" y="1645920"/>
            <a:ext cx="0" cy="4434840"/>
          </a:xfrm>
          <a:prstGeom prst="line">
            <a:avLst/>
          </a:prstGeom>
          <a:ln w="12700">
            <a:solidFill>
              <a:srgbClr val="8282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234440"/>
            <a:ext cx="1645920" cy="411480"/>
          </a:xfrm>
          <a:prstGeom prst="roundRect">
            <a:avLst/>
          </a:prstGeom>
          <a:solidFill>
            <a:srgbClr val="0023D2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2656" y="1289304"/>
            <a:ext cx="15727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Invoker
(Remote)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0" y="1645920"/>
            <a:ext cx="0" cy="4434840"/>
          </a:xfrm>
          <a:prstGeom prst="line">
            <a:avLst/>
          </a:prstGeom>
          <a:ln w="12700">
            <a:solidFill>
              <a:srgbClr val="8282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1234440"/>
            <a:ext cx="1737360" cy="411480"/>
          </a:xfrm>
          <a:prstGeom prst="roundRect">
            <a:avLst/>
          </a:prstGeom>
          <a:solidFill>
            <a:srgbClr val="5A37A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0136" y="1289304"/>
            <a:ext cx="166420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Command
(LightOn)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1645920"/>
            <a:ext cx="0" cy="4434840"/>
          </a:xfrm>
          <a:prstGeom prst="line">
            <a:avLst/>
          </a:prstGeom>
          <a:ln w="12700">
            <a:solidFill>
              <a:srgbClr val="8282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1234440"/>
            <a:ext cx="1600200" cy="411480"/>
          </a:xfrm>
          <a:prstGeom prst="roundRect">
            <a:avLst/>
          </a:prstGeom>
          <a:solidFill>
            <a:srgbClr val="37914B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5" y="1289304"/>
            <a:ext cx="152704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Receiver
(Light)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12580" y="1645920"/>
            <a:ext cx="0" cy="4434840"/>
          </a:xfrm>
          <a:prstGeom prst="line">
            <a:avLst/>
          </a:prstGeom>
          <a:ln w="12700">
            <a:solidFill>
              <a:srgbClr val="8282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" y="1920240"/>
            <a:ext cx="11384280" cy="1508760"/>
          </a:xfrm>
          <a:prstGeom prst="roundRect">
            <a:avLst/>
          </a:prstGeom>
          <a:solidFill>
            <a:srgbClr val="F6FBF6"/>
          </a:solidFill>
          <a:ln w="12700">
            <a:solidFill>
              <a:srgbClr val="A0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6032" y="2011680"/>
            <a:ext cx="192024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204368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1) Configure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74419" y="2423160"/>
            <a:ext cx="2674621" cy="0"/>
          </a:xfrm>
          <a:prstGeom prst="line">
            <a:avLst/>
          </a:prstGeom>
          <a:ln w="19050">
            <a:solidFill>
              <a:srgbClr val="E1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2435919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dirty="0">
                <a:solidFill>
                  <a:srgbClr val="191919"/>
                </a:solidFill>
                <a:latin typeface="Aptos"/>
              </a:rPr>
              <a:t>1.1 </a:t>
            </a:r>
            <a:r>
              <a:rPr sz="1080" b="1" dirty="0" err="1">
                <a:solidFill>
                  <a:srgbClr val="191919"/>
                </a:solidFill>
                <a:latin typeface="Aptos"/>
              </a:rPr>
              <a:t>setCommand</a:t>
            </a:r>
            <a:r>
              <a:rPr sz="1080" b="1" dirty="0">
                <a:solidFill>
                  <a:srgbClr val="191919"/>
                </a:solidFill>
                <a:latin typeface="Aptos"/>
              </a:rPr>
              <a:t>()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40" y="2907792"/>
            <a:ext cx="2743200" cy="0"/>
          </a:xfrm>
          <a:prstGeom prst="line">
            <a:avLst/>
          </a:prstGeom>
          <a:ln w="19050">
            <a:solidFill>
              <a:srgbClr val="002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0" y="26700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91919"/>
                </a:solidFill>
                <a:latin typeface="Aptos"/>
              </a:rPr>
              <a:t>1.2 store command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3639312"/>
            <a:ext cx="11384280" cy="1874519"/>
          </a:xfrm>
          <a:prstGeom prst="roundRect">
            <a:avLst/>
          </a:prstGeom>
          <a:solidFill>
            <a:srgbClr val="F7F8FF"/>
          </a:solidFill>
          <a:ln w="12700">
            <a:solidFill>
              <a:srgbClr val="A5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56032" y="3730752"/>
            <a:ext cx="1920240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" y="3762756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2) Execute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74419" y="4160520"/>
            <a:ext cx="2674621" cy="0"/>
          </a:xfrm>
          <a:prstGeom prst="line">
            <a:avLst/>
          </a:prstGeom>
          <a:ln w="19050">
            <a:solidFill>
              <a:srgbClr val="E1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4263591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91919"/>
                </a:solidFill>
                <a:latin typeface="Aptos"/>
              </a:rPr>
              <a:t>2.1 </a:t>
            </a:r>
            <a:r>
              <a:rPr sz="1050" b="1" dirty="0" err="1">
                <a:solidFill>
                  <a:srgbClr val="191919"/>
                </a:solidFill>
                <a:latin typeface="Aptos"/>
              </a:rPr>
              <a:t>buttonWasPushed</a:t>
            </a:r>
            <a:r>
              <a:rPr sz="1050" b="1" dirty="0">
                <a:solidFill>
                  <a:srgbClr val="191919"/>
                </a:solidFill>
                <a:latin typeface="Aptos"/>
              </a:rPr>
              <a:t>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40" y="4617720"/>
            <a:ext cx="2743200" cy="0"/>
          </a:xfrm>
          <a:prstGeom prst="line">
            <a:avLst/>
          </a:prstGeom>
          <a:ln w="19050">
            <a:solidFill>
              <a:srgbClr val="002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86200" y="43708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91919"/>
                </a:solidFill>
                <a:latin typeface="Aptos"/>
              </a:rPr>
              <a:t>2.2 execute()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92240" y="5074920"/>
            <a:ext cx="2720340" cy="0"/>
          </a:xfrm>
          <a:prstGeom prst="line">
            <a:avLst/>
          </a:prstGeom>
          <a:ln w="19050">
            <a:solidFill>
              <a:srgbClr val="5A3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37960" y="48280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91919"/>
                </a:solidFill>
                <a:latin typeface="Aptos"/>
              </a:rPr>
              <a:t>2.3 light.on()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492240" y="5413248"/>
            <a:ext cx="2720340" cy="0"/>
          </a:xfrm>
          <a:prstGeom prst="line">
            <a:avLst/>
          </a:prstGeom>
          <a:ln w="12700">
            <a:solidFill>
              <a:srgbClr val="37914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37960" y="51846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F646E"/>
                </a:solidFill>
                <a:latin typeface="Aptos"/>
              </a:rPr>
              <a:t>return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233172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48672" y="2468880"/>
            <a:ext cx="126187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43069"/>
                </a:solidFill>
                <a:latin typeface="Aptos"/>
              </a:rPr>
              <a:t>Invoker
knows only
Command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0881360" cy="438912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5897880"/>
            <a:ext cx="10561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20" b="1">
                <a:solidFill>
                  <a:srgbClr val="37914B"/>
                </a:solidFill>
                <a:latin typeface="Aptos"/>
              </a:rPr>
              <a:t>Client → Invoker → Command → Receiver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Execution Flow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The pattern is mainly about separation of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532120" cy="47091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65960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9324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Execution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E17D1E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56816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20" b="1">
                <a:solidFill>
                  <a:srgbClr val="191919"/>
                </a:solidFill>
                <a:latin typeface="Aptos"/>
              </a:rPr>
              <a:t>Client creates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411480" cy="411480"/>
          </a:xfrm>
          <a:prstGeom prst="roundRect">
            <a:avLst/>
          </a:prstGeom>
          <a:solidFill>
            <a:srgbClr val="0023D2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15184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20" b="1">
                <a:solidFill>
                  <a:srgbClr val="191919"/>
                </a:solidFill>
                <a:latin typeface="Aptos"/>
              </a:rPr>
              <a:t>Invoker stores 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36976"/>
            <a:ext cx="411480" cy="411480"/>
          </a:xfrm>
          <a:prstGeom prst="roundRect">
            <a:avLst/>
          </a:prstGeom>
          <a:solidFill>
            <a:srgbClr val="5A37A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101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7355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20" b="1">
                <a:solidFill>
                  <a:srgbClr val="191919"/>
                </a:solidFill>
                <a:latin typeface="Aptos"/>
              </a:rPr>
              <a:t>User triggers Invoker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95344"/>
            <a:ext cx="411480" cy="411480"/>
          </a:xfrm>
          <a:prstGeom prst="roundRect">
            <a:avLst/>
          </a:prstGeom>
          <a:solidFill>
            <a:srgbClr val="5A37AF"/>
          </a:solidFill>
          <a:ln w="12700">
            <a:solidFill>
              <a:srgbClr val="5A3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31920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20" b="1">
                <a:solidFill>
                  <a:srgbClr val="191919"/>
                </a:solidFill>
                <a:latin typeface="Aptos"/>
              </a:rPr>
              <a:t>Invoker calls execute()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53712"/>
            <a:ext cx="411480" cy="411480"/>
          </a:xfrm>
          <a:prstGeom prst="roundRect">
            <a:avLst/>
          </a:prstGeom>
          <a:solidFill>
            <a:srgbClr val="37914B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62686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590288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20" b="1">
                <a:solidFill>
                  <a:srgbClr val="191919"/>
                </a:solidFill>
                <a:latin typeface="Aptos"/>
              </a:rPr>
              <a:t>Command calls Receiver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234440"/>
            <a:ext cx="5577840" cy="470916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1417320"/>
            <a:ext cx="2331720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449324"/>
            <a:ext cx="22402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Design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874519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069"/>
                </a:solidFill>
                <a:latin typeface="Aptos"/>
              </a:rPr>
              <a:t>Encapsulation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12848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91919"/>
                </a:solidFill>
                <a:latin typeface="Aptos"/>
              </a:rPr>
              <a:t>Request details live inside the Command object.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069"/>
                </a:solidFill>
                <a:latin typeface="Aptos"/>
              </a:rPr>
              <a:t>Separation of Responsibilities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91256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91919"/>
                </a:solidFill>
                <a:latin typeface="Aptos"/>
              </a:rPr>
              <a:t>Invoker triggers; Command maps request to Receiver.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313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069"/>
                </a:solidFill>
                <a:latin typeface="Aptos"/>
              </a:rPr>
              <a:t>Open for Extension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69663"/>
            <a:ext cx="5074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91919"/>
                </a:solidFill>
                <a:latin typeface="Aptos"/>
              </a:rPr>
              <a:t>Add a new ConcreteCommand without changing the Invoker.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029200"/>
            <a:ext cx="5074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513892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37914B"/>
                </a:solidFill>
                <a:latin typeface="Aptos"/>
              </a:rPr>
              <a:t>Invoker → Command → Receiver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What you gain — and what you pay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32120" cy="466344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874519" cy="301752"/>
          </a:xfrm>
          <a:prstGeom prst="roundRect">
            <a:avLst/>
          </a:prstGeom>
          <a:solidFill>
            <a:srgbClr val="37914B"/>
          </a:solidFill>
          <a:ln w="635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9324"/>
            <a:ext cx="178307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✓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Decouples Invoker from Receiver.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Supports undo / redo.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Supports queueing and scheduling.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Supports logging and replay.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Makes macro operations easy.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Commands can be tested independently.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532120" cy="4663440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1920240" cy="301752"/>
          </a:xfrm>
          <a:prstGeom prst="roundRect">
            <a:avLst/>
          </a:prstGeom>
          <a:solidFill>
            <a:srgbClr val="E17D1E"/>
          </a:solidFill>
          <a:ln w="635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493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✗ 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More classes and objects.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Simple operations may feel over-engineered.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Undo may require saving previous Receiver state.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Large command histories can consume memory.</a:t>
            </a:r>
          </a:p>
          <a:p>
            <a:pPr>
              <a:spcAft>
                <a:spcPts val="4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Macro / queue management can add complexity.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617720"/>
            <a:ext cx="48920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736592"/>
            <a:ext cx="4617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>
                <a:solidFill>
                  <a:srgbClr val="E17D1E"/>
                </a:solidFill>
                <a:latin typeface="Aptos"/>
              </a:rPr>
              <a:t>Use when flexibility is worth the extra 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73152"/>
            <a:ext cx="11548872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0">
                <a:solidFill>
                  <a:srgbClr val="191919"/>
                </a:solidFill>
                <a:latin typeface="Aptos"/>
              </a:rPr>
              <a:t>Command Pattern – Known Uses &amp; Quick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04088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0023D2"/>
                </a:solidFill>
                <a:latin typeface="Aptos"/>
              </a:rPr>
              <a:t>• Recognize the pattern by its intent, not just by its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11567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F646E"/>
                </a:solidFill>
                <a:latin typeface="Aptos"/>
              </a:rPr>
              <a:t>Unit 2  |  Command Design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440680" cy="47548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11680" cy="301752"/>
          </a:xfrm>
          <a:prstGeom prst="roundRect">
            <a:avLst/>
          </a:prstGeom>
          <a:solidFill>
            <a:srgbClr val="143069"/>
          </a:solidFill>
          <a:ln w="635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49324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Known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GUI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Click action becomes a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3288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Smart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32888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Remote triggers device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45536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Job queues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45536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Requests wait for worker threads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58184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58184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Operations can be queued / rolled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7083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70832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Commands can be stored and replayed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834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43069"/>
                </a:solidFill>
                <a:latin typeface="Aptos"/>
              </a:rPr>
              <a:t>Macro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83480"/>
            <a:ext cx="3429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191919"/>
                </a:solidFill>
                <a:latin typeface="Aptos"/>
              </a:rPr>
              <a:t>Many commands execute as 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234440"/>
            <a:ext cx="5715000" cy="47548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2423160" cy="301752"/>
          </a:xfrm>
          <a:prstGeom prst="roundRect">
            <a:avLst/>
          </a:prstGeom>
          <a:solidFill>
            <a:srgbClr val="0023D2"/>
          </a:solidFill>
          <a:ln w="6350">
            <a:solidFill>
              <a:srgbClr val="002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449324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Command vs Memento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920240"/>
            <a:ext cx="1234440" cy="438912"/>
          </a:xfrm>
          <a:prstGeom prst="roundRect">
            <a:avLst/>
          </a:prstGeom>
          <a:solidFill>
            <a:srgbClr val="143069"/>
          </a:solidFill>
          <a:ln w="1270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1920240"/>
            <a:ext cx="1417320" cy="438912"/>
          </a:xfrm>
          <a:prstGeom prst="roundRect">
            <a:avLst/>
          </a:prstGeom>
          <a:solidFill>
            <a:srgbClr val="143069"/>
          </a:solidFill>
          <a:ln w="1270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20116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1920240"/>
            <a:ext cx="1691640" cy="438912"/>
          </a:xfrm>
          <a:prstGeom prst="roundRect">
            <a:avLst/>
          </a:prstGeom>
          <a:solidFill>
            <a:srgbClr val="143069"/>
          </a:solidFill>
          <a:ln w="12700">
            <a:solidFill>
              <a:srgbClr val="14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0" y="2011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Memento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359152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2450592"/>
            <a:ext cx="1490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143069"/>
                </a:solidFill>
                <a:latin typeface="Aptos"/>
              </a:rPr>
              <a:t>Intent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359152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10144" y="2450592"/>
            <a:ext cx="13075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Encapsulate request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235915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0344" y="2450592"/>
            <a:ext cx="1581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Capture state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017520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3108960"/>
            <a:ext cx="1490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143069"/>
                </a:solidFill>
                <a:latin typeface="Aptos"/>
              </a:rPr>
              <a:t>Main use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017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10144" y="3108960"/>
            <a:ext cx="13075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Execute / queue / 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301752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10344" y="3108960"/>
            <a:ext cx="1581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Restore / rollback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675887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4224" y="3767327"/>
            <a:ext cx="1490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143069"/>
                </a:solidFill>
                <a:latin typeface="Aptos"/>
              </a:rPr>
              <a:t>Stores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3675887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10144" y="3767327"/>
            <a:ext cx="13075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Action + parameters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55480" y="3675887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10344" y="3767327"/>
            <a:ext cx="1581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Snapshot of 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334256"/>
            <a:ext cx="1600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64224" y="4425696"/>
            <a:ext cx="1490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143069"/>
                </a:solidFill>
                <a:latin typeface="Aptos"/>
              </a:rPr>
              <a:t>Memory trick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4334256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10144" y="4425696"/>
            <a:ext cx="13075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What should I execute?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55480" y="4334256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10344" y="4425696"/>
            <a:ext cx="1581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0">
                <a:solidFill>
                  <a:srgbClr val="191919"/>
                </a:solidFill>
                <a:latin typeface="Aptos"/>
              </a:rPr>
              <a:t>What was my state?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5212080"/>
            <a:ext cx="4937760" cy="548640"/>
          </a:xfrm>
          <a:prstGeom prst="roundRect">
            <a:avLst/>
          </a:prstGeom>
          <a:solidFill>
            <a:srgbClr val="E8F7ED"/>
          </a:solidFill>
          <a:ln w="12700">
            <a:solidFill>
              <a:srgbClr val="379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520" y="5321808"/>
            <a:ext cx="4663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7914B"/>
                </a:solidFill>
                <a:latin typeface="Aptos"/>
              </a:rPr>
              <a:t>Command = operation object
Memento = state snapshot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1782</Words>
  <Application>Microsoft Macintosh PowerPoint</Application>
  <PresentationFormat>Widescreen</PresentationFormat>
  <Paragraphs>227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Aswathy Mohan</cp:lastModifiedBy>
  <cp:revision>1</cp:revision>
  <dcterms:created xsi:type="dcterms:W3CDTF">2013-01-27T09:14:16Z</dcterms:created>
  <dcterms:modified xsi:type="dcterms:W3CDTF">2026-09-08T08:08:04Z</dcterms:modified>
  <cp:category/>
</cp:coreProperties>
</file>