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6" r:id="rId2"/>
    <p:sldId id="280" r:id="rId3"/>
    <p:sldId id="282" r:id="rId4"/>
    <p:sldId id="281" r:id="rId5"/>
    <p:sldId id="283" r:id="rId6"/>
    <p:sldId id="285" r:id="rId7"/>
    <p:sldId id="284" r:id="rId8"/>
    <p:sldId id="287" r:id="rId9"/>
    <p:sldId id="286" r:id="rId10"/>
    <p:sldId id="288" r:id="rId11"/>
    <p:sldId id="289" r:id="rId12"/>
    <p:sldId id="29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444" autoAdjust="0"/>
    <p:restoredTop sz="94626"/>
  </p:normalViewPr>
  <p:slideViewPr>
    <p:cSldViewPr snapToGrid="0">
      <p:cViewPr>
        <p:scale>
          <a:sx n="73" d="100"/>
          <a:sy n="73" d="100"/>
        </p:scale>
        <p:origin x="-424" y="4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Mohan" userId="8ec7b060-ec9d-4a76-a81c-f80212d9386c" providerId="ADAL" clId="{A2D8F3F3-AB79-5800-97AF-2AFE679C11CA}"/>
    <pc:docChg chg="modSld">
      <pc:chgData name="Aswathy Mohan" userId="8ec7b060-ec9d-4a76-a81c-f80212d9386c" providerId="ADAL" clId="{A2D8F3F3-AB79-5800-97AF-2AFE679C11CA}" dt="2026-09-09T08:25:31.121" v="158" actId="1037"/>
      <pc:docMkLst>
        <pc:docMk/>
      </pc:docMkLst>
      <pc:sldChg chg="modSp mod">
        <pc:chgData name="Aswathy Mohan" userId="8ec7b060-ec9d-4a76-a81c-f80212d9386c" providerId="ADAL" clId="{A2D8F3F3-AB79-5800-97AF-2AFE679C11CA}" dt="2026-09-09T08:25:31.121" v="158" actId="1037"/>
        <pc:sldMkLst>
          <pc:docMk/>
          <pc:sldMk cId="1439750353" sldId="284"/>
        </pc:sldMkLst>
        <pc:picChg chg="mod">
          <ac:chgData name="Aswathy Mohan" userId="8ec7b060-ec9d-4a76-a81c-f80212d9386c" providerId="ADAL" clId="{A2D8F3F3-AB79-5800-97AF-2AFE679C11CA}" dt="2026-09-09T08:25:31.121" v="158" actId="1037"/>
          <ac:picMkLst>
            <pc:docMk/>
            <pc:sldMk cId="1439750353" sldId="284"/>
            <ac:picMk id="3" creationId="{6D2D0DEE-8AA3-452C-1EA6-8431E303C513}"/>
          </ac:picMkLst>
        </pc:picChg>
      </pc:sldChg>
    </pc:docChg>
  </pc:docChgLst>
  <pc:docChgLst>
    <pc:chgData name="Aswathy Mohan" userId="8ec7b060-ec9d-4a76-a81c-f80212d9386c" providerId="ADAL" clId="{148F012C-E039-419C-A523-3EB066B9FD4E}"/>
    <pc:docChg chg="addSld delSld modSld">
      <pc:chgData name="Aswathy Mohan" userId="8ec7b060-ec9d-4a76-a81c-f80212d9386c" providerId="ADAL" clId="{148F012C-E039-419C-A523-3EB066B9FD4E}" dt="2026-09-02T17:55:58.009" v="228" actId="207"/>
      <pc:docMkLst>
        <pc:docMk/>
      </pc:docMkLst>
      <pc:sldChg chg="modSp mod">
        <pc:chgData name="Aswathy Mohan" userId="8ec7b060-ec9d-4a76-a81c-f80212d9386c" providerId="ADAL" clId="{148F012C-E039-419C-A523-3EB066B9FD4E}" dt="2026-09-02T17:50:29.648" v="164" actId="1076"/>
        <pc:sldMkLst>
          <pc:docMk/>
          <pc:sldMk cId="876332490" sldId="282"/>
        </pc:sldMkLst>
        <pc:spChg chg="mod">
          <ac:chgData name="Aswathy Mohan" userId="8ec7b060-ec9d-4a76-a81c-f80212d9386c" providerId="ADAL" clId="{148F012C-E039-419C-A523-3EB066B9FD4E}" dt="2026-09-02T17:50:29.648" v="164" actId="1076"/>
          <ac:spMkLst>
            <pc:docMk/>
            <pc:sldMk cId="876332490" sldId="282"/>
            <ac:spMk id="9" creationId="{94FEFDF0-4E95-AEB1-FD86-67BAB8CF40C3}"/>
          </ac:spMkLst>
        </pc:spChg>
        <pc:spChg chg="mod">
          <ac:chgData name="Aswathy Mohan" userId="8ec7b060-ec9d-4a76-a81c-f80212d9386c" providerId="ADAL" clId="{148F012C-E039-419C-A523-3EB066B9FD4E}" dt="2026-09-02T17:49:52.319" v="160" actId="207"/>
          <ac:spMkLst>
            <pc:docMk/>
            <pc:sldMk cId="876332490" sldId="282"/>
            <ac:spMk id="15" creationId="{00000000-0000-0000-0000-000000000000}"/>
          </ac:spMkLst>
        </pc:spChg>
      </pc:sldChg>
      <pc:sldChg chg="addSp modSp mod">
        <pc:chgData name="Aswathy Mohan" userId="8ec7b060-ec9d-4a76-a81c-f80212d9386c" providerId="ADAL" clId="{148F012C-E039-419C-A523-3EB066B9FD4E}" dt="2026-09-02T17:51:35.158" v="172" actId="14100"/>
        <pc:sldMkLst>
          <pc:docMk/>
          <pc:sldMk cId="1577159192" sldId="283"/>
        </pc:sldMkLst>
        <pc:spChg chg="mod">
          <ac:chgData name="Aswathy Mohan" userId="8ec7b060-ec9d-4a76-a81c-f80212d9386c" providerId="ADAL" clId="{148F012C-E039-419C-A523-3EB066B9FD4E}" dt="2026-09-02T17:51:01.760" v="167" actId="14100"/>
          <ac:spMkLst>
            <pc:docMk/>
            <pc:sldMk cId="1577159192" sldId="283"/>
            <ac:spMk id="4" creationId="{7234CE4B-BE5C-80FC-607D-821CEA5A0917}"/>
          </ac:spMkLst>
        </pc:spChg>
        <pc:spChg chg="mod">
          <ac:chgData name="Aswathy Mohan" userId="8ec7b060-ec9d-4a76-a81c-f80212d9386c" providerId="ADAL" clId="{148F012C-E039-419C-A523-3EB066B9FD4E}" dt="2026-09-02T17:51:20.645" v="169" actId="207"/>
          <ac:spMkLst>
            <pc:docMk/>
            <pc:sldMk cId="1577159192" sldId="283"/>
            <ac:spMk id="28" creationId="{06FCB12D-2483-7EF8-46B7-22BBC786AF25}"/>
          </ac:spMkLst>
        </pc:spChg>
        <pc:spChg chg="mod">
          <ac:chgData name="Aswathy Mohan" userId="8ec7b060-ec9d-4a76-a81c-f80212d9386c" providerId="ADAL" clId="{148F012C-E039-419C-A523-3EB066B9FD4E}" dt="2026-09-02T17:51:14.059" v="168" actId="207"/>
          <ac:spMkLst>
            <pc:docMk/>
            <pc:sldMk cId="1577159192" sldId="283"/>
            <ac:spMk id="30" creationId="{276F3555-DCF3-0277-E819-6A1FB66270DE}"/>
          </ac:spMkLst>
        </pc:spChg>
        <pc:spChg chg="mod">
          <ac:chgData name="Aswathy Mohan" userId="8ec7b060-ec9d-4a76-a81c-f80212d9386c" providerId="ADAL" clId="{148F012C-E039-419C-A523-3EB066B9FD4E}" dt="2026-09-02T17:51:28.393" v="171" actId="207"/>
          <ac:spMkLst>
            <pc:docMk/>
            <pc:sldMk cId="1577159192" sldId="283"/>
            <ac:spMk id="32" creationId="{1C9BA730-8BB5-0D51-6E27-01087EDB59C0}"/>
          </ac:spMkLst>
        </pc:spChg>
        <pc:spChg chg="mod">
          <ac:chgData name="Aswathy Mohan" userId="8ec7b060-ec9d-4a76-a81c-f80212d9386c" providerId="ADAL" clId="{148F012C-E039-419C-A523-3EB066B9FD4E}" dt="2026-09-02T17:49:19.465" v="139" actId="1036"/>
          <ac:spMkLst>
            <pc:docMk/>
            <pc:sldMk cId="1577159192" sldId="283"/>
            <ac:spMk id="33" creationId="{00000000-0000-0000-0000-000000000000}"/>
          </ac:spMkLst>
        </pc:spChg>
        <pc:spChg chg="mod">
          <ac:chgData name="Aswathy Mohan" userId="8ec7b060-ec9d-4a76-a81c-f80212d9386c" providerId="ADAL" clId="{148F012C-E039-419C-A523-3EB066B9FD4E}" dt="2026-09-02T17:49:19.465" v="139" actId="1036"/>
          <ac:spMkLst>
            <pc:docMk/>
            <pc:sldMk cId="1577159192" sldId="283"/>
            <ac:spMk id="34" creationId="{00000000-0000-0000-0000-000000000000}"/>
          </ac:spMkLst>
        </pc:spChg>
        <pc:spChg chg="mod">
          <ac:chgData name="Aswathy Mohan" userId="8ec7b060-ec9d-4a76-a81c-f80212d9386c" providerId="ADAL" clId="{148F012C-E039-419C-A523-3EB066B9FD4E}" dt="2026-09-02T17:49:19.465" v="139" actId="1036"/>
          <ac:spMkLst>
            <pc:docMk/>
            <pc:sldMk cId="1577159192" sldId="283"/>
            <ac:spMk id="35" creationId="{00000000-0000-0000-0000-000000000000}"/>
          </ac:spMkLst>
        </pc:spChg>
        <pc:spChg chg="mod">
          <ac:chgData name="Aswathy Mohan" userId="8ec7b060-ec9d-4a76-a81c-f80212d9386c" providerId="ADAL" clId="{148F012C-E039-419C-A523-3EB066B9FD4E}" dt="2026-09-02T17:49:19.465" v="139" actId="1036"/>
          <ac:spMkLst>
            <pc:docMk/>
            <pc:sldMk cId="1577159192" sldId="283"/>
            <ac:spMk id="36" creationId="{00000000-0000-0000-0000-000000000000}"/>
          </ac:spMkLst>
        </pc:spChg>
        <pc:picChg chg="add mod">
          <ac:chgData name="Aswathy Mohan" userId="8ec7b060-ec9d-4a76-a81c-f80212d9386c" providerId="ADAL" clId="{148F012C-E039-419C-A523-3EB066B9FD4E}" dt="2026-09-02T17:49:25.102" v="159" actId="1036"/>
          <ac:picMkLst>
            <pc:docMk/>
            <pc:sldMk cId="1577159192" sldId="283"/>
            <ac:picMk id="5" creationId="{5CD1B3DB-5D64-8C95-2F97-21E498E4FCE8}"/>
          </ac:picMkLst>
        </pc:picChg>
        <pc:cxnChg chg="mod">
          <ac:chgData name="Aswathy Mohan" userId="8ec7b060-ec9d-4a76-a81c-f80212d9386c" providerId="ADAL" clId="{148F012C-E039-419C-A523-3EB066B9FD4E}" dt="2026-09-02T17:49:19.465" v="139" actId="1036"/>
          <ac:cxnSpMkLst>
            <pc:docMk/>
            <pc:sldMk cId="1577159192" sldId="283"/>
            <ac:cxnSpMk id="37" creationId="{00000000-0000-0000-0000-000000000000}"/>
          </ac:cxnSpMkLst>
        </pc:cxnChg>
        <pc:cxnChg chg="mod">
          <ac:chgData name="Aswathy Mohan" userId="8ec7b060-ec9d-4a76-a81c-f80212d9386c" providerId="ADAL" clId="{148F012C-E039-419C-A523-3EB066B9FD4E}" dt="2026-09-02T17:49:19.465" v="139" actId="1036"/>
          <ac:cxnSpMkLst>
            <pc:docMk/>
            <pc:sldMk cId="1577159192" sldId="283"/>
            <ac:cxnSpMk id="38" creationId="{00000000-0000-0000-0000-000000000000}"/>
          </ac:cxnSpMkLst>
        </pc:cxnChg>
        <pc:cxnChg chg="mod">
          <ac:chgData name="Aswathy Mohan" userId="8ec7b060-ec9d-4a76-a81c-f80212d9386c" providerId="ADAL" clId="{148F012C-E039-419C-A523-3EB066B9FD4E}" dt="2026-09-02T17:51:35.158" v="172" actId="14100"/>
          <ac:cxnSpMkLst>
            <pc:docMk/>
            <pc:sldMk cId="1577159192" sldId="283"/>
            <ac:cxnSpMk id="39" creationId="{00000000-0000-0000-0000-000000000000}"/>
          </ac:cxnSpMkLst>
        </pc:cxnChg>
      </pc:sldChg>
      <pc:sldChg chg="modSp mod">
        <pc:chgData name="Aswathy Mohan" userId="8ec7b060-ec9d-4a76-a81c-f80212d9386c" providerId="ADAL" clId="{148F012C-E039-419C-A523-3EB066B9FD4E}" dt="2026-09-02T17:53:12.629" v="210" actId="1036"/>
        <pc:sldMkLst>
          <pc:docMk/>
          <pc:sldMk cId="1439750353" sldId="284"/>
        </pc:sldMkLst>
        <pc:picChg chg="mod">
          <ac:chgData name="Aswathy Mohan" userId="8ec7b060-ec9d-4a76-a81c-f80212d9386c" providerId="ADAL" clId="{148F012C-E039-419C-A523-3EB066B9FD4E}" dt="2026-09-02T17:53:12.629" v="210" actId="1036"/>
          <ac:picMkLst>
            <pc:docMk/>
            <pc:sldMk cId="1439750353" sldId="284"/>
            <ac:picMk id="3" creationId="{6D2D0DEE-8AA3-452C-1EA6-8431E303C513}"/>
          </ac:picMkLst>
        </pc:picChg>
      </pc:sldChg>
      <pc:sldChg chg="modSp mod">
        <pc:chgData name="Aswathy Mohan" userId="8ec7b060-ec9d-4a76-a81c-f80212d9386c" providerId="ADAL" clId="{148F012C-E039-419C-A523-3EB066B9FD4E}" dt="2026-09-02T17:52:55.045" v="192" actId="1036"/>
        <pc:sldMkLst>
          <pc:docMk/>
          <pc:sldMk cId="352927461" sldId="285"/>
        </pc:sldMkLst>
        <pc:spChg chg="mod">
          <ac:chgData name="Aswathy Mohan" userId="8ec7b060-ec9d-4a76-a81c-f80212d9386c" providerId="ADAL" clId="{148F012C-E039-419C-A523-3EB066B9FD4E}" dt="2026-09-02T17:52:55.045" v="192" actId="1036"/>
          <ac:spMkLst>
            <pc:docMk/>
            <pc:sldMk cId="352927461" sldId="285"/>
            <ac:spMk id="11" creationId="{F7C695F7-0F62-A335-737B-B08D4133D6EE}"/>
          </ac:spMkLst>
        </pc:spChg>
        <pc:spChg chg="mod">
          <ac:chgData name="Aswathy Mohan" userId="8ec7b060-ec9d-4a76-a81c-f80212d9386c" providerId="ADAL" clId="{148F012C-E039-419C-A523-3EB066B9FD4E}" dt="2026-09-02T17:52:05.939" v="174" actId="207"/>
          <ac:spMkLst>
            <pc:docMk/>
            <pc:sldMk cId="352927461" sldId="285"/>
            <ac:spMk id="25" creationId="{00000000-0000-0000-0000-000000000000}"/>
          </ac:spMkLst>
        </pc:spChg>
        <pc:spChg chg="mod">
          <ac:chgData name="Aswathy Mohan" userId="8ec7b060-ec9d-4a76-a81c-f80212d9386c" providerId="ADAL" clId="{148F012C-E039-419C-A523-3EB066B9FD4E}" dt="2026-09-02T17:52:32.279" v="180" actId="20577"/>
          <ac:spMkLst>
            <pc:docMk/>
            <pc:sldMk cId="352927461" sldId="285"/>
            <ac:spMk id="26" creationId="{00000000-0000-0000-0000-000000000000}"/>
          </ac:spMkLst>
        </pc:spChg>
      </pc:sldChg>
      <pc:sldChg chg="modSp mod">
        <pc:chgData name="Aswathy Mohan" userId="8ec7b060-ec9d-4a76-a81c-f80212d9386c" providerId="ADAL" clId="{148F012C-E039-419C-A523-3EB066B9FD4E}" dt="2026-09-02T17:55:07.128" v="220" actId="113"/>
        <pc:sldMkLst>
          <pc:docMk/>
          <pc:sldMk cId="2650544246" sldId="286"/>
        </pc:sldMkLst>
        <pc:spChg chg="mod">
          <ac:chgData name="Aswathy Mohan" userId="8ec7b060-ec9d-4a76-a81c-f80212d9386c" providerId="ADAL" clId="{148F012C-E039-419C-A523-3EB066B9FD4E}" dt="2026-09-02T17:54:54.943" v="218" actId="113"/>
          <ac:spMkLst>
            <pc:docMk/>
            <pc:sldMk cId="2650544246" sldId="286"/>
            <ac:spMk id="6" creationId="{F3748234-3769-6640-7F64-09B194F39F00}"/>
          </ac:spMkLst>
        </pc:spChg>
        <pc:spChg chg="mod">
          <ac:chgData name="Aswathy Mohan" userId="8ec7b060-ec9d-4a76-a81c-f80212d9386c" providerId="ADAL" clId="{148F012C-E039-419C-A523-3EB066B9FD4E}" dt="2026-09-02T17:55:01.075" v="219" actId="113"/>
          <ac:spMkLst>
            <pc:docMk/>
            <pc:sldMk cId="2650544246" sldId="286"/>
            <ac:spMk id="8" creationId="{E2D62E8E-F472-97E4-D9B0-2664EB7A645A}"/>
          </ac:spMkLst>
        </pc:spChg>
        <pc:spChg chg="mod">
          <ac:chgData name="Aswathy Mohan" userId="8ec7b060-ec9d-4a76-a81c-f80212d9386c" providerId="ADAL" clId="{148F012C-E039-419C-A523-3EB066B9FD4E}" dt="2026-09-02T17:55:07.128" v="220" actId="113"/>
          <ac:spMkLst>
            <pc:docMk/>
            <pc:sldMk cId="2650544246" sldId="286"/>
            <ac:spMk id="10" creationId="{C32D5E7F-C3F4-C7A9-6431-A3F444A9BE1E}"/>
          </ac:spMkLst>
        </pc:spChg>
      </pc:sldChg>
      <pc:sldChg chg="modSp mod">
        <pc:chgData name="Aswathy Mohan" userId="8ec7b060-ec9d-4a76-a81c-f80212d9386c" providerId="ADAL" clId="{148F012C-E039-419C-A523-3EB066B9FD4E}" dt="2026-09-02T17:55:58.009" v="228" actId="207"/>
        <pc:sldMkLst>
          <pc:docMk/>
          <pc:sldMk cId="1524712040" sldId="288"/>
        </pc:sldMkLst>
        <pc:spChg chg="mod">
          <ac:chgData name="Aswathy Mohan" userId="8ec7b060-ec9d-4a76-a81c-f80212d9386c" providerId="ADAL" clId="{148F012C-E039-419C-A523-3EB066B9FD4E}" dt="2026-09-02T17:55:26.495" v="222" actId="255"/>
          <ac:spMkLst>
            <pc:docMk/>
            <pc:sldMk cId="1524712040" sldId="288"/>
            <ac:spMk id="5" creationId="{333F9DD5-2CE5-43D4-ACD4-D0B720D621C9}"/>
          </ac:spMkLst>
        </pc:spChg>
        <pc:spChg chg="mod">
          <ac:chgData name="Aswathy Mohan" userId="8ec7b060-ec9d-4a76-a81c-f80212d9386c" providerId="ADAL" clId="{148F012C-E039-419C-A523-3EB066B9FD4E}" dt="2026-09-02T17:55:33.348" v="223" actId="255"/>
          <ac:spMkLst>
            <pc:docMk/>
            <pc:sldMk cId="1524712040" sldId="288"/>
            <ac:spMk id="7" creationId="{C6129986-54FB-75EF-3992-7123FBC00FC5}"/>
          </ac:spMkLst>
        </pc:spChg>
        <pc:spChg chg="mod">
          <ac:chgData name="Aswathy Mohan" userId="8ec7b060-ec9d-4a76-a81c-f80212d9386c" providerId="ADAL" clId="{148F012C-E039-419C-A523-3EB066B9FD4E}" dt="2026-09-02T17:55:58.009" v="228" actId="207"/>
          <ac:spMkLst>
            <pc:docMk/>
            <pc:sldMk cId="1524712040" sldId="288"/>
            <ac:spMk id="9" creationId="{703CB6F4-D9E5-FB62-F541-68B4114EB5E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9428A-3A03-4227-9EA7-84153AE9114D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58E48-07D9-44FE-BF50-0B6DED07A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204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58E48-07D9-44FE-BF50-0B6DED07AAC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47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D50E-8E20-EFA2-1149-688E67A23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1C3B9-E138-739C-19A9-557CC6E1E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2ABD5-8847-69C7-C47C-8BE56DE7C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DF812-A2CF-EA17-FB3C-64E3B5DD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BD320-DF2F-BEA1-D65C-2E6D4989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261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B26A-949F-EB7A-CE2F-08D0BA849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01368-1BB4-B892-0714-9BC62CEC3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D3239-5138-08FC-25BF-DA4A2930F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08937-89E7-91F2-9AFC-76B9B006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2B9CF-2FF5-DD05-3B6D-1FAFC0CC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28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6201E-EA97-D171-C1C5-E8664963D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4D71B-7236-09D9-4867-2BF10F80D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9FF35-C865-65A6-3738-C642D7B8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1EAAF-1728-B9BD-0A30-4F13916A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F767C-E162-C3A6-BB9A-FE5238ADE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69A74-B3B8-7CFB-50AF-EA0350106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C6E78-40E9-0774-8399-8A2F7807F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7520A-AF9A-C3B0-552B-43DAB6CF1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63167-C054-DE4E-26CF-4A861BEE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A8635-867B-5DA3-4CFD-7916D0522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6883D-CEC4-DDCB-E8A0-881798CF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888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4EDFC-92FD-1A37-98A9-6F42C02D2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7615F-A53A-07FA-F86F-0F7FAF8D7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64C15-E9C2-4BC3-9A5E-A94108A4E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5ED87E-6AE9-383D-DA0B-D69A419D3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67D293-16C3-8735-398C-9DED95203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E1EE8D-4206-1155-2AEC-C2B9CCBD7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8137D-C031-7C74-F298-B11EEC58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87CDD6-3EDD-6261-3F0D-02C93E12F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662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BED5-A5B4-04E6-0F6F-2CB0A3074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9C9B22-080C-FCAE-9CDC-4A27BE6F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50EF7-159F-5E01-FC81-5844CAF7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87436-2A2E-AA54-E1CE-AEEB696C9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87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9BDEC-C940-3662-3CCF-79AE467CB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BF807-77D3-E51F-CFC6-C7793D29E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D18E2-8536-3693-51BF-F4407D2C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3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E684-6CD3-7976-4A77-1FA0B4794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86A9F-D286-6228-2FBF-CE0C7ABB6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90FF5-768B-5654-3DDF-38772A38E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50E00-2A77-2346-AE85-F62F1F7CF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8DDBA-D980-7BC4-1BE0-12A66B5A3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15833-D22D-06C4-206C-55B783477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30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033BF-FDA8-7ABC-2682-6822285A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5E0E9-946D-7E1F-DC3B-546725E09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3C527-8A2C-0C02-F35E-88A9D4E19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4F218-EBDF-85B4-D149-7D4123DE1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1634E-A4AD-B5F9-CB0B-5E82EA1C2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EAF1E-F5A6-1979-80A8-E2A2EE78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98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F1836-EF2A-0B0C-C013-106226A6C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3721A-61BB-1FA1-15FB-80B143BCA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07C35-73B0-CA79-4D58-150DE92F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8357E-B243-6510-B9D0-4DD3F382F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3BAB0-7C8C-60BE-B060-3DA92A606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6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F9BA0-C545-968F-BCAA-647187DF35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B8D74-6B43-C76A-5342-1536C0416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2C8A-EA96-A085-AC49-DC1AF3CEE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404F4-E83F-4F3B-8B96-5F8B5AFF9E34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68C25-8194-B0D6-7ADE-BA256401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2D670-0FAC-9E81-D623-4D989453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81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FCE95B-17F5-800C-2862-D00AB6E52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2C6E0-F8A8-7567-9DFB-4FB7243D2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24FB3-3BD5-29A6-BB33-5C72E603F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404F4-E83F-4F3B-8B96-5F8B5AFF9E34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83A8-2813-8423-7294-15120A33C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78D66-805B-189C-A908-8D3CE6AAFA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B7455-8999-4EB9-86B4-45DF99F90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57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70E4E1-E091-C721-6F2C-882F22F29387}"/>
              </a:ext>
            </a:extLst>
          </p:cNvPr>
          <p:cNvSpPr txBox="1"/>
          <p:nvPr/>
        </p:nvSpPr>
        <p:spPr>
          <a:xfrm>
            <a:off x="2349910" y="2684206"/>
            <a:ext cx="9842090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sz="4000" dirty="0">
                <a:solidFill>
                  <a:schemeClr val="bg1"/>
                </a:solidFill>
              </a:rPr>
              <a:t>Unit 2</a:t>
            </a:r>
          </a:p>
        </p:txBody>
      </p:sp>
    </p:spTree>
    <p:extLst>
      <p:ext uri="{BB962C8B-B14F-4D97-AF65-F5344CB8AC3E}">
        <p14:creationId xmlns:p14="http://schemas.microsoft.com/office/powerpoint/2010/main" val="1533526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94A6AF-F69A-DB2A-704F-4F8B2EC64C1D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sz="3600"/>
              <a:t>Memento Design 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F1AFB-340D-917A-D7FE-B07A352AC5CB}"/>
              </a:ext>
            </a:extLst>
          </p:cNvPr>
          <p:cNvSpPr txBox="1"/>
          <p:nvPr/>
        </p:nvSpPr>
        <p:spPr>
          <a:xfrm>
            <a:off x="560438" y="709220"/>
            <a:ext cx="1102196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/>
              <a:t>According to the Gang of Four (</a:t>
            </a:r>
            <a:r>
              <a:rPr sz="2000" b="1" dirty="0" err="1"/>
              <a:t>GoF</a:t>
            </a:r>
            <a:r>
              <a:rPr sz="2000" b="1" dirty="0"/>
              <a:t>)</a:t>
            </a:r>
            <a:br>
              <a:rPr dirty="0"/>
            </a:br>
            <a:r>
              <a:rPr sz="2000" dirty="0"/>
              <a:t>Capture and externalize an object's internal state so that the object can be restored to that state later.</a:t>
            </a:r>
            <a:endParaRPr lang="en-US" sz="2000" dirty="0"/>
          </a:p>
          <a:p>
            <a:endParaRPr lang="en-IN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57252-631F-96C2-385B-2124DBFBFC66}"/>
              </a:ext>
            </a:extLst>
          </p:cNvPr>
          <p:cNvSpPr txBox="1"/>
          <p:nvPr/>
        </p:nvSpPr>
        <p:spPr>
          <a:xfrm>
            <a:off x="334297" y="2064514"/>
            <a:ext cx="2723536" cy="76944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sz="2200" dirty="0"/>
              <a:t>Pattern Name</a:t>
            </a:r>
            <a:br>
              <a:rPr dirty="0"/>
            </a:br>
            <a:r>
              <a:rPr sz="2200" dirty="0"/>
              <a:t>Memento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3383B2-596D-537A-B81D-20D73D3178FD}"/>
              </a:ext>
            </a:extLst>
          </p:cNvPr>
          <p:cNvSpPr txBox="1"/>
          <p:nvPr/>
        </p:nvSpPr>
        <p:spPr>
          <a:xfrm>
            <a:off x="3490452" y="1992330"/>
            <a:ext cx="8593393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2000" dirty="0"/>
              <a:t>Intent</a:t>
            </a:r>
            <a:br>
              <a:rPr dirty="0"/>
            </a:br>
            <a:r>
              <a:rPr sz="2000" dirty="0"/>
              <a:t>Capture an object's state without exposing its internal representation, and restore it later.</a:t>
            </a:r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CE17E5-70C7-6381-671D-B3DD17BD3DB2}"/>
              </a:ext>
            </a:extLst>
          </p:cNvPr>
          <p:cNvSpPr txBox="1"/>
          <p:nvPr/>
        </p:nvSpPr>
        <p:spPr>
          <a:xfrm>
            <a:off x="255640" y="3334431"/>
            <a:ext cx="11621728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sz="1900"/>
              <a:t>Motivation</a:t>
            </a:r>
            <a:br/>
            <a:r>
              <a:rPr sz="1900"/>
              <a:t>Originator creates a snapshot → Caretaker stores it → Originator restores from the snapshot.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4343400"/>
            <a:ext cx="3383280" cy="1828800"/>
          </a:xfrm>
          <a:prstGeom prst="roundRect">
            <a:avLst/>
          </a:prstGeom>
          <a:solidFill>
            <a:srgbClr val="E0EAF6"/>
          </a:solidFill>
          <a:ln w="19050">
            <a:solidFill>
              <a:srgbClr val="4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b="1" dirty="0">
                <a:solidFill>
                  <a:srgbClr val="1F2A44"/>
                </a:solidFill>
              </a:rPr>
              <a:t>Text Editor</a:t>
            </a:r>
          </a:p>
          <a:p>
            <a:r>
              <a:rPr dirty="0">
                <a:solidFill>
                  <a:srgbClr val="1E1E1E"/>
                </a:solidFill>
              </a:rPr>
              <a:t>• Edit → Save Snapshot → More Edits</a:t>
            </a:r>
          </a:p>
          <a:p>
            <a:r>
              <a:rPr dirty="0">
                <a:solidFill>
                  <a:srgbClr val="1E1E1E"/>
                </a:solidFill>
              </a:rPr>
              <a:t>• Undo → Restore Earlier Snapshot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05072" y="4343400"/>
            <a:ext cx="3383280" cy="1828800"/>
          </a:xfrm>
          <a:prstGeom prst="roundRect">
            <a:avLst/>
          </a:prstGeom>
          <a:solidFill>
            <a:srgbClr val="E4F0E6"/>
          </a:solidFill>
          <a:ln w="19050">
            <a:solidFill>
              <a:srgbClr val="527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b="1" dirty="0">
                <a:solidFill>
                  <a:srgbClr val="1F2A44"/>
                </a:solidFill>
              </a:rPr>
              <a:t>Video Game</a:t>
            </a:r>
          </a:p>
          <a:p>
            <a:r>
              <a:rPr dirty="0">
                <a:solidFill>
                  <a:srgbClr val="1E1E1E"/>
                </a:solidFill>
              </a:rPr>
              <a:t>• Reach a checkpoint</a:t>
            </a:r>
          </a:p>
          <a:p>
            <a:r>
              <a:rPr dirty="0">
                <a:solidFill>
                  <a:srgbClr val="1E1E1E"/>
                </a:solidFill>
              </a:rPr>
              <a:t>• Later restore the saved game state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71231" y="4343400"/>
            <a:ext cx="3657600" cy="1828800"/>
          </a:xfrm>
          <a:prstGeom prst="roundRect">
            <a:avLst/>
          </a:prstGeom>
          <a:solidFill>
            <a:srgbClr val="F8EBD8"/>
          </a:solidFill>
          <a:ln w="19050">
            <a:solidFill>
              <a:srgbClr val="BE7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b="1" dirty="0">
                <a:solidFill>
                  <a:srgbClr val="1F2A44"/>
                </a:solidFill>
              </a:rPr>
              <a:t>Drawing Application</a:t>
            </a:r>
          </a:p>
          <a:p>
            <a:r>
              <a:rPr dirty="0">
                <a:solidFill>
                  <a:srgbClr val="1E1E1E"/>
                </a:solidFill>
              </a:rPr>
              <a:t>• Save canvas snapshot</a:t>
            </a:r>
          </a:p>
          <a:p>
            <a:r>
              <a:rPr dirty="0">
                <a:solidFill>
                  <a:srgbClr val="1E1E1E"/>
                </a:solidFill>
              </a:rPr>
              <a:t>• Undo unwanted changes safely</a:t>
            </a:r>
          </a:p>
        </p:txBody>
      </p:sp>
    </p:spTree>
    <p:extLst>
      <p:ext uri="{BB962C8B-B14F-4D97-AF65-F5344CB8AC3E}">
        <p14:creationId xmlns:p14="http://schemas.microsoft.com/office/powerpoint/2010/main" val="324663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26BB3-AE90-3281-D93D-4EDF5A9DA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CF349A-BC17-69BC-1415-B6B447833C00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sz="3600"/>
              <a:t>Why the Existing Design Fails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FEFDF0-4E95-AEB1-FD86-67BAB8CF40C3}"/>
              </a:ext>
            </a:extLst>
          </p:cNvPr>
          <p:cNvSpPr txBox="1"/>
          <p:nvPr/>
        </p:nvSpPr>
        <p:spPr>
          <a:xfrm>
            <a:off x="6332973" y="1866332"/>
            <a:ext cx="5436239" cy="2862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1800" b="1" dirty="0"/>
              <a:t>Problems</a:t>
            </a:r>
            <a:br>
              <a:rPr dirty="0"/>
            </a:br>
            <a:r>
              <a:rPr sz="1800" b="1" dirty="0"/>
              <a:t>• Object exposes internal fields to the save/restore manager</a:t>
            </a:r>
            <a:br>
              <a:rPr dirty="0"/>
            </a:br>
            <a:r>
              <a:rPr sz="1800" b="1" dirty="0"/>
              <a:t>• Caretaker becomes tightly coupled to implementation details</a:t>
            </a:r>
            <a:br>
              <a:rPr dirty="0"/>
            </a:br>
            <a:r>
              <a:rPr sz="1800" b="1" dirty="0"/>
              <a:t>• Every state change may require changes in save/restore code</a:t>
            </a:r>
            <a:br>
              <a:rPr dirty="0"/>
            </a:br>
            <a:r>
              <a:rPr sz="1800" b="1" dirty="0"/>
              <a:t>• Encapsulation is weakened</a:t>
            </a:r>
            <a:br>
              <a:rPr dirty="0"/>
            </a:br>
            <a:r>
              <a:rPr sz="1800" b="1" dirty="0"/>
              <a:t>• Harder to maintain and evolve</a:t>
            </a:r>
            <a:endParaRPr lang="en-IN" sz="1800" b="1" dirty="0"/>
          </a:p>
          <a:p>
            <a:endParaRPr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8161F-7B1E-DBF9-F5C2-66D736DF48A4}"/>
              </a:ext>
            </a:extLst>
          </p:cNvPr>
          <p:cNvSpPr txBox="1"/>
          <p:nvPr/>
        </p:nvSpPr>
        <p:spPr>
          <a:xfrm>
            <a:off x="628427" y="910927"/>
            <a:ext cx="75520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A naive implementation — Text Editor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EA721F-08A8-E558-8854-74EB4F73D01F}"/>
              </a:ext>
            </a:extLst>
          </p:cNvPr>
          <p:cNvSpPr txBox="1"/>
          <p:nvPr/>
        </p:nvSpPr>
        <p:spPr>
          <a:xfrm>
            <a:off x="6351641" y="5114074"/>
            <a:ext cx="5584721" cy="6771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sz="1900" b="1" dirty="0"/>
              <a:t>High Coupling, Weak Encapsulation, Poor</a:t>
            </a:r>
            <a:endParaRPr lang="en-US" sz="1900" b="1" dirty="0"/>
          </a:p>
          <a:p>
            <a:r>
              <a:rPr sz="1900" b="1" dirty="0"/>
              <a:t> Maintainability.</a:t>
            </a:r>
            <a:endParaRPr lang="en-IN" sz="2000" dirty="0"/>
          </a:p>
        </p:txBody>
      </p:sp>
      <p:sp>
        <p:nvSpPr>
          <p:cNvPr id="15" name="Rounded Rectangle 14"/>
          <p:cNvSpPr/>
          <p:nvPr/>
        </p:nvSpPr>
        <p:spPr>
          <a:xfrm>
            <a:off x="412956" y="1551700"/>
            <a:ext cx="5322477" cy="46522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5A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0" dirty="0">
                <a:solidFill>
                  <a:srgbClr val="1E1E1E"/>
                </a:solidFill>
                <a:latin typeface="Consolas"/>
              </a:rPr>
              <a:t>class Editor {</a:t>
            </a:r>
            <a:br>
              <a:rPr dirty="0"/>
            </a:br>
            <a:r>
              <a:rPr b="0" dirty="0">
                <a:solidFill>
                  <a:srgbClr val="1E1E1E"/>
                </a:solidFill>
                <a:latin typeface="Consolas"/>
              </a:rPr>
              <a:t>  String text;</a:t>
            </a:r>
            <a:br>
              <a:rPr dirty="0"/>
            </a:br>
            <a:r>
              <a:rPr b="0" dirty="0">
                <a:solidFill>
                  <a:srgbClr val="1E1E1E"/>
                </a:solidFill>
                <a:latin typeface="Consolas"/>
              </a:rPr>
              <a:t>  int cursor;</a:t>
            </a:r>
            <a:br>
              <a:rPr dirty="0"/>
            </a:br>
            <a:br>
              <a:rPr dirty="0"/>
            </a:br>
            <a:r>
              <a:rPr b="0" dirty="0">
                <a:solidFill>
                  <a:srgbClr val="1E1E1E"/>
                </a:solidFill>
                <a:latin typeface="Consolas"/>
              </a:rPr>
              <a:t>  String save() {</a:t>
            </a:r>
            <a:br>
              <a:rPr dirty="0"/>
            </a:br>
            <a:r>
              <a:rPr b="0" dirty="0">
                <a:solidFill>
                  <a:srgbClr val="1E1E1E"/>
                </a:solidFill>
                <a:latin typeface="Consolas"/>
              </a:rPr>
              <a:t>    return text + "," + cursor; //expose state</a:t>
            </a:r>
            <a:br>
              <a:rPr dirty="0"/>
            </a:br>
            <a:r>
              <a:rPr b="0" dirty="0">
                <a:solidFill>
                  <a:srgbClr val="1E1E1E"/>
                </a:solidFill>
                <a:latin typeface="Consolas"/>
              </a:rPr>
              <a:t>  }</a:t>
            </a:r>
            <a:br>
              <a:rPr dirty="0"/>
            </a:br>
            <a:br>
              <a:rPr dirty="0"/>
            </a:br>
            <a:r>
              <a:rPr b="0" dirty="0">
                <a:solidFill>
                  <a:srgbClr val="1E1E1E"/>
                </a:solidFill>
                <a:latin typeface="Consolas"/>
              </a:rPr>
              <a:t>  void restore(String data) {</a:t>
            </a:r>
            <a:br>
              <a:rPr dirty="0"/>
            </a:br>
            <a:r>
              <a:rPr b="0" dirty="0">
                <a:solidFill>
                  <a:srgbClr val="1E1E1E"/>
                </a:solidFill>
                <a:latin typeface="Consolas"/>
              </a:rPr>
              <a:t>    // parse and rebuild internal state</a:t>
            </a:r>
            <a:br>
              <a:rPr dirty="0"/>
            </a:br>
            <a:r>
              <a:rPr b="0" dirty="0">
                <a:solidFill>
                  <a:srgbClr val="1E1E1E"/>
                </a:solidFill>
                <a:latin typeface="Consolas"/>
              </a:rPr>
              <a:t>  }</a:t>
            </a:r>
            <a:br>
              <a:rPr dirty="0"/>
            </a:br>
            <a:r>
              <a:rPr b="0" dirty="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76332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412E6E-E51A-CDBC-C642-D9CC87EFAC98}"/>
              </a:ext>
            </a:extLst>
          </p:cNvPr>
          <p:cNvSpPr txBox="1"/>
          <p:nvPr/>
        </p:nvSpPr>
        <p:spPr>
          <a:xfrm>
            <a:off x="511278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sz="3600"/>
              <a:t>Applicability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2FA31-9FAD-B5DA-B86A-A434764F53CE}"/>
              </a:ext>
            </a:extLst>
          </p:cNvPr>
          <p:cNvSpPr txBox="1"/>
          <p:nvPr/>
        </p:nvSpPr>
        <p:spPr>
          <a:xfrm>
            <a:off x="511277" y="845177"/>
            <a:ext cx="1066800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100"/>
              <a:t>Use the Memento Pattern when an object's state must be saved and restored, while the object's internal representation should remain encapsulated.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057400"/>
            <a:ext cx="5440680" cy="2148840"/>
          </a:xfrm>
          <a:prstGeom prst="roundRect">
            <a:avLst/>
          </a:prstGeom>
          <a:solidFill>
            <a:srgbClr val="E4F0E6"/>
          </a:solidFill>
          <a:ln w="19050">
            <a:solidFill>
              <a:srgbClr val="527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b="1" dirty="0">
                <a:solidFill>
                  <a:srgbClr val="1F2A44"/>
                </a:solidFill>
              </a:rPr>
              <a:t>✔ Use Memento when</a:t>
            </a:r>
          </a:p>
          <a:p>
            <a:r>
              <a:rPr dirty="0">
                <a:solidFill>
                  <a:srgbClr val="1E1E1E"/>
                </a:solidFill>
              </a:rPr>
              <a:t>• Undo / redo is required</a:t>
            </a:r>
          </a:p>
          <a:p>
            <a:r>
              <a:rPr dirty="0">
                <a:solidFill>
                  <a:srgbClr val="1E1E1E"/>
                </a:solidFill>
              </a:rPr>
              <a:t>• Checkpoints or snapshots are needed</a:t>
            </a:r>
          </a:p>
          <a:p>
            <a:r>
              <a:rPr dirty="0">
                <a:solidFill>
                  <a:srgbClr val="1E1E1E"/>
                </a:solidFill>
              </a:rPr>
              <a:t>• Previous versions must be restored</a:t>
            </a:r>
          </a:p>
          <a:p>
            <a:r>
              <a:rPr dirty="0">
                <a:solidFill>
                  <a:srgbClr val="1E1E1E"/>
                </a:solidFill>
              </a:rPr>
              <a:t>• State details should stay private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2057400"/>
            <a:ext cx="5440680" cy="2148840"/>
          </a:xfrm>
          <a:prstGeom prst="roundRect">
            <a:avLst/>
          </a:prstGeom>
          <a:solidFill>
            <a:srgbClr val="F8E2E2"/>
          </a:solidFill>
          <a:ln w="19050">
            <a:solidFill>
              <a:srgbClr val="A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b="1" dirty="0">
                <a:solidFill>
                  <a:srgbClr val="1F2A44"/>
                </a:solidFill>
              </a:rPr>
              <a:t>✘ Avoid Memento when</a:t>
            </a:r>
          </a:p>
          <a:p>
            <a:r>
              <a:rPr dirty="0">
                <a:solidFill>
                  <a:srgbClr val="1E1E1E"/>
                </a:solidFill>
              </a:rPr>
              <a:t>• State is tiny and trivial to copy</a:t>
            </a:r>
          </a:p>
          <a:p>
            <a:r>
              <a:rPr dirty="0">
                <a:solidFill>
                  <a:srgbClr val="1E1E1E"/>
                </a:solidFill>
              </a:rPr>
              <a:t>• No restoration/history is needed</a:t>
            </a:r>
          </a:p>
          <a:p>
            <a:r>
              <a:rPr dirty="0">
                <a:solidFill>
                  <a:srgbClr val="1E1E1E"/>
                </a:solidFill>
              </a:rPr>
              <a:t>• Snapshot storage would be excessive</a:t>
            </a:r>
          </a:p>
          <a:p>
            <a:r>
              <a:rPr dirty="0">
                <a:solidFill>
                  <a:srgbClr val="1E1E1E"/>
                </a:solidFill>
              </a:rPr>
              <a:t>• Simple assignment is enough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480560"/>
            <a:ext cx="5440680" cy="2148840"/>
          </a:xfrm>
          <a:prstGeom prst="roundRect">
            <a:avLst/>
          </a:prstGeom>
          <a:solidFill>
            <a:srgbClr val="E0EAF6"/>
          </a:solidFill>
          <a:ln w="19050">
            <a:solidFill>
              <a:srgbClr val="4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b="1" dirty="0">
                <a:solidFill>
                  <a:srgbClr val="1F2A44"/>
                </a:solidFill>
              </a:rPr>
              <a:t>Typical Scenarios</a:t>
            </a:r>
          </a:p>
          <a:p>
            <a:r>
              <a:rPr dirty="0">
                <a:solidFill>
                  <a:srgbClr val="1E1E1E"/>
                </a:solidFill>
              </a:rPr>
              <a:t>• Text editors</a:t>
            </a:r>
          </a:p>
          <a:p>
            <a:r>
              <a:rPr dirty="0">
                <a:solidFill>
                  <a:srgbClr val="1E1E1E"/>
                </a:solidFill>
              </a:rPr>
              <a:t>• Game checkpoints</a:t>
            </a:r>
          </a:p>
          <a:p>
            <a:r>
              <a:rPr dirty="0">
                <a:solidFill>
                  <a:srgbClr val="1E1E1E"/>
                </a:solidFill>
              </a:rPr>
              <a:t>• Transaction rollback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4480560"/>
            <a:ext cx="5440680" cy="2148840"/>
          </a:xfrm>
          <a:prstGeom prst="roundRect">
            <a:avLst/>
          </a:prstGeom>
          <a:solidFill>
            <a:srgbClr val="F8EBD8"/>
          </a:solidFill>
          <a:ln w="19050">
            <a:solidFill>
              <a:srgbClr val="BE7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b="1" dirty="0">
                <a:solidFill>
                  <a:srgbClr val="1F2A44"/>
                </a:solidFill>
              </a:rPr>
              <a:t>Key Benefit</a:t>
            </a:r>
          </a:p>
          <a:p>
            <a:r>
              <a:rPr dirty="0">
                <a:solidFill>
                  <a:srgbClr val="1E1E1E"/>
                </a:solidFill>
              </a:rPr>
              <a:t>• Preserves encapsulation</a:t>
            </a:r>
          </a:p>
          <a:p>
            <a:r>
              <a:rPr dirty="0">
                <a:solidFill>
                  <a:srgbClr val="1E1E1E"/>
                </a:solidFill>
              </a:rPr>
              <a:t>• Separates history management from the Originator</a:t>
            </a:r>
          </a:p>
        </p:txBody>
      </p:sp>
    </p:spTree>
    <p:extLst>
      <p:ext uri="{BB962C8B-B14F-4D97-AF65-F5344CB8AC3E}">
        <p14:creationId xmlns:p14="http://schemas.microsoft.com/office/powerpoint/2010/main" val="2751905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D077D0-B26D-DBE1-B357-A71A29A48252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sz="3600"/>
              <a:t>The Memento Pattern – Structure &amp; Participants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FCB12D-2483-7EF8-46B7-22BBC786AF25}"/>
              </a:ext>
            </a:extLst>
          </p:cNvPr>
          <p:cNvSpPr txBox="1"/>
          <p:nvPr/>
        </p:nvSpPr>
        <p:spPr>
          <a:xfrm>
            <a:off x="276347" y="3998427"/>
            <a:ext cx="4295653" cy="22006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sz="1700" b="1" dirty="0"/>
              <a:t>Participant Responsibilities</a:t>
            </a:r>
            <a:br>
              <a:rPr dirty="0"/>
            </a:br>
            <a:r>
              <a:rPr sz="1700" b="1" dirty="0"/>
              <a:t>Originator</a:t>
            </a:r>
            <a:br>
              <a:rPr dirty="0"/>
            </a:br>
            <a:r>
              <a:rPr sz="1700" b="1" dirty="0"/>
              <a:t>• Creates a Memento containing its state</a:t>
            </a:r>
            <a:br>
              <a:rPr dirty="0"/>
            </a:br>
            <a:r>
              <a:rPr sz="1700" b="1" dirty="0"/>
              <a:t>• Restores its state from a Memento</a:t>
            </a:r>
            <a:br>
              <a:rPr dirty="0"/>
            </a:br>
            <a:br>
              <a:rPr dirty="0"/>
            </a:br>
            <a:r>
              <a:rPr sz="1700" b="1" dirty="0"/>
              <a:t>Caretaker</a:t>
            </a:r>
            <a:br>
              <a:rPr dirty="0"/>
            </a:br>
            <a:r>
              <a:rPr sz="1700" b="1" dirty="0"/>
              <a:t>• Stores Mementos</a:t>
            </a:r>
            <a:br>
              <a:rPr dirty="0"/>
            </a:br>
            <a:r>
              <a:rPr sz="1700" b="1" dirty="0"/>
              <a:t>• Does not inspect their internal state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6F3555-DCF3-0277-E819-6A1FB66270DE}"/>
              </a:ext>
            </a:extLst>
          </p:cNvPr>
          <p:cNvSpPr txBox="1"/>
          <p:nvPr/>
        </p:nvSpPr>
        <p:spPr>
          <a:xfrm>
            <a:off x="6784259" y="4751882"/>
            <a:ext cx="5181600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sz="1700" b="1" dirty="0"/>
              <a:t>Memento</a:t>
            </a:r>
            <a:br>
              <a:rPr dirty="0"/>
            </a:br>
            <a:r>
              <a:rPr sz="1700" b="1" dirty="0"/>
              <a:t>• Holds a snapshot of Originator state</a:t>
            </a:r>
            <a:br>
              <a:rPr dirty="0"/>
            </a:br>
            <a:r>
              <a:rPr sz="1700" b="1" dirty="0"/>
              <a:t>• Protects the snapshot from arbitrary modification</a:t>
            </a:r>
            <a:br>
              <a:rPr dirty="0"/>
            </a:br>
            <a:br>
              <a:rPr dirty="0"/>
            </a:br>
            <a:r>
              <a:rPr sz="1700" b="1" dirty="0"/>
              <a:t>Client</a:t>
            </a:r>
            <a:br>
              <a:rPr dirty="0"/>
            </a:br>
            <a:r>
              <a:rPr sz="1700" b="1" dirty="0"/>
              <a:t>• Requests snapshots and asks for restoration</a:t>
            </a:r>
            <a:br>
              <a:rPr dirty="0"/>
            </a:br>
            <a:r>
              <a:rPr sz="1700" b="1" dirty="0"/>
              <a:t>• Uses the Caretaker for history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9BA730-8BB5-0D51-6E27-01087EDB59C0}"/>
              </a:ext>
            </a:extLst>
          </p:cNvPr>
          <p:cNvSpPr txBox="1"/>
          <p:nvPr/>
        </p:nvSpPr>
        <p:spPr>
          <a:xfrm>
            <a:off x="88489" y="6211669"/>
            <a:ext cx="65286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 dirty="0">
                <a:solidFill>
                  <a:srgbClr val="FF0000"/>
                </a:solidFill>
              </a:rPr>
              <a:t>The Caretaker does NOT need to know how the state is represented. It simply stores and returns snapshots. This preserves encapsulation.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20040" y="2732880"/>
            <a:ext cx="2057400" cy="914400"/>
          </a:xfrm>
          <a:prstGeom prst="roundRect">
            <a:avLst/>
          </a:prstGeom>
          <a:solidFill>
            <a:srgbClr val="E0EAF6"/>
          </a:solidFill>
          <a:ln w="19050">
            <a:solidFill>
              <a:srgbClr val="4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rgbClr val="1E1E1E"/>
                </a:solidFill>
              </a:rPr>
              <a:t>Originator</a:t>
            </a:r>
            <a:br>
              <a:rPr dirty="0"/>
            </a:br>
            <a:r>
              <a:rPr sz="1200" b="1" dirty="0">
                <a:solidFill>
                  <a:srgbClr val="1E1E1E"/>
                </a:solidFill>
              </a:rPr>
              <a:t>Editor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2732880"/>
            <a:ext cx="2057400" cy="914400"/>
          </a:xfrm>
          <a:prstGeom prst="roundRect">
            <a:avLst/>
          </a:prstGeom>
          <a:solidFill>
            <a:srgbClr val="F8EBD8"/>
          </a:solidFill>
          <a:ln w="19050">
            <a:solidFill>
              <a:srgbClr val="BE7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rgbClr val="1E1E1E"/>
                </a:solidFill>
              </a:rPr>
              <a:t>Memento</a:t>
            </a:r>
            <a:br>
              <a:rPr dirty="0"/>
            </a:br>
            <a:r>
              <a:rPr sz="1200" b="1" dirty="0">
                <a:solidFill>
                  <a:srgbClr val="1E1E1E"/>
                </a:solidFill>
              </a:rPr>
              <a:t>Snapshot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06440" y="2732880"/>
            <a:ext cx="2057400" cy="914400"/>
          </a:xfrm>
          <a:prstGeom prst="roundRect">
            <a:avLst/>
          </a:prstGeom>
          <a:solidFill>
            <a:srgbClr val="E4F0E6"/>
          </a:solidFill>
          <a:ln w="19050">
            <a:solidFill>
              <a:srgbClr val="527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rgbClr val="1E1E1E"/>
                </a:solidFill>
              </a:rPr>
              <a:t>Caretaker</a:t>
            </a:r>
            <a:br>
              <a:rPr dirty="0"/>
            </a:br>
            <a:r>
              <a:rPr sz="1200" b="1" dirty="0">
                <a:solidFill>
                  <a:srgbClr val="1E1E1E"/>
                </a:solidFill>
              </a:rPr>
              <a:t>History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9640" y="2732880"/>
            <a:ext cx="2468880" cy="9144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5A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E1E"/>
                </a:solidFill>
              </a:rPr>
              <a:t>Client</a:t>
            </a:r>
            <a:br/>
            <a:r>
              <a:rPr sz="1800" b="1">
                <a:solidFill>
                  <a:srgbClr val="1E1E1E"/>
                </a:solidFill>
              </a:rPr>
              <a:t>User / App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377440" y="3190080"/>
            <a:ext cx="685800" cy="0"/>
          </a:xfrm>
          <a:prstGeom prst="line">
            <a:avLst/>
          </a:prstGeom>
          <a:ln w="25400">
            <a:solidFill>
              <a:srgbClr val="5A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120640" y="3190080"/>
            <a:ext cx="685800" cy="0"/>
          </a:xfrm>
          <a:prstGeom prst="line">
            <a:avLst/>
          </a:prstGeom>
          <a:ln w="25400">
            <a:solidFill>
              <a:srgbClr val="5A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cxnSpLocks/>
            <a:stCxn id="35" idx="3"/>
          </p:cNvCxnSpPr>
          <p:nvPr/>
        </p:nvCxnSpPr>
        <p:spPr>
          <a:xfrm>
            <a:off x="7863840" y="3190080"/>
            <a:ext cx="685800" cy="0"/>
          </a:xfrm>
          <a:prstGeom prst="line">
            <a:avLst/>
          </a:prstGeom>
          <a:ln w="25400">
            <a:solidFill>
              <a:srgbClr val="5A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234CE4B-BE5C-80FC-607D-821CEA5A0917}"/>
              </a:ext>
            </a:extLst>
          </p:cNvPr>
          <p:cNvSpPr txBox="1"/>
          <p:nvPr/>
        </p:nvSpPr>
        <p:spPr>
          <a:xfrm>
            <a:off x="6615708" y="3738775"/>
            <a:ext cx="5330486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/>
              <a:t>Originator = Who owns the state?</a:t>
            </a:r>
            <a:r>
              <a:rPr lang="en-IN" dirty="0"/>
              <a:t> → </a:t>
            </a:r>
            <a:r>
              <a:rPr lang="en-IN" dirty="0">
                <a:latin typeface="+mn-lt"/>
              </a:rPr>
              <a:t>Editor</a:t>
            </a:r>
            <a:br>
              <a:rPr lang="en-IN" dirty="0"/>
            </a:br>
            <a:r>
              <a:rPr lang="en-IN" b="1" dirty="0"/>
              <a:t>Memento = What is saved?</a:t>
            </a:r>
            <a:r>
              <a:rPr lang="en-IN" dirty="0"/>
              <a:t> → </a:t>
            </a:r>
            <a:r>
              <a:rPr lang="en-IN" dirty="0">
                <a:latin typeface="+mn-lt"/>
              </a:rPr>
              <a:t>Snapshot</a:t>
            </a:r>
            <a:br>
              <a:rPr lang="en-IN" dirty="0"/>
            </a:br>
            <a:r>
              <a:rPr lang="en-IN" b="1" dirty="0"/>
              <a:t>Caretaker = Who keeps the snapshots?</a:t>
            </a:r>
            <a:r>
              <a:rPr lang="en-IN" dirty="0"/>
              <a:t> → </a:t>
            </a:r>
            <a:r>
              <a:rPr lang="en-IN" dirty="0">
                <a:latin typeface="+mn-lt"/>
              </a:rPr>
              <a:t>History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1B3DB-5D64-8C95-2F97-21E498E4F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018" y="799582"/>
            <a:ext cx="9723963" cy="171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159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ADAD391-3C7F-444A-FD11-135EB4F22896}"/>
              </a:ext>
            </a:extLst>
          </p:cNvPr>
          <p:cNvSpPr txBox="1"/>
          <p:nvPr/>
        </p:nvSpPr>
        <p:spPr>
          <a:xfrm>
            <a:off x="98325" y="9834"/>
            <a:ext cx="12034683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sz="3600" dirty="0"/>
              <a:t>The Memento Pattern – Collaborations &amp; Snapshot 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C695F7-0F62-A335-737B-B08D4133D6EE}"/>
              </a:ext>
            </a:extLst>
          </p:cNvPr>
          <p:cNvSpPr txBox="1"/>
          <p:nvPr/>
        </p:nvSpPr>
        <p:spPr>
          <a:xfrm>
            <a:off x="6194501" y="4768244"/>
            <a:ext cx="4915458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sz="1800" b="1" dirty="0"/>
              <a:t>Snapshot Flow</a:t>
            </a:r>
            <a:br>
              <a:rPr dirty="0"/>
            </a:br>
            <a:r>
              <a:rPr sz="1800" b="1" dirty="0"/>
              <a:t>1. Originator changes its state.</a:t>
            </a:r>
            <a:br>
              <a:rPr dirty="0"/>
            </a:br>
            <a:r>
              <a:rPr sz="1800" b="1" dirty="0"/>
              <a:t>2. Originator creates a Memento.</a:t>
            </a:r>
            <a:br>
              <a:rPr dirty="0"/>
            </a:br>
            <a:r>
              <a:rPr sz="1800" b="1" dirty="0"/>
              <a:t>3. Caretaker stores the Memento.</a:t>
            </a:r>
            <a:br>
              <a:rPr dirty="0"/>
            </a:br>
            <a:r>
              <a:rPr sz="1800" b="1" dirty="0"/>
              <a:t>4. Later, Caretaker returns a snapshot.</a:t>
            </a:r>
            <a:br>
              <a:rPr dirty="0"/>
            </a:br>
            <a:r>
              <a:rPr sz="1800" b="1" dirty="0"/>
              <a:t>5. Originator restores itself from that snapshot.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234440"/>
            <a:ext cx="2423160" cy="1234440"/>
          </a:xfrm>
          <a:prstGeom prst="roundRect">
            <a:avLst/>
          </a:prstGeom>
          <a:solidFill>
            <a:srgbClr val="E0EAF6"/>
          </a:solidFill>
          <a:ln w="19050">
            <a:solidFill>
              <a:srgbClr val="4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E1E"/>
                </a:solidFill>
              </a:rPr>
              <a:t>1. Edit</a:t>
            </a:r>
            <a:br/>
            <a:r>
              <a:rPr sz="1600" b="1">
                <a:solidFill>
                  <a:srgbClr val="1E1E1E"/>
                </a:solidFill>
              </a:rPr>
              <a:t>Originator</a:t>
            </a:r>
            <a:br/>
            <a:r>
              <a:rPr sz="1600" b="1">
                <a:solidFill>
                  <a:srgbClr val="1E1E1E"/>
                </a:solidFill>
              </a:rPr>
              <a:t>changes state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1847088"/>
            <a:ext cx="301752" cy="0"/>
          </a:xfrm>
          <a:prstGeom prst="line">
            <a:avLst/>
          </a:prstGeom>
          <a:ln w="25400">
            <a:solidFill>
              <a:srgbClr val="5A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08960" y="1234440"/>
            <a:ext cx="2423160" cy="1234440"/>
          </a:xfrm>
          <a:prstGeom prst="roundRect">
            <a:avLst/>
          </a:prstGeom>
          <a:solidFill>
            <a:srgbClr val="F8EBD8"/>
          </a:solidFill>
          <a:ln w="19050">
            <a:solidFill>
              <a:srgbClr val="BE7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E1E"/>
                </a:solidFill>
              </a:rPr>
              <a:t>2. Save</a:t>
            </a:r>
            <a:br/>
            <a:r>
              <a:rPr sz="1600" b="1">
                <a:solidFill>
                  <a:srgbClr val="1E1E1E"/>
                </a:solidFill>
              </a:rPr>
              <a:t>Originator</a:t>
            </a:r>
            <a:br/>
            <a:r>
              <a:rPr sz="1600" b="1">
                <a:solidFill>
                  <a:srgbClr val="1E1E1E"/>
                </a:solidFill>
              </a:rPr>
              <a:t>creates Memento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32120" y="1847088"/>
            <a:ext cx="301752" cy="0"/>
          </a:xfrm>
          <a:prstGeom prst="line">
            <a:avLst/>
          </a:prstGeom>
          <a:ln w="25400">
            <a:solidFill>
              <a:srgbClr val="5A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97879" y="1234440"/>
            <a:ext cx="2423160" cy="1234440"/>
          </a:xfrm>
          <a:prstGeom prst="roundRect">
            <a:avLst/>
          </a:prstGeom>
          <a:solidFill>
            <a:srgbClr val="E4F0E6"/>
          </a:solidFill>
          <a:ln w="19050">
            <a:solidFill>
              <a:srgbClr val="527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E1E"/>
                </a:solidFill>
              </a:rPr>
              <a:t>3. Store</a:t>
            </a:r>
            <a:br/>
            <a:r>
              <a:rPr sz="1600" b="1">
                <a:solidFill>
                  <a:srgbClr val="1E1E1E"/>
                </a:solidFill>
              </a:rPr>
              <a:t>Caretaker</a:t>
            </a:r>
            <a:br/>
            <a:r>
              <a:rPr sz="1600" b="1">
                <a:solidFill>
                  <a:srgbClr val="1E1E1E"/>
                </a:solidFill>
              </a:rPr>
              <a:t>keeps snapshot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21040" y="1847088"/>
            <a:ext cx="301752" cy="0"/>
          </a:xfrm>
          <a:prstGeom prst="line">
            <a:avLst/>
          </a:prstGeom>
          <a:ln w="25400">
            <a:solidFill>
              <a:srgbClr val="5A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799" y="1234440"/>
            <a:ext cx="2423160" cy="1234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5A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E1E"/>
                </a:solidFill>
              </a:rPr>
              <a:t>4. Restore</a:t>
            </a:r>
            <a:br/>
            <a:r>
              <a:rPr sz="1600" b="1">
                <a:solidFill>
                  <a:srgbClr val="1E1E1E"/>
                </a:solidFill>
              </a:rPr>
              <a:t>Originator</a:t>
            </a:r>
            <a:br/>
            <a:r>
              <a:rPr sz="1600" b="1">
                <a:solidFill>
                  <a:srgbClr val="1E1E1E"/>
                </a:solidFill>
              </a:rPr>
              <a:t>gets old state 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2608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</a:rPr>
              <a:t>Snapshot history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57600"/>
            <a:ext cx="1920240" cy="868680"/>
          </a:xfrm>
          <a:prstGeom prst="roundRect">
            <a:avLst/>
          </a:prstGeom>
          <a:solidFill>
            <a:srgbClr val="E0EAF6"/>
          </a:solidFill>
          <a:ln w="19050">
            <a:solidFill>
              <a:srgbClr val="4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E1E"/>
                </a:solidFill>
              </a:rPr>
              <a:t>M1</a:t>
            </a:r>
            <a:br/>
            <a:r>
              <a:rPr sz="1600" b="1">
                <a:solidFill>
                  <a:srgbClr val="1E1E1E"/>
                </a:solidFill>
              </a:rPr>
              <a:t>text = "A"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3657600"/>
            <a:ext cx="1920240" cy="868680"/>
          </a:xfrm>
          <a:prstGeom prst="roundRect">
            <a:avLst/>
          </a:prstGeom>
          <a:solidFill>
            <a:srgbClr val="E4F0E6"/>
          </a:solidFill>
          <a:ln w="19050">
            <a:solidFill>
              <a:srgbClr val="527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E1E"/>
                </a:solidFill>
              </a:rPr>
              <a:t>M2</a:t>
            </a:r>
            <a:br/>
            <a:r>
              <a:rPr sz="1600" b="1">
                <a:solidFill>
                  <a:srgbClr val="1E1E1E"/>
                </a:solidFill>
              </a:rPr>
              <a:t>text = "AB"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3657600"/>
            <a:ext cx="1920240" cy="868680"/>
          </a:xfrm>
          <a:prstGeom prst="roundRect">
            <a:avLst/>
          </a:prstGeom>
          <a:solidFill>
            <a:srgbClr val="F8EBD8"/>
          </a:solidFill>
          <a:ln w="19050">
            <a:solidFill>
              <a:srgbClr val="BE7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E1E"/>
                </a:solidFill>
              </a:rPr>
              <a:t>M3</a:t>
            </a:r>
            <a:br/>
            <a:r>
              <a:rPr sz="1600" b="1">
                <a:solidFill>
                  <a:srgbClr val="1E1E1E"/>
                </a:solidFill>
              </a:rPr>
              <a:t>text = "ABC"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68880" y="4087368"/>
            <a:ext cx="411480" cy="0"/>
          </a:xfrm>
          <a:prstGeom prst="line">
            <a:avLst/>
          </a:prstGeom>
          <a:ln w="25400">
            <a:solidFill>
              <a:srgbClr val="5A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00600" y="4087368"/>
            <a:ext cx="411480" cy="0"/>
          </a:xfrm>
          <a:prstGeom prst="line">
            <a:avLst/>
          </a:prstGeom>
          <a:ln w="25400">
            <a:solidFill>
              <a:srgbClr val="5A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863840" y="3429000"/>
            <a:ext cx="3429000" cy="13258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5A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E1E1E"/>
                </a:solidFill>
              </a:rPr>
              <a:t>Undo → restore M2</a:t>
            </a:r>
            <a:br/>
            <a:r>
              <a:rPr sz="1700" b="1">
                <a:solidFill>
                  <a:srgbClr val="1E1E1E"/>
                </a:solidFill>
              </a:rPr>
              <a:t>Current text becomes "AB"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852" y="5138812"/>
            <a:ext cx="4871633" cy="12618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900" b="1" dirty="0">
                <a:solidFill>
                  <a:srgbClr val="1E1E1E"/>
                </a:solidFill>
              </a:rPr>
              <a:t>Key idea:</a:t>
            </a:r>
            <a:endParaRPr lang="en-IN" sz="1900" b="1" dirty="0">
              <a:solidFill>
                <a:srgbClr val="1E1E1E"/>
              </a:solidFill>
            </a:endParaRPr>
          </a:p>
          <a:p>
            <a:pPr algn="l"/>
            <a:r>
              <a:rPr sz="1900" b="1" dirty="0">
                <a:solidFill>
                  <a:srgbClr val="1E1E1E"/>
                </a:solidFill>
              </a:rPr>
              <a:t> </a:t>
            </a:r>
            <a:r>
              <a:rPr lang="en-IN" sz="1900" b="1" dirty="0">
                <a:solidFill>
                  <a:srgbClr val="1E1E1E"/>
                </a:solidFill>
              </a:rPr>
              <a:t>T</a:t>
            </a:r>
            <a:r>
              <a:rPr sz="1900" b="1" dirty="0">
                <a:solidFill>
                  <a:srgbClr val="1E1E1E"/>
                </a:solidFill>
              </a:rPr>
              <a:t>he Caretaker manages history, but the Originator alone understands what the snapshot means.</a:t>
            </a:r>
          </a:p>
        </p:txBody>
      </p:sp>
    </p:spTree>
    <p:extLst>
      <p:ext uri="{BB962C8B-B14F-4D97-AF65-F5344CB8AC3E}">
        <p14:creationId xmlns:p14="http://schemas.microsoft.com/office/powerpoint/2010/main" val="352927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61B7DA-703B-3070-1492-400B0762E3EF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sz="3600"/>
              <a:t>Memento Pattern – Java 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2D0DEE-8AA3-452C-1EA6-8431E303C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201" y="836340"/>
            <a:ext cx="9258567" cy="617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50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AA13C-36DA-7511-517A-FEC587D45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8A8872-60F7-88B1-F3C6-F438AB79FFDC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sz="3600" dirty="0"/>
              <a:t>Memento Pattern – </a:t>
            </a:r>
            <a:r>
              <a:rPr lang="en-IN" sz="3600" dirty="0"/>
              <a:t>Collaborations </a:t>
            </a:r>
            <a:endParaRPr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DAE90C-5863-AC27-46C1-F50F6B864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18" y="695272"/>
            <a:ext cx="11044814" cy="549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14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B682-E425-7CF7-3382-6108C9651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5F9194-D3E7-0670-6343-2301BDAB6D82}"/>
              </a:ext>
            </a:extLst>
          </p:cNvPr>
          <p:cNvSpPr txBox="1"/>
          <p:nvPr/>
        </p:nvSpPr>
        <p:spPr>
          <a:xfrm>
            <a:off x="373627" y="0"/>
            <a:ext cx="11169444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sz="3600"/>
              <a:t>Memento Pattern – Execution Flow &amp; Design Principles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748234-3769-6640-7F64-09B194F39F00}"/>
              </a:ext>
            </a:extLst>
          </p:cNvPr>
          <p:cNvSpPr txBox="1"/>
          <p:nvPr/>
        </p:nvSpPr>
        <p:spPr>
          <a:xfrm>
            <a:off x="412956" y="2580399"/>
            <a:ext cx="5279922" cy="16312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sz="2000" b="1" dirty="0"/>
              <a:t>Encapsulation</a:t>
            </a:r>
            <a:br>
              <a:rPr sz="2000" dirty="0"/>
            </a:br>
            <a:r>
              <a:rPr sz="2000" dirty="0"/>
              <a:t>Memento hides the Originator's internal representation. Caretaker treats snapshots as history objects rather than editing their contents.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D62E8E-F472-97E4-D9B0-2664EB7A645A}"/>
              </a:ext>
            </a:extLst>
          </p:cNvPr>
          <p:cNvSpPr txBox="1"/>
          <p:nvPr/>
        </p:nvSpPr>
        <p:spPr>
          <a:xfrm>
            <a:off x="6951407" y="2611591"/>
            <a:ext cx="5240593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sz="2000" b="1" dirty="0"/>
              <a:t>Separation of Responsibilities</a:t>
            </a:r>
            <a:br>
              <a:rPr sz="2000" dirty="0"/>
            </a:br>
            <a:r>
              <a:rPr sz="2000" dirty="0"/>
              <a:t>Originator owns state. Caretaker owns history. Memento carries the snapshot.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2D5E7F-C3F4-C7A9-6431-A3F444A9BE1E}"/>
              </a:ext>
            </a:extLst>
          </p:cNvPr>
          <p:cNvSpPr txBox="1"/>
          <p:nvPr/>
        </p:nvSpPr>
        <p:spPr>
          <a:xfrm>
            <a:off x="6658898" y="4680605"/>
            <a:ext cx="5031658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sz="2000" b="1" dirty="0"/>
              <a:t>Single Responsibility</a:t>
            </a:r>
            <a:br>
              <a:rPr sz="2000" dirty="0"/>
            </a:br>
            <a:r>
              <a:rPr sz="2000" dirty="0"/>
              <a:t>Undo/history management is separated from the main object's business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960120"/>
            <a:ext cx="2148840" cy="914400"/>
          </a:xfrm>
          <a:prstGeom prst="roundRect">
            <a:avLst/>
          </a:prstGeom>
          <a:solidFill>
            <a:srgbClr val="E0EAF6"/>
          </a:solidFill>
          <a:ln w="19050">
            <a:solidFill>
              <a:srgbClr val="4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E1E1E"/>
                </a:solidFill>
              </a:rPr>
              <a:t>Editor</a:t>
            </a:r>
            <a:br/>
            <a:r>
              <a:rPr sz="1700" b="1">
                <a:solidFill>
                  <a:srgbClr val="1E1E1E"/>
                </a:solidFill>
              </a:rPr>
              <a:t>Current 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1417320"/>
            <a:ext cx="411480" cy="0"/>
          </a:xfrm>
          <a:prstGeom prst="line">
            <a:avLst/>
          </a:prstGeom>
          <a:ln w="25400">
            <a:solidFill>
              <a:srgbClr val="5A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960120"/>
            <a:ext cx="2148840" cy="914400"/>
          </a:xfrm>
          <a:prstGeom prst="roundRect">
            <a:avLst/>
          </a:prstGeom>
          <a:solidFill>
            <a:srgbClr val="F8EBD8"/>
          </a:solidFill>
          <a:ln w="19050">
            <a:solidFill>
              <a:srgbClr val="BE7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E1E1E"/>
                </a:solidFill>
              </a:rPr>
              <a:t>createMemento()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0" y="1417320"/>
            <a:ext cx="411480" cy="0"/>
          </a:xfrm>
          <a:prstGeom prst="line">
            <a:avLst/>
          </a:prstGeom>
          <a:ln w="25400">
            <a:solidFill>
              <a:srgbClr val="5A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40680" y="960120"/>
            <a:ext cx="2148840" cy="914400"/>
          </a:xfrm>
          <a:prstGeom prst="roundRect">
            <a:avLst/>
          </a:prstGeom>
          <a:solidFill>
            <a:srgbClr val="E4F0E6"/>
          </a:solidFill>
          <a:ln w="19050">
            <a:solidFill>
              <a:srgbClr val="527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E1E1E"/>
                </a:solidFill>
              </a:rPr>
              <a:t>History</a:t>
            </a:r>
            <a:br/>
            <a:r>
              <a:rPr sz="1700" b="1">
                <a:solidFill>
                  <a:srgbClr val="1E1E1E"/>
                </a:solidFill>
              </a:rPr>
              <a:t>stores snapshot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0" y="1417320"/>
            <a:ext cx="411480" cy="0"/>
          </a:xfrm>
          <a:prstGeom prst="line">
            <a:avLst/>
          </a:prstGeom>
          <a:ln w="25400">
            <a:solidFill>
              <a:srgbClr val="5A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01000" y="960120"/>
            <a:ext cx="2743200" cy="9144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5A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E1E1E"/>
                </a:solidFill>
              </a:rPr>
              <a:t>restore(memento)</a:t>
            </a:r>
          </a:p>
        </p:txBody>
      </p:sp>
    </p:spTree>
    <p:extLst>
      <p:ext uri="{BB962C8B-B14F-4D97-AF65-F5344CB8AC3E}">
        <p14:creationId xmlns:p14="http://schemas.microsoft.com/office/powerpoint/2010/main" val="2650544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8DE04-3D00-D463-0928-0E846934995F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sz="3600"/>
              <a:t>Memento Pattern – Consequences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F9DD5-2CE5-43D4-ACD4-D0B720D621C9}"/>
              </a:ext>
            </a:extLst>
          </p:cNvPr>
          <p:cNvSpPr txBox="1"/>
          <p:nvPr/>
        </p:nvSpPr>
        <p:spPr>
          <a:xfrm>
            <a:off x="98322" y="1370185"/>
            <a:ext cx="5692878" cy="22467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sz="2000" b="1" dirty="0"/>
              <a:t>✓ Advantages</a:t>
            </a:r>
            <a:br>
              <a:rPr sz="2000" dirty="0"/>
            </a:br>
            <a:r>
              <a:rPr sz="2000" b="1" dirty="0"/>
              <a:t>• Preserves encapsulation</a:t>
            </a:r>
            <a:br>
              <a:rPr sz="2000" dirty="0"/>
            </a:br>
            <a:r>
              <a:rPr sz="2000" b="1" dirty="0"/>
              <a:t>• Supports undo, rollback and checkpoints</a:t>
            </a:r>
            <a:br>
              <a:rPr sz="2000" dirty="0"/>
            </a:br>
            <a:r>
              <a:rPr sz="2000" b="1" dirty="0"/>
              <a:t>• Separates state storage from business logic</a:t>
            </a:r>
            <a:br>
              <a:rPr sz="2000" dirty="0"/>
            </a:br>
            <a:r>
              <a:rPr sz="2000" b="1" dirty="0"/>
              <a:t>• Easy to maintain snapshot history</a:t>
            </a:r>
            <a:br>
              <a:rPr sz="2000" dirty="0"/>
            </a:br>
            <a:r>
              <a:rPr sz="2000" b="1" dirty="0"/>
              <a:t>• Can support multiple restore points</a:t>
            </a:r>
            <a:endParaRPr lang="en-IN" sz="2000" b="1" dirty="0"/>
          </a:p>
          <a:p>
            <a:pPr>
              <a:buNone/>
            </a:pPr>
            <a:endParaRPr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29986-54FB-75EF-3992-7123FBC00FC5}"/>
              </a:ext>
            </a:extLst>
          </p:cNvPr>
          <p:cNvSpPr txBox="1"/>
          <p:nvPr/>
        </p:nvSpPr>
        <p:spPr>
          <a:xfrm>
            <a:off x="6017341" y="1371884"/>
            <a:ext cx="5820697" cy="22467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sz="2000" b="1"/>
              <a:t>✗ Disadvantages</a:t>
            </a:r>
            <a:br>
              <a:rPr sz="2000"/>
            </a:br>
            <a:r>
              <a:rPr sz="2000" b="1"/>
              <a:t>• Memory cost when many snapshots are stored</a:t>
            </a:r>
            <a:br>
              <a:rPr sz="2000"/>
            </a:br>
            <a:r>
              <a:rPr sz="2000" b="1"/>
              <a:t>• Snapshot creation may be expensive for large objects</a:t>
            </a:r>
            <a:br>
              <a:rPr sz="2000"/>
            </a:br>
            <a:r>
              <a:rPr sz="2000" b="1"/>
              <a:t>• History management can become complex</a:t>
            </a:r>
            <a:br>
              <a:rPr sz="2000"/>
            </a:br>
            <a:r>
              <a:rPr sz="2000" b="1"/>
              <a:t>• Serialization/versioning may be needed for persistent snapshots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CB6F4-D9E5-FB62-F541-68B4114EB5EE}"/>
              </a:ext>
            </a:extLst>
          </p:cNvPr>
          <p:cNvSpPr txBox="1"/>
          <p:nvPr/>
        </p:nvSpPr>
        <p:spPr>
          <a:xfrm>
            <a:off x="668592" y="4610933"/>
            <a:ext cx="11287434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sz="2000" b="1" dirty="0">
                <a:solidFill>
                  <a:srgbClr val="FF0000"/>
                </a:solidFill>
              </a:rPr>
              <a:t>Use Memento when: </a:t>
            </a:r>
            <a:r>
              <a:rPr sz="2000" b="1" dirty="0"/>
              <a:t>restoration/history is important and state must remain encapsulated.</a:t>
            </a:r>
            <a:br>
              <a:rPr dirty="0"/>
            </a:br>
            <a:r>
              <a:rPr sz="2000" b="1" dirty="0"/>
              <a:t>Avoid when: state is trivial, snapshots are very large, or no rollback requirement exists.</a:t>
            </a:r>
          </a:p>
        </p:txBody>
      </p:sp>
    </p:spTree>
    <p:extLst>
      <p:ext uri="{BB962C8B-B14F-4D97-AF65-F5344CB8AC3E}">
        <p14:creationId xmlns:p14="http://schemas.microsoft.com/office/powerpoint/2010/main" val="1524712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A710B7-811F-7936-0126-6C01EB316253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sz="3600"/>
              <a:t>Memento Pattern – Known Uses in Real Software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243123-9B69-2930-A672-D8C95C9BDDA5}"/>
              </a:ext>
            </a:extLst>
          </p:cNvPr>
          <p:cNvSpPr txBox="1"/>
          <p:nvPr/>
        </p:nvSpPr>
        <p:spPr>
          <a:xfrm>
            <a:off x="501444" y="848908"/>
            <a:ext cx="1088431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100" dirty="0"/>
              <a:t>The Memento Pattern appears wherever software needs safe snapshots, undo, checkpoints, or rollback.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920240"/>
            <a:ext cx="5394960" cy="1417320"/>
          </a:xfrm>
          <a:prstGeom prst="roundRect">
            <a:avLst/>
          </a:prstGeom>
          <a:solidFill>
            <a:srgbClr val="E0EAF6"/>
          </a:solidFill>
          <a:ln w="19050">
            <a:solidFill>
              <a:srgbClr val="4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b="1" dirty="0">
                <a:solidFill>
                  <a:srgbClr val="1F2A44"/>
                </a:solidFill>
              </a:rPr>
              <a:t>Text &amp; IDE Editors</a:t>
            </a:r>
          </a:p>
          <a:p>
            <a:r>
              <a:rPr dirty="0">
                <a:solidFill>
                  <a:srgbClr val="1E1E1E"/>
                </a:solidFill>
              </a:rPr>
              <a:t>• Undo / redo</a:t>
            </a:r>
          </a:p>
          <a:p>
            <a:r>
              <a:rPr dirty="0">
                <a:solidFill>
                  <a:srgbClr val="1E1E1E"/>
                </a:solidFill>
              </a:rPr>
              <a:t>• Restore an earlier document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920240"/>
            <a:ext cx="5394960" cy="1417320"/>
          </a:xfrm>
          <a:prstGeom prst="roundRect">
            <a:avLst/>
          </a:prstGeom>
          <a:solidFill>
            <a:srgbClr val="E4F0E6"/>
          </a:solidFill>
          <a:ln w="19050">
            <a:solidFill>
              <a:srgbClr val="527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b="1" dirty="0">
                <a:solidFill>
                  <a:srgbClr val="1F2A44"/>
                </a:solidFill>
              </a:rPr>
              <a:t>Games</a:t>
            </a:r>
          </a:p>
          <a:p>
            <a:r>
              <a:rPr dirty="0">
                <a:solidFill>
                  <a:srgbClr val="1E1E1E"/>
                </a:solidFill>
              </a:rPr>
              <a:t>• Save points</a:t>
            </a:r>
          </a:p>
          <a:p>
            <a:r>
              <a:rPr dirty="0">
                <a:solidFill>
                  <a:srgbClr val="1E1E1E"/>
                </a:solidFill>
              </a:rPr>
              <a:t>• Restore a previous game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611880"/>
            <a:ext cx="5394960" cy="1417320"/>
          </a:xfrm>
          <a:prstGeom prst="roundRect">
            <a:avLst/>
          </a:prstGeom>
          <a:solidFill>
            <a:srgbClr val="F8EBD8"/>
          </a:solidFill>
          <a:ln w="19050">
            <a:solidFill>
              <a:srgbClr val="BE7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b="1" dirty="0">
                <a:solidFill>
                  <a:srgbClr val="1F2A44"/>
                </a:solidFill>
              </a:rPr>
              <a:t>Transactions</a:t>
            </a:r>
          </a:p>
          <a:p>
            <a:r>
              <a:rPr dirty="0">
                <a:solidFill>
                  <a:srgbClr val="1E1E1E"/>
                </a:solidFill>
              </a:rPr>
              <a:t>• Rollback before commit</a:t>
            </a:r>
          </a:p>
          <a:p>
            <a:r>
              <a:rPr dirty="0">
                <a:solidFill>
                  <a:srgbClr val="1E1E1E"/>
                </a:solidFill>
              </a:rPr>
              <a:t>• Recover from a failed operation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611880"/>
            <a:ext cx="5394960" cy="141732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5A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b="1" dirty="0">
                <a:solidFill>
                  <a:srgbClr val="1F2A44"/>
                </a:solidFill>
              </a:rPr>
              <a:t>Graphics / Design Tools</a:t>
            </a:r>
          </a:p>
          <a:p>
            <a:r>
              <a:rPr dirty="0">
                <a:solidFill>
                  <a:srgbClr val="1E1E1E"/>
                </a:solidFill>
              </a:rPr>
              <a:t>• Canvas snapshots</a:t>
            </a:r>
          </a:p>
          <a:p>
            <a:r>
              <a:rPr dirty="0">
                <a:solidFill>
                  <a:srgbClr val="1E1E1E"/>
                </a:solidFill>
              </a:rPr>
              <a:t>• Undo changes to complex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303520"/>
            <a:ext cx="5394960" cy="1234440"/>
          </a:xfrm>
          <a:prstGeom prst="roundRect">
            <a:avLst/>
          </a:prstGeom>
          <a:solidFill>
            <a:srgbClr val="E0EAF6"/>
          </a:solidFill>
          <a:ln w="19050">
            <a:solidFill>
              <a:srgbClr val="48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b="1" dirty="0">
                <a:solidFill>
                  <a:srgbClr val="1F2A44"/>
                </a:solidFill>
              </a:rPr>
              <a:t>Workflow Systems</a:t>
            </a:r>
          </a:p>
          <a:p>
            <a:r>
              <a:rPr dirty="0">
                <a:solidFill>
                  <a:srgbClr val="1E1E1E"/>
                </a:solidFill>
              </a:rPr>
              <a:t>• Checkpoint long-running processes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5303520"/>
            <a:ext cx="5394960" cy="1234440"/>
          </a:xfrm>
          <a:prstGeom prst="roundRect">
            <a:avLst/>
          </a:prstGeom>
          <a:solidFill>
            <a:srgbClr val="E4F0E6"/>
          </a:solidFill>
          <a:ln w="19050">
            <a:solidFill>
              <a:srgbClr val="527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b="1" dirty="0">
                <a:solidFill>
                  <a:srgbClr val="1F2A44"/>
                </a:solidFill>
              </a:rPr>
              <a:t>Form / Configuration Editors</a:t>
            </a:r>
          </a:p>
          <a:p>
            <a:r>
              <a:rPr dirty="0">
                <a:solidFill>
                  <a:srgbClr val="1E1E1E"/>
                </a:solidFill>
              </a:rPr>
              <a:t>• Restore previously saved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2509764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BD652-31DD-7FCF-4F6E-E6D1C2952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E8571A-E351-7E39-22AF-A2066B3DCF5B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sz="3600"/>
              <a:t>Memento Pattern Vs Command Pattern</a:t>
            </a:r>
            <a:endParaRPr lang="en-IN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B35EF-B793-0058-7980-888710BE979A}"/>
              </a:ext>
            </a:extLst>
          </p:cNvPr>
          <p:cNvSpPr txBox="1"/>
          <p:nvPr/>
        </p:nvSpPr>
        <p:spPr>
          <a:xfrm>
            <a:off x="501444" y="848908"/>
            <a:ext cx="108843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Both can participate in undo/rollback designs, but their intent is different. Do not identify a pattern from structure alone.</a:t>
            </a:r>
            <a:endParaRPr lang="en-IN" sz="2400" dirty="0">
              <a:solidFill>
                <a:srgbClr val="0000FF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3981F2-AE25-62B3-C62E-A2DB9F732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335232"/>
              </p:ext>
            </p:extLst>
          </p:nvPr>
        </p:nvGraphicFramePr>
        <p:xfrm>
          <a:off x="808703" y="1867694"/>
          <a:ext cx="10515600" cy="27127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20549980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807526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43031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1E1E"/>
                          </a:solidFill>
                        </a:rPr>
                        <a:t>Feature</a:t>
                      </a:r>
                    </a:p>
                  </a:txBody>
                  <a:tcPr anchor="ctr">
                    <a:solidFill>
                      <a:srgbClr val="E0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1E1E"/>
                          </a:solidFill>
                        </a:rPr>
                        <a:t>Memento</a:t>
                      </a:r>
                    </a:p>
                  </a:txBody>
                  <a:tcPr anchor="ctr">
                    <a:solidFill>
                      <a:srgbClr val="E0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1E1E"/>
                          </a:solidFill>
                        </a:rPr>
                        <a:t>Command</a:t>
                      </a:r>
                    </a:p>
                  </a:txBody>
                  <a:tcPr anchor="ctr">
                    <a:solidFill>
                      <a:srgbClr val="E0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609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Intent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Capture and restore object state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Encapsulate a request as an object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622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Main Purpose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Undo / rollback by restoring snapshots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Queue, log, parameterize or undo requests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827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State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Stores a snapshot of internal state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Stores the action/request and its parameters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709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Decision Maker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Originator creates/restores snapshots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Client chooses or invokes commands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097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Typical Example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Text editor history, game checkpoints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Undo action, remote command queue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465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Memory Trick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"What was my previous state?"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1E1E"/>
                          </a:solidFill>
                        </a:rPr>
                        <a:t>"What operation should I execute?"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42010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924CD1A-A665-874E-716D-EED6A524C145}"/>
              </a:ext>
            </a:extLst>
          </p:cNvPr>
          <p:cNvSpPr txBox="1"/>
          <p:nvPr/>
        </p:nvSpPr>
        <p:spPr>
          <a:xfrm>
            <a:off x="1326276" y="4912741"/>
            <a:ext cx="8475646" cy="14773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800" b="1" dirty="0"/>
              <a:t>If you need to restore a previous object state → Memento.</a:t>
            </a: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 b="1" dirty="0"/>
              <a:t>If you need to represent and execute an operation as an object → Command.</a:t>
            </a:r>
            <a:br>
              <a:rPr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 b="1" dirty="0"/>
              <a:t>They can also be combined: Command performs an action, while Memento stores the state needed for undo.</a:t>
            </a:r>
          </a:p>
        </p:txBody>
      </p:sp>
    </p:spTree>
    <p:extLst>
      <p:ext uri="{BB962C8B-B14F-4D97-AF65-F5344CB8AC3E}">
        <p14:creationId xmlns:p14="http://schemas.microsoft.com/office/powerpoint/2010/main" val="4062774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1081</Words>
  <Application>Microsoft Macintosh PowerPoint</Application>
  <PresentationFormat>Widescreen</PresentationFormat>
  <Paragraphs>121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Aswathy Mohan</dc:creator>
  <cp:lastModifiedBy>Aswathy Mohan</cp:lastModifiedBy>
  <cp:revision>2</cp:revision>
  <dcterms:created xsi:type="dcterms:W3CDTF">2026-08-03T05:04:47Z</dcterms:created>
  <dcterms:modified xsi:type="dcterms:W3CDTF">2026-09-09T08:25:38Z</dcterms:modified>
</cp:coreProperties>
</file>